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2.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68" r:id="rId3"/>
    <p:sldId id="257" r:id="rId4"/>
    <p:sldId id="259" r:id="rId5"/>
    <p:sldId id="258" r:id="rId6"/>
    <p:sldId id="260" r:id="rId7"/>
    <p:sldId id="261" r:id="rId8"/>
    <p:sldId id="262" r:id="rId9"/>
    <p:sldId id="263" r:id="rId10"/>
    <p:sldId id="264" r:id="rId11"/>
    <p:sldId id="265" r:id="rId12"/>
    <p:sldId id="266" r:id="rId13"/>
    <p:sldId id="267"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4429F44-65AC-4083-9E7B-F04BABE182CC}" v="6" dt="2026-09-15T07:52:30.59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743" autoAdjust="0"/>
    <p:restoredTop sz="94610"/>
  </p:normalViewPr>
  <p:slideViewPr>
    <p:cSldViewPr snapToGrid="0" snapToObjects="1">
      <p:cViewPr varScale="1">
        <p:scale>
          <a:sx n="81" d="100"/>
          <a:sy n="81" d="100"/>
        </p:scale>
        <p:origin x="542"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wkratis Giannoutsos" userId="635c5988b0ac75cb" providerId="LiveId" clId="{2A7595ED-FB9C-4431-944F-C1113FEFC942}"/>
    <pc:docChg chg="undo custSel addSld modSld sldOrd">
      <pc:chgData name="Swkratis Giannoutsos" userId="635c5988b0ac75cb" providerId="LiveId" clId="{2A7595ED-FB9C-4431-944F-C1113FEFC942}" dt="2026-09-15T08:33:29.224" v="1317" actId="20577"/>
      <pc:docMkLst>
        <pc:docMk/>
      </pc:docMkLst>
      <pc:sldChg chg="modSp mod">
        <pc:chgData name="Swkratis Giannoutsos" userId="635c5988b0ac75cb" providerId="LiveId" clId="{2A7595ED-FB9C-4431-944F-C1113FEFC942}" dt="2026-09-15T07:38:32.842" v="319" actId="6549"/>
        <pc:sldMkLst>
          <pc:docMk/>
          <pc:sldMk cId="0" sldId="256"/>
        </pc:sldMkLst>
        <pc:spChg chg="mod">
          <ac:chgData name="Swkratis Giannoutsos" userId="635c5988b0ac75cb" providerId="LiveId" clId="{2A7595ED-FB9C-4431-944F-C1113FEFC942}" dt="2026-09-15T07:38:32.842" v="319" actId="6549"/>
          <ac:spMkLst>
            <pc:docMk/>
            <pc:sldMk cId="0" sldId="256"/>
            <ac:spMk id="7" creationId="{00000000-0000-0000-0000-000000000000}"/>
          </ac:spMkLst>
        </pc:spChg>
      </pc:sldChg>
      <pc:sldChg chg="modSp mod">
        <pc:chgData name="Swkratis Giannoutsos" userId="635c5988b0ac75cb" providerId="LiveId" clId="{2A7595ED-FB9C-4431-944F-C1113FEFC942}" dt="2026-09-15T07:57:10.482" v="1203" actId="6549"/>
        <pc:sldMkLst>
          <pc:docMk/>
          <pc:sldMk cId="0" sldId="258"/>
        </pc:sldMkLst>
        <pc:spChg chg="mod">
          <ac:chgData name="Swkratis Giannoutsos" userId="635c5988b0ac75cb" providerId="LiveId" clId="{2A7595ED-FB9C-4431-944F-C1113FEFC942}" dt="2026-09-14T09:53:21.529" v="15" actId="122"/>
          <ac:spMkLst>
            <pc:docMk/>
            <pc:sldMk cId="0" sldId="258"/>
            <ac:spMk id="7" creationId="{00000000-0000-0000-0000-000000000000}"/>
          </ac:spMkLst>
        </pc:spChg>
        <pc:spChg chg="mod">
          <ac:chgData name="Swkratis Giannoutsos" userId="635c5988b0ac75cb" providerId="LiveId" clId="{2A7595ED-FB9C-4431-944F-C1113FEFC942}" dt="2026-09-14T09:54:07.640" v="60" actId="20577"/>
          <ac:spMkLst>
            <pc:docMk/>
            <pc:sldMk cId="0" sldId="258"/>
            <ac:spMk id="8" creationId="{00000000-0000-0000-0000-000000000000}"/>
          </ac:spMkLst>
        </pc:spChg>
        <pc:spChg chg="mod">
          <ac:chgData name="Swkratis Giannoutsos" userId="635c5988b0ac75cb" providerId="LiveId" clId="{2A7595ED-FB9C-4431-944F-C1113FEFC942}" dt="2026-09-14T09:53:28.431" v="21" actId="20577"/>
          <ac:spMkLst>
            <pc:docMk/>
            <pc:sldMk cId="0" sldId="258"/>
            <ac:spMk id="10" creationId="{00000000-0000-0000-0000-000000000000}"/>
          </ac:spMkLst>
        </pc:spChg>
        <pc:spChg chg="mod">
          <ac:chgData name="Swkratis Giannoutsos" userId="635c5988b0ac75cb" providerId="LiveId" clId="{2A7595ED-FB9C-4431-944F-C1113FEFC942}" dt="2026-09-15T07:57:10.482" v="1203" actId="6549"/>
          <ac:spMkLst>
            <pc:docMk/>
            <pc:sldMk cId="0" sldId="258"/>
            <ac:spMk id="11" creationId="{00000000-0000-0000-0000-000000000000}"/>
          </ac:spMkLst>
        </pc:spChg>
      </pc:sldChg>
      <pc:sldChg chg="addSp delSp modSp mod ord">
        <pc:chgData name="Swkratis Giannoutsos" userId="635c5988b0ac75cb" providerId="LiveId" clId="{2A7595ED-FB9C-4431-944F-C1113FEFC942}" dt="2026-09-15T07:51:25.396" v="825" actId="207"/>
        <pc:sldMkLst>
          <pc:docMk/>
          <pc:sldMk cId="0" sldId="259"/>
        </pc:sldMkLst>
        <pc:spChg chg="mod">
          <ac:chgData name="Swkratis Giannoutsos" userId="635c5988b0ac75cb" providerId="LiveId" clId="{2A7595ED-FB9C-4431-944F-C1113FEFC942}" dt="2026-09-14T12:07:59.513" v="307" actId="1076"/>
          <ac:spMkLst>
            <pc:docMk/>
            <pc:sldMk cId="0" sldId="259"/>
            <ac:spMk id="6" creationId="{00000000-0000-0000-0000-000000000000}"/>
          </ac:spMkLst>
        </pc:spChg>
        <pc:spChg chg="mod">
          <ac:chgData name="Swkratis Giannoutsos" userId="635c5988b0ac75cb" providerId="LiveId" clId="{2A7595ED-FB9C-4431-944F-C1113FEFC942}" dt="2026-09-14T12:08:07.785" v="311" actId="1076"/>
          <ac:spMkLst>
            <pc:docMk/>
            <pc:sldMk cId="0" sldId="259"/>
            <ac:spMk id="9" creationId="{00000000-0000-0000-0000-000000000000}"/>
          </ac:spMkLst>
        </pc:spChg>
        <pc:spChg chg="mod">
          <ac:chgData name="Swkratis Giannoutsos" userId="635c5988b0ac75cb" providerId="LiveId" clId="{2A7595ED-FB9C-4431-944F-C1113FEFC942}" dt="2026-09-14T12:08:07.785" v="311" actId="1076"/>
          <ac:spMkLst>
            <pc:docMk/>
            <pc:sldMk cId="0" sldId="259"/>
            <ac:spMk id="10" creationId="{00000000-0000-0000-0000-000000000000}"/>
          </ac:spMkLst>
        </pc:spChg>
        <pc:spChg chg="mod">
          <ac:chgData name="Swkratis Giannoutsos" userId="635c5988b0ac75cb" providerId="LiveId" clId="{2A7595ED-FB9C-4431-944F-C1113FEFC942}" dt="2026-09-15T07:51:25.396" v="825" actId="207"/>
          <ac:spMkLst>
            <pc:docMk/>
            <pc:sldMk cId="0" sldId="259"/>
            <ac:spMk id="13" creationId="{00000000-0000-0000-0000-000000000000}"/>
          </ac:spMkLst>
        </pc:spChg>
        <pc:spChg chg="mod">
          <ac:chgData name="Swkratis Giannoutsos" userId="635c5988b0ac75cb" providerId="LiveId" clId="{2A7595ED-FB9C-4431-944F-C1113FEFC942}" dt="2026-09-14T12:08:07.785" v="311" actId="1076"/>
          <ac:spMkLst>
            <pc:docMk/>
            <pc:sldMk cId="0" sldId="259"/>
            <ac:spMk id="15" creationId="{00000000-0000-0000-0000-000000000000}"/>
          </ac:spMkLst>
        </pc:spChg>
        <pc:spChg chg="mod">
          <ac:chgData name="Swkratis Giannoutsos" userId="635c5988b0ac75cb" providerId="LiveId" clId="{2A7595ED-FB9C-4431-944F-C1113FEFC942}" dt="2026-09-14T12:08:07.785" v="311" actId="1076"/>
          <ac:spMkLst>
            <pc:docMk/>
            <pc:sldMk cId="0" sldId="259"/>
            <ac:spMk id="18" creationId="{00000000-0000-0000-0000-000000000000}"/>
          </ac:spMkLst>
        </pc:spChg>
        <pc:spChg chg="mod">
          <ac:chgData name="Swkratis Giannoutsos" userId="635c5988b0ac75cb" providerId="LiveId" clId="{2A7595ED-FB9C-4431-944F-C1113FEFC942}" dt="2026-09-14T12:08:07.785" v="311" actId="1076"/>
          <ac:spMkLst>
            <pc:docMk/>
            <pc:sldMk cId="0" sldId="259"/>
            <ac:spMk id="20" creationId="{00000000-0000-0000-0000-000000000000}"/>
          </ac:spMkLst>
        </pc:spChg>
        <pc:spChg chg="mod">
          <ac:chgData name="Swkratis Giannoutsos" userId="635c5988b0ac75cb" providerId="LiveId" clId="{2A7595ED-FB9C-4431-944F-C1113FEFC942}" dt="2026-09-15T07:51:21.070" v="824" actId="207"/>
          <ac:spMkLst>
            <pc:docMk/>
            <pc:sldMk cId="0" sldId="259"/>
            <ac:spMk id="22" creationId="{00000000-0000-0000-0000-000000000000}"/>
          </ac:spMkLst>
        </pc:spChg>
        <pc:spChg chg="mod">
          <ac:chgData name="Swkratis Giannoutsos" userId="635c5988b0ac75cb" providerId="LiveId" clId="{2A7595ED-FB9C-4431-944F-C1113FEFC942}" dt="2026-09-14T12:08:07.785" v="311" actId="1076"/>
          <ac:spMkLst>
            <pc:docMk/>
            <pc:sldMk cId="0" sldId="259"/>
            <ac:spMk id="24" creationId="{00000000-0000-0000-0000-000000000000}"/>
          </ac:spMkLst>
        </pc:spChg>
        <pc:spChg chg="mod">
          <ac:chgData name="Swkratis Giannoutsos" userId="635c5988b0ac75cb" providerId="LiveId" clId="{2A7595ED-FB9C-4431-944F-C1113FEFC942}" dt="2026-09-14T12:08:07.785" v="311" actId="1076"/>
          <ac:spMkLst>
            <pc:docMk/>
            <pc:sldMk cId="0" sldId="259"/>
            <ac:spMk id="25" creationId="{00000000-0000-0000-0000-000000000000}"/>
          </ac:spMkLst>
        </pc:spChg>
        <pc:spChg chg="mod">
          <ac:chgData name="Swkratis Giannoutsos" userId="635c5988b0ac75cb" providerId="LiveId" clId="{2A7595ED-FB9C-4431-944F-C1113FEFC942}" dt="2026-09-14T12:08:07.785" v="311" actId="1076"/>
          <ac:spMkLst>
            <pc:docMk/>
            <pc:sldMk cId="0" sldId="259"/>
            <ac:spMk id="26" creationId="{00000000-0000-0000-0000-000000000000}"/>
          </ac:spMkLst>
        </pc:spChg>
        <pc:spChg chg="mod">
          <ac:chgData name="Swkratis Giannoutsos" userId="635c5988b0ac75cb" providerId="LiveId" clId="{2A7595ED-FB9C-4431-944F-C1113FEFC942}" dt="2026-09-15T07:51:17.107" v="823" actId="207"/>
          <ac:spMkLst>
            <pc:docMk/>
            <pc:sldMk cId="0" sldId="259"/>
            <ac:spMk id="32" creationId="{00000000-0000-0000-0000-000000000000}"/>
          </ac:spMkLst>
        </pc:spChg>
        <pc:spChg chg="add del mod">
          <ac:chgData name="Swkratis Giannoutsos" userId="635c5988b0ac75cb" providerId="LiveId" clId="{2A7595ED-FB9C-4431-944F-C1113FEFC942}" dt="2026-09-14T12:08:02.075" v="310"/>
          <ac:spMkLst>
            <pc:docMk/>
            <pc:sldMk cId="0" sldId="259"/>
            <ac:spMk id="35" creationId="{7FFC1409-2A84-8927-C23B-DD4E0DD55D15}"/>
          </ac:spMkLst>
        </pc:spChg>
      </pc:sldChg>
      <pc:sldChg chg="modSp mod">
        <pc:chgData name="Swkratis Giannoutsos" userId="635c5988b0ac75cb" providerId="LiveId" clId="{2A7595ED-FB9C-4431-944F-C1113FEFC942}" dt="2026-09-15T07:59:56.314" v="1225" actId="20577"/>
        <pc:sldMkLst>
          <pc:docMk/>
          <pc:sldMk cId="0" sldId="261"/>
        </pc:sldMkLst>
        <pc:spChg chg="mod">
          <ac:chgData name="Swkratis Giannoutsos" userId="635c5988b0ac75cb" providerId="LiveId" clId="{2A7595ED-FB9C-4431-944F-C1113FEFC942}" dt="2026-09-14T09:59:11.592" v="218" actId="255"/>
          <ac:spMkLst>
            <pc:docMk/>
            <pc:sldMk cId="0" sldId="261"/>
            <ac:spMk id="6" creationId="{00000000-0000-0000-0000-000000000000}"/>
          </ac:spMkLst>
        </pc:spChg>
        <pc:spChg chg="mod">
          <ac:chgData name="Swkratis Giannoutsos" userId="635c5988b0ac75cb" providerId="LiveId" clId="{2A7595ED-FB9C-4431-944F-C1113FEFC942}" dt="2026-09-15T07:59:56.314" v="1225" actId="20577"/>
          <ac:spMkLst>
            <pc:docMk/>
            <pc:sldMk cId="0" sldId="261"/>
            <ac:spMk id="21" creationId="{00000000-0000-0000-0000-000000000000}"/>
          </ac:spMkLst>
        </pc:spChg>
        <pc:spChg chg="mod">
          <ac:chgData name="Swkratis Giannoutsos" userId="635c5988b0ac75cb" providerId="LiveId" clId="{2A7595ED-FB9C-4431-944F-C1113FEFC942}" dt="2026-09-14T09:58:59.184" v="217" actId="255"/>
          <ac:spMkLst>
            <pc:docMk/>
            <pc:sldMk cId="0" sldId="261"/>
            <ac:spMk id="22" creationId="{00000000-0000-0000-0000-000000000000}"/>
          </ac:spMkLst>
        </pc:spChg>
      </pc:sldChg>
      <pc:sldChg chg="modSp mod">
        <pc:chgData name="Swkratis Giannoutsos" userId="635c5988b0ac75cb" providerId="LiveId" clId="{2A7595ED-FB9C-4431-944F-C1113FEFC942}" dt="2026-09-14T09:56:48.651" v="216" actId="6549"/>
        <pc:sldMkLst>
          <pc:docMk/>
          <pc:sldMk cId="0" sldId="262"/>
        </pc:sldMkLst>
        <pc:spChg chg="mod">
          <ac:chgData name="Swkratis Giannoutsos" userId="635c5988b0ac75cb" providerId="LiveId" clId="{2A7595ED-FB9C-4431-944F-C1113FEFC942}" dt="2026-09-14T09:56:48.651" v="216" actId="6549"/>
          <ac:spMkLst>
            <pc:docMk/>
            <pc:sldMk cId="0" sldId="262"/>
            <ac:spMk id="6" creationId="{00000000-0000-0000-0000-000000000000}"/>
          </ac:spMkLst>
        </pc:spChg>
      </pc:sldChg>
      <pc:sldChg chg="modSp mod">
        <pc:chgData name="Swkratis Giannoutsos" userId="635c5988b0ac75cb" providerId="LiveId" clId="{2A7595ED-FB9C-4431-944F-C1113FEFC942}" dt="2026-09-15T08:11:43.251" v="1252" actId="20577"/>
        <pc:sldMkLst>
          <pc:docMk/>
          <pc:sldMk cId="0" sldId="264"/>
        </pc:sldMkLst>
        <pc:spChg chg="mod">
          <ac:chgData name="Swkratis Giannoutsos" userId="635c5988b0ac75cb" providerId="LiveId" clId="{2A7595ED-FB9C-4431-944F-C1113FEFC942}" dt="2026-09-15T08:11:37.108" v="1240" actId="20577"/>
          <ac:spMkLst>
            <pc:docMk/>
            <pc:sldMk cId="0" sldId="264"/>
            <ac:spMk id="11" creationId="{00000000-0000-0000-0000-000000000000}"/>
          </ac:spMkLst>
        </pc:spChg>
        <pc:spChg chg="mod">
          <ac:chgData name="Swkratis Giannoutsos" userId="635c5988b0ac75cb" providerId="LiveId" clId="{2A7595ED-FB9C-4431-944F-C1113FEFC942}" dt="2026-09-15T08:11:43.251" v="1252" actId="20577"/>
          <ac:spMkLst>
            <pc:docMk/>
            <pc:sldMk cId="0" sldId="264"/>
            <ac:spMk id="16" creationId="{00000000-0000-0000-0000-000000000000}"/>
          </ac:spMkLst>
        </pc:spChg>
      </pc:sldChg>
      <pc:sldChg chg="modSp mod">
        <pc:chgData name="Swkratis Giannoutsos" userId="635c5988b0ac75cb" providerId="LiveId" clId="{2A7595ED-FB9C-4431-944F-C1113FEFC942}" dt="2026-09-15T08:13:06.398" v="1254" actId="20577"/>
        <pc:sldMkLst>
          <pc:docMk/>
          <pc:sldMk cId="0" sldId="265"/>
        </pc:sldMkLst>
        <pc:spChg chg="mod">
          <ac:chgData name="Swkratis Giannoutsos" userId="635c5988b0ac75cb" providerId="LiveId" clId="{2A7595ED-FB9C-4431-944F-C1113FEFC942}" dt="2026-09-15T08:13:06.398" v="1254" actId="20577"/>
          <ac:spMkLst>
            <pc:docMk/>
            <pc:sldMk cId="0" sldId="265"/>
            <ac:spMk id="5" creationId="{00000000-0000-0000-0000-000000000000}"/>
          </ac:spMkLst>
        </pc:spChg>
      </pc:sldChg>
      <pc:sldChg chg="modSp mod">
        <pc:chgData name="Swkratis Giannoutsos" userId="635c5988b0ac75cb" providerId="LiveId" clId="{2A7595ED-FB9C-4431-944F-C1113FEFC942}" dt="2026-09-15T08:17:52.701" v="1291" actId="207"/>
        <pc:sldMkLst>
          <pc:docMk/>
          <pc:sldMk cId="0" sldId="266"/>
        </pc:sldMkLst>
        <pc:spChg chg="mod">
          <ac:chgData name="Swkratis Giannoutsos" userId="635c5988b0ac75cb" providerId="LiveId" clId="{2A7595ED-FB9C-4431-944F-C1113FEFC942}" dt="2026-09-15T08:17:11.432" v="1286" actId="207"/>
          <ac:spMkLst>
            <pc:docMk/>
            <pc:sldMk cId="0" sldId="266"/>
            <ac:spMk id="9" creationId="{00000000-0000-0000-0000-000000000000}"/>
          </ac:spMkLst>
        </pc:spChg>
        <pc:spChg chg="mod">
          <ac:chgData name="Swkratis Giannoutsos" userId="635c5988b0ac75cb" providerId="LiveId" clId="{2A7595ED-FB9C-4431-944F-C1113FEFC942}" dt="2026-09-15T08:16:49.200" v="1278" actId="20577"/>
          <ac:spMkLst>
            <pc:docMk/>
            <pc:sldMk cId="0" sldId="266"/>
            <ac:spMk id="10" creationId="{00000000-0000-0000-0000-000000000000}"/>
          </ac:spMkLst>
        </pc:spChg>
        <pc:spChg chg="mod">
          <ac:chgData name="Swkratis Giannoutsos" userId="635c5988b0ac75cb" providerId="LiveId" clId="{2A7595ED-FB9C-4431-944F-C1113FEFC942}" dt="2026-09-15T08:17:35.125" v="1287" actId="207"/>
          <ac:spMkLst>
            <pc:docMk/>
            <pc:sldMk cId="0" sldId="266"/>
            <ac:spMk id="11" creationId="{00000000-0000-0000-0000-000000000000}"/>
          </ac:spMkLst>
        </pc:spChg>
        <pc:spChg chg="mod">
          <ac:chgData name="Swkratis Giannoutsos" userId="635c5988b0ac75cb" providerId="LiveId" clId="{2A7595ED-FB9C-4431-944F-C1113FEFC942}" dt="2026-09-15T08:16:58.522" v="1284" actId="207"/>
          <ac:spMkLst>
            <pc:docMk/>
            <pc:sldMk cId="0" sldId="266"/>
            <ac:spMk id="12" creationId="{00000000-0000-0000-0000-000000000000}"/>
          </ac:spMkLst>
        </pc:spChg>
        <pc:spChg chg="mod">
          <ac:chgData name="Swkratis Giannoutsos" userId="635c5988b0ac75cb" providerId="LiveId" clId="{2A7595ED-FB9C-4431-944F-C1113FEFC942}" dt="2026-09-15T08:17:38.311" v="1288" actId="207"/>
          <ac:spMkLst>
            <pc:docMk/>
            <pc:sldMk cId="0" sldId="266"/>
            <ac:spMk id="17" creationId="{00000000-0000-0000-0000-000000000000}"/>
          </ac:spMkLst>
        </pc:spChg>
        <pc:spChg chg="mod">
          <ac:chgData name="Swkratis Giannoutsos" userId="635c5988b0ac75cb" providerId="LiveId" clId="{2A7595ED-FB9C-4431-944F-C1113FEFC942}" dt="2026-09-15T08:17:48.828" v="1290" actId="207"/>
          <ac:spMkLst>
            <pc:docMk/>
            <pc:sldMk cId="0" sldId="266"/>
            <ac:spMk id="19" creationId="{00000000-0000-0000-0000-000000000000}"/>
          </ac:spMkLst>
        </pc:spChg>
        <pc:spChg chg="mod">
          <ac:chgData name="Swkratis Giannoutsos" userId="635c5988b0ac75cb" providerId="LiveId" clId="{2A7595ED-FB9C-4431-944F-C1113FEFC942}" dt="2026-09-15T08:17:42.531" v="1289" actId="207"/>
          <ac:spMkLst>
            <pc:docMk/>
            <pc:sldMk cId="0" sldId="266"/>
            <ac:spMk id="25" creationId="{00000000-0000-0000-0000-000000000000}"/>
          </ac:spMkLst>
        </pc:spChg>
        <pc:spChg chg="mod">
          <ac:chgData name="Swkratis Giannoutsos" userId="635c5988b0ac75cb" providerId="LiveId" clId="{2A7595ED-FB9C-4431-944F-C1113FEFC942}" dt="2026-09-15T08:17:52.701" v="1291" actId="207"/>
          <ac:spMkLst>
            <pc:docMk/>
            <pc:sldMk cId="0" sldId="266"/>
            <ac:spMk id="27" creationId="{00000000-0000-0000-0000-000000000000}"/>
          </ac:spMkLst>
        </pc:spChg>
      </pc:sldChg>
      <pc:sldChg chg="delSp modSp add mod setBg">
        <pc:chgData name="Swkratis Giannoutsos" userId="635c5988b0ac75cb" providerId="LiveId" clId="{2A7595ED-FB9C-4431-944F-C1113FEFC942}" dt="2026-09-15T08:33:29.224" v="1317" actId="20577"/>
        <pc:sldMkLst>
          <pc:docMk/>
          <pc:sldMk cId="0" sldId="268"/>
        </pc:sldMkLst>
        <pc:spChg chg="mod">
          <ac:chgData name="Swkratis Giannoutsos" userId="635c5988b0ac75cb" providerId="LiveId" clId="{2A7595ED-FB9C-4431-944F-C1113FEFC942}" dt="2026-09-15T07:41:58.047" v="355" actId="20577"/>
          <ac:spMkLst>
            <pc:docMk/>
            <pc:sldMk cId="0" sldId="268"/>
            <ac:spMk id="7" creationId="{00000000-0000-0000-0000-000000000000}"/>
          </ac:spMkLst>
        </pc:spChg>
        <pc:spChg chg="mod">
          <ac:chgData name="Swkratis Giannoutsos" userId="635c5988b0ac75cb" providerId="LiveId" clId="{2A7595ED-FB9C-4431-944F-C1113FEFC942}" dt="2026-09-15T07:43:39.443" v="379" actId="20577"/>
          <ac:spMkLst>
            <pc:docMk/>
            <pc:sldMk cId="0" sldId="268"/>
            <ac:spMk id="11" creationId="{00000000-0000-0000-0000-000000000000}"/>
          </ac:spMkLst>
        </pc:spChg>
        <pc:spChg chg="mod">
          <ac:chgData name="Swkratis Giannoutsos" userId="635c5988b0ac75cb" providerId="LiveId" clId="{2A7595ED-FB9C-4431-944F-C1113FEFC942}" dt="2026-09-15T08:33:29.224" v="1317" actId="20577"/>
          <ac:spMkLst>
            <pc:docMk/>
            <pc:sldMk cId="0" sldId="268"/>
            <ac:spMk id="13" creationId="{00000000-0000-0000-0000-000000000000}"/>
          </ac:spMkLst>
        </pc:spChg>
        <pc:spChg chg="mod">
          <ac:chgData name="Swkratis Giannoutsos" userId="635c5988b0ac75cb" providerId="LiveId" clId="{2A7595ED-FB9C-4431-944F-C1113FEFC942}" dt="2026-09-15T07:55:58.715" v="1178" actId="20577"/>
          <ac:spMkLst>
            <pc:docMk/>
            <pc:sldMk cId="0" sldId="268"/>
            <ac:spMk id="19" creationId="{00000000-0000-0000-0000-000000000000}"/>
          </ac:spMkLst>
        </pc:spChg>
        <pc:spChg chg="del">
          <ac:chgData name="Swkratis Giannoutsos" userId="635c5988b0ac75cb" providerId="LiveId" clId="{2A7595ED-FB9C-4431-944F-C1113FEFC942}" dt="2026-09-14T10:04:50.422" v="305" actId="478"/>
          <ac:spMkLst>
            <pc:docMk/>
            <pc:sldMk cId="0" sldId="268"/>
            <ac:spMk id="20"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Absolute PEG</c:v>
                </c:pt>
              </c:strCache>
            </c:strRef>
          </c:tx>
          <c:spPr>
            <a:ln w="31750" cap="flat">
              <a:solidFill>
                <a:srgbClr val="E4572E"/>
              </a:solidFill>
              <a:prstDash val="solid"/>
              <a:round/>
            </a:ln>
            <a:effectLst/>
          </c:spPr>
          <c:marker>
            <c:symbol val="circle"/>
            <c:size val="6"/>
            <c:spPr>
              <a:solidFill>
                <a:srgbClr val="E4572E"/>
              </a:solidFill>
              <a:ln w="9525" cap="flat">
                <a:solidFill>
                  <a:srgbClr val="E4572E"/>
                </a:solidFill>
                <a:prstDash val="solid"/>
                <a:round/>
              </a:ln>
              <a:effectLst/>
            </c:spPr>
          </c:marker>
          <c:cat>
            <c:strRef>
              <c:f>Sheet1!$A$2:$A$5</c:f>
              <c:strCache>
                <c:ptCount val="4"/>
                <c:pt idx="0">
                  <c:v>h=0.05</c:v>
                </c:pt>
                <c:pt idx="1">
                  <c:v>h=0.10</c:v>
                </c:pt>
                <c:pt idx="2">
                  <c:v>h=0.15</c:v>
                </c:pt>
                <c:pt idx="3">
                  <c:v>h=0.20</c:v>
                </c:pt>
              </c:strCache>
            </c:strRef>
          </c:cat>
          <c:val>
            <c:numRef>
              <c:f>Sheet1!$B$2:$B$5</c:f>
              <c:numCache>
                <c:formatCode>General</c:formatCode>
                <c:ptCount val="4"/>
                <c:pt idx="0">
                  <c:v>0.80800000000000005</c:v>
                </c:pt>
                <c:pt idx="1">
                  <c:v>0.749</c:v>
                </c:pt>
                <c:pt idx="2">
                  <c:v>0.65300000000000002</c:v>
                </c:pt>
                <c:pt idx="3">
                  <c:v>0.57199999999999995</c:v>
                </c:pt>
              </c:numCache>
            </c:numRef>
          </c:val>
          <c:smooth val="0"/>
          <c:extLst>
            <c:ext xmlns:c16="http://schemas.microsoft.com/office/drawing/2014/chart" uri="{C3380CC4-5D6E-409C-BE32-E72D297353CC}">
              <c16:uniqueId val="{00000000-2E40-4AF7-8AB2-BCCD20684224}"/>
            </c:ext>
          </c:extLst>
        </c:ser>
        <c:ser>
          <c:idx val="1"/>
          <c:order val="1"/>
          <c:tx>
            <c:strRef>
              <c:f>Sheet1!$C$1</c:f>
              <c:strCache>
                <c:ptCount val="1"/>
                <c:pt idx="0">
                  <c:v>Normalized PEG (used)</c:v>
                </c:pt>
              </c:strCache>
            </c:strRef>
          </c:tx>
          <c:spPr>
            <a:ln w="31750" cap="flat">
              <a:solidFill>
                <a:srgbClr val="2F6FED"/>
              </a:solidFill>
              <a:prstDash val="solid"/>
              <a:round/>
            </a:ln>
            <a:effectLst/>
          </c:spPr>
          <c:marker>
            <c:symbol val="circle"/>
            <c:size val="6"/>
            <c:spPr>
              <a:solidFill>
                <a:srgbClr val="2F6FED"/>
              </a:solidFill>
              <a:ln w="9525" cap="flat">
                <a:solidFill>
                  <a:srgbClr val="2F6FED"/>
                </a:solidFill>
                <a:prstDash val="solid"/>
                <a:round/>
              </a:ln>
              <a:effectLst/>
            </c:spPr>
          </c:marker>
          <c:cat>
            <c:strRef>
              <c:f>Sheet1!$A$2:$A$5</c:f>
              <c:strCache>
                <c:ptCount val="4"/>
                <c:pt idx="0">
                  <c:v>h=0.05</c:v>
                </c:pt>
                <c:pt idx="1">
                  <c:v>h=0.10</c:v>
                </c:pt>
                <c:pt idx="2">
                  <c:v>h=0.15</c:v>
                </c:pt>
                <c:pt idx="3">
                  <c:v>h=0.20</c:v>
                </c:pt>
              </c:strCache>
            </c:strRef>
          </c:cat>
          <c:val>
            <c:numRef>
              <c:f>Sheet1!$C$2:$C$5</c:f>
              <c:numCache>
                <c:formatCode>General</c:formatCode>
                <c:ptCount val="4"/>
                <c:pt idx="0">
                  <c:v>0.81899999999999995</c:v>
                </c:pt>
                <c:pt idx="1">
                  <c:v>0.83399999999999996</c:v>
                </c:pt>
                <c:pt idx="2">
                  <c:v>0.83199999999999996</c:v>
                </c:pt>
                <c:pt idx="3">
                  <c:v>0.82299999999999995</c:v>
                </c:pt>
              </c:numCache>
            </c:numRef>
          </c:val>
          <c:smooth val="0"/>
          <c:extLst>
            <c:ext xmlns:c16="http://schemas.microsoft.com/office/drawing/2014/chart" uri="{C3380CC4-5D6E-409C-BE32-E72D297353CC}">
              <c16:uniqueId val="{00000001-2E40-4AF7-8AB2-BCCD20684224}"/>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Arial"/>
              </a:defRPr>
            </a:pPr>
            <a:endParaRPr lang="en-US"/>
          </a:p>
        </c:txPr>
        <c:crossAx val="2094734552"/>
        <c:crosses val="autoZero"/>
        <c:auto val="1"/>
        <c:lblAlgn val="ctr"/>
        <c:lblOffset val="100"/>
        <c:noMultiLvlLbl val="1"/>
      </c:catAx>
      <c:valAx>
        <c:axId val="2094734552"/>
        <c:scaling>
          <c:orientation val="minMax"/>
          <c:max val="0.9"/>
          <c:min val="0.4"/>
        </c:scaling>
        <c:delete val="0"/>
        <c:axPos val="l"/>
        <c:majorGridlines>
          <c:spPr>
            <a:ln w="12700" cap="flat">
              <a:solidFill>
                <a:srgbClr val="DDE1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6B7280"/>
              </a:solidFill>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race</c:v>
                </c:pt>
              </c:strCache>
            </c:strRef>
          </c:tx>
          <c:spPr>
            <a:solidFill>
              <a:srgbClr val="1B1F3B"/>
            </a:solidFill>
            <a:effectLst/>
          </c:spPr>
          <c:invertIfNegative val="0"/>
          <c:cat>
            <c:strRef>
              <c:f>Sheet1!$A$2:$A$5</c:f>
              <c:strCache>
                <c:ptCount val="4"/>
                <c:pt idx="0">
                  <c:v>Depth 1</c:v>
                </c:pt>
                <c:pt idx="1">
                  <c:v>Depth 2</c:v>
                </c:pt>
                <c:pt idx="2">
                  <c:v>Depth 3</c:v>
                </c:pt>
                <c:pt idx="3">
                  <c:v>Depth 4</c:v>
                </c:pt>
              </c:strCache>
            </c:strRef>
          </c:cat>
          <c:val>
            <c:numRef>
              <c:f>Sheet1!$B$2:$B$5</c:f>
              <c:numCache>
                <c:formatCode>General</c:formatCode>
                <c:ptCount val="4"/>
                <c:pt idx="0">
                  <c:v>93.8</c:v>
                </c:pt>
                <c:pt idx="1">
                  <c:v>2.4</c:v>
                </c:pt>
                <c:pt idx="2">
                  <c:v>0</c:v>
                </c:pt>
                <c:pt idx="3">
                  <c:v>0</c:v>
                </c:pt>
              </c:numCache>
            </c:numRef>
          </c:val>
          <c:extLst>
            <c:ext xmlns:c16="http://schemas.microsoft.com/office/drawing/2014/chart" uri="{C3380CC4-5D6E-409C-BE32-E72D297353CC}">
              <c16:uniqueId val="{00000000-3D94-47C7-9429-CF5B9B7DD186}"/>
            </c:ext>
          </c:extLst>
        </c:ser>
        <c:ser>
          <c:idx val="1"/>
          <c:order val="1"/>
          <c:tx>
            <c:strRef>
              <c:f>Sheet1!$C$1</c:f>
              <c:strCache>
                <c:ptCount val="1"/>
                <c:pt idx="0">
                  <c:v>age</c:v>
                </c:pt>
              </c:strCache>
            </c:strRef>
          </c:tx>
          <c:spPr>
            <a:solidFill>
              <a:srgbClr val="E4572E"/>
            </a:solidFill>
            <a:effectLst/>
          </c:spPr>
          <c:invertIfNegative val="0"/>
          <c:cat>
            <c:strRef>
              <c:f>Sheet1!$A$2:$A$5</c:f>
              <c:strCache>
                <c:ptCount val="4"/>
                <c:pt idx="0">
                  <c:v>Depth 1</c:v>
                </c:pt>
                <c:pt idx="1">
                  <c:v>Depth 2</c:v>
                </c:pt>
                <c:pt idx="2">
                  <c:v>Depth 3</c:v>
                </c:pt>
                <c:pt idx="3">
                  <c:v>Depth 4</c:v>
                </c:pt>
              </c:strCache>
            </c:strRef>
          </c:cat>
          <c:val>
            <c:numRef>
              <c:f>Sheet1!$C$2:$C$5</c:f>
              <c:numCache>
                <c:formatCode>General</c:formatCode>
                <c:ptCount val="4"/>
                <c:pt idx="0">
                  <c:v>6.2</c:v>
                </c:pt>
                <c:pt idx="1">
                  <c:v>42.9</c:v>
                </c:pt>
                <c:pt idx="2">
                  <c:v>25.6</c:v>
                </c:pt>
                <c:pt idx="3">
                  <c:v>42.9</c:v>
                </c:pt>
              </c:numCache>
            </c:numRef>
          </c:val>
          <c:extLst>
            <c:ext xmlns:c16="http://schemas.microsoft.com/office/drawing/2014/chart" uri="{C3380CC4-5D6E-409C-BE32-E72D297353CC}">
              <c16:uniqueId val="{00000001-3D94-47C7-9429-CF5B9B7DD186}"/>
            </c:ext>
          </c:extLst>
        </c:ser>
        <c:ser>
          <c:idx val="2"/>
          <c:order val="2"/>
          <c:tx>
            <c:strRef>
              <c:f>Sheet1!$D$1</c:f>
              <c:strCache>
                <c:ptCount val="1"/>
                <c:pt idx="0">
                  <c:v>gender</c:v>
                </c:pt>
              </c:strCache>
            </c:strRef>
          </c:tx>
          <c:spPr>
            <a:solidFill>
              <a:srgbClr val="2F6FED"/>
            </a:solidFill>
            <a:effectLst/>
          </c:spPr>
          <c:invertIfNegative val="0"/>
          <c:cat>
            <c:strRef>
              <c:f>Sheet1!$A$2:$A$5</c:f>
              <c:strCache>
                <c:ptCount val="4"/>
                <c:pt idx="0">
                  <c:v>Depth 1</c:v>
                </c:pt>
                <c:pt idx="1">
                  <c:v>Depth 2</c:v>
                </c:pt>
                <c:pt idx="2">
                  <c:v>Depth 3</c:v>
                </c:pt>
                <c:pt idx="3">
                  <c:v>Depth 4</c:v>
                </c:pt>
              </c:strCache>
            </c:strRef>
          </c:cat>
          <c:val>
            <c:numRef>
              <c:f>Sheet1!$D$2:$D$5</c:f>
              <c:numCache>
                <c:formatCode>General</c:formatCode>
                <c:ptCount val="4"/>
                <c:pt idx="0">
                  <c:v>0</c:v>
                </c:pt>
                <c:pt idx="1">
                  <c:v>21.4</c:v>
                </c:pt>
                <c:pt idx="2">
                  <c:v>51.2</c:v>
                </c:pt>
                <c:pt idx="3">
                  <c:v>42.9</c:v>
                </c:pt>
              </c:numCache>
            </c:numRef>
          </c:val>
          <c:extLst>
            <c:ext xmlns:c16="http://schemas.microsoft.com/office/drawing/2014/chart" uri="{C3380CC4-5D6E-409C-BE32-E72D297353CC}">
              <c16:uniqueId val="{00000002-3D94-47C7-9429-CF5B9B7DD186}"/>
            </c:ext>
          </c:extLst>
        </c:ser>
        <c:dLbls>
          <c:showLegendKey val="0"/>
          <c:showVal val="0"/>
          <c:showCatName val="0"/>
          <c:showSerName val="0"/>
          <c:showPercent val="0"/>
          <c:showBubbleSize val="0"/>
        </c:dLbls>
        <c:gapWidth val="50"/>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6B728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DDE1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5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50">
              <a:solidFill>
                <a:srgbClr val="6B7280"/>
              </a:solidFill>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200137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F3B"/>
        </a:solidFill>
        <a:effectLst/>
      </p:bgPr>
    </p:bg>
    <p:spTree>
      <p:nvGrpSpPr>
        <p:cNvPr id="1" name=""/>
        <p:cNvGrpSpPr/>
        <p:nvPr/>
      </p:nvGrpSpPr>
      <p:grpSpPr>
        <a:xfrm>
          <a:off x="0" y="0"/>
          <a:ext cx="0" cy="0"/>
          <a:chOff x="0" y="0"/>
          <a:chExt cx="0" cy="0"/>
        </a:xfrm>
      </p:grpSpPr>
      <p:sp>
        <p:nvSpPr>
          <p:cNvPr id="2" name="Shape 0"/>
          <p:cNvSpPr/>
          <p:nvPr/>
        </p:nvSpPr>
        <p:spPr>
          <a:xfrm>
            <a:off x="5394960" y="1920240"/>
            <a:ext cx="777240" cy="777240"/>
          </a:xfrm>
          <a:prstGeom prst="pie">
            <a:avLst>
              <a:gd name="adj1" fmla="val 16200000"/>
              <a:gd name="adj2" fmla="val 5400000"/>
            </a:avLst>
          </a:prstGeom>
          <a:solidFill>
            <a:srgbClr val="E4572E"/>
          </a:solidFill>
          <a:ln/>
        </p:spPr>
        <p:txBody>
          <a:bodyPr/>
          <a:lstStyle/>
          <a:p>
            <a:endParaRPr lang="el-GR"/>
          </a:p>
        </p:txBody>
      </p:sp>
      <p:sp>
        <p:nvSpPr>
          <p:cNvPr id="3" name="Shape 1"/>
          <p:cNvSpPr/>
          <p:nvPr/>
        </p:nvSpPr>
        <p:spPr>
          <a:xfrm>
            <a:off x="5394960" y="1920240"/>
            <a:ext cx="777240" cy="777240"/>
          </a:xfrm>
          <a:prstGeom prst="pie">
            <a:avLst>
              <a:gd name="adj1" fmla="val 5400000"/>
              <a:gd name="adj2" fmla="val 16200000"/>
            </a:avLst>
          </a:prstGeom>
          <a:solidFill>
            <a:srgbClr val="2F6FED"/>
          </a:solidFill>
          <a:ln/>
        </p:spPr>
        <p:txBody>
          <a:bodyPr/>
          <a:lstStyle/>
          <a:p>
            <a:endParaRPr lang="el-GR"/>
          </a:p>
        </p:txBody>
      </p:sp>
      <p:sp>
        <p:nvSpPr>
          <p:cNvPr id="4" name="Text 2"/>
          <p:cNvSpPr txBox="1"/>
          <p:nvPr/>
        </p:nvSpPr>
        <p:spPr>
          <a:xfrm>
            <a:off x="822960" y="2834640"/>
            <a:ext cx="10515600" cy="1188720"/>
          </a:xfrm>
          <a:prstGeom prst="rect">
            <a:avLst/>
          </a:prstGeom>
          <a:noFill/>
          <a:ln/>
        </p:spPr>
        <p:txBody>
          <a:bodyPr wrap="square" lIns="0" tIns="0" rIns="0" bIns="0" rtlCol="0" anchor="ctr"/>
          <a:lstStyle/>
          <a:p>
            <a:pPr marL="0" indent="0" algn="ctr">
              <a:buNone/>
            </a:pPr>
            <a:r>
              <a:rPr lang="en-US" sz="4800" b="1" dirty="0">
                <a:solidFill>
                  <a:srgbClr val="FFFFFF"/>
                </a:solidFill>
                <a:latin typeface="Cambria" pitchFamily="34" charset="0"/>
                <a:ea typeface="Cambria" pitchFamily="34" charset="-122"/>
                <a:cs typeface="Cambria" pitchFamily="34" charset="-120"/>
              </a:rPr>
              <a:t>POLARIZED TREES</a:t>
            </a:r>
            <a:endParaRPr lang="en-US" sz="4800" dirty="0"/>
          </a:p>
        </p:txBody>
      </p:sp>
      <p:sp>
        <p:nvSpPr>
          <p:cNvPr id="5" name="Text 3"/>
          <p:cNvSpPr txBox="1"/>
          <p:nvPr/>
        </p:nvSpPr>
        <p:spPr>
          <a:xfrm>
            <a:off x="822960" y="3840480"/>
            <a:ext cx="10515600" cy="548640"/>
          </a:xfrm>
          <a:prstGeom prst="rect">
            <a:avLst/>
          </a:prstGeom>
          <a:noFill/>
          <a:ln/>
        </p:spPr>
        <p:txBody>
          <a:bodyPr wrap="square" lIns="0" tIns="0" rIns="0" bIns="0" rtlCol="0" anchor="ctr"/>
          <a:lstStyle/>
          <a:p>
            <a:pPr marL="0" indent="0" algn="ctr">
              <a:buNone/>
            </a:pPr>
            <a:r>
              <a:rPr lang="en-US" sz="1900" dirty="0">
                <a:solidFill>
                  <a:srgbClr val="C9CFEA"/>
                </a:solidFill>
                <a:latin typeface="Calibri" pitchFamily="34" charset="0"/>
                <a:ea typeface="Calibri" pitchFamily="34" charset="-122"/>
                <a:cs typeface="Calibri" pitchFamily="34" charset="-120"/>
              </a:rPr>
              <a:t>Discovering the Roots of Annotation Polyphony</a:t>
            </a:r>
            <a:endParaRPr lang="en-US" sz="1900" dirty="0"/>
          </a:p>
        </p:txBody>
      </p:sp>
      <p:sp>
        <p:nvSpPr>
          <p:cNvPr id="6" name="Shape 4"/>
          <p:cNvSpPr/>
          <p:nvPr/>
        </p:nvSpPr>
        <p:spPr>
          <a:xfrm>
            <a:off x="5367528" y="4572000"/>
            <a:ext cx="1463040" cy="0"/>
          </a:xfrm>
          <a:prstGeom prst="line">
            <a:avLst/>
          </a:prstGeom>
          <a:noFill/>
          <a:ln w="19050">
            <a:solidFill>
              <a:srgbClr val="3B4173"/>
            </a:solidFill>
            <a:prstDash val="solid"/>
          </a:ln>
        </p:spPr>
        <p:txBody>
          <a:bodyPr/>
          <a:lstStyle/>
          <a:p>
            <a:endParaRPr lang="el-GR"/>
          </a:p>
        </p:txBody>
      </p:sp>
      <p:sp>
        <p:nvSpPr>
          <p:cNvPr id="7" name="Text 5"/>
          <p:cNvSpPr txBox="1"/>
          <p:nvPr/>
        </p:nvSpPr>
        <p:spPr>
          <a:xfrm>
            <a:off x="822960" y="4754880"/>
            <a:ext cx="10515600" cy="365760"/>
          </a:xfrm>
          <a:prstGeom prst="rect">
            <a:avLst/>
          </a:prstGeom>
          <a:noFill/>
          <a:ln/>
        </p:spPr>
        <p:txBody>
          <a:bodyPr wrap="square" lIns="0" tIns="0" rIns="0" bIns="0" rtlCol="0" anchor="ctr"/>
          <a:lstStyle/>
          <a:p>
            <a:pPr marL="0" indent="0" algn="ctr">
              <a:buNone/>
            </a:pPr>
            <a:r>
              <a:rPr lang="en-US" sz="1300" dirty="0">
                <a:solidFill>
                  <a:srgbClr val="8B93BE"/>
                </a:solidFill>
                <a:latin typeface="Calibri" pitchFamily="34" charset="0"/>
                <a:ea typeface="Calibri" pitchFamily="34" charset="-122"/>
                <a:cs typeface="Calibri" pitchFamily="34" charset="-120"/>
              </a:rPr>
              <a:t> Method, evaluation, and findings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201168" cy="201168"/>
          </a:xfrm>
          <a:prstGeom prst="pie">
            <a:avLst>
              <a:gd name="adj1" fmla="val 16200000"/>
              <a:gd name="adj2" fmla="val 5400000"/>
            </a:avLst>
          </a:prstGeom>
          <a:solidFill>
            <a:srgbClr val="E4572E"/>
          </a:solidFill>
          <a:ln/>
        </p:spPr>
        <p:txBody>
          <a:bodyPr/>
          <a:lstStyle/>
          <a:p>
            <a:endParaRPr lang="el-GR"/>
          </a:p>
        </p:txBody>
      </p:sp>
      <p:sp>
        <p:nvSpPr>
          <p:cNvPr id="3" name="Shape 1"/>
          <p:cNvSpPr/>
          <p:nvPr/>
        </p:nvSpPr>
        <p:spPr>
          <a:xfrm>
            <a:off x="457200" y="457200"/>
            <a:ext cx="201168" cy="201168"/>
          </a:xfrm>
          <a:prstGeom prst="pie">
            <a:avLst>
              <a:gd name="adj1" fmla="val 5400000"/>
              <a:gd name="adj2" fmla="val 16200000"/>
            </a:avLst>
          </a:prstGeom>
          <a:solidFill>
            <a:srgbClr val="2F6FED"/>
          </a:solidFill>
          <a:ln/>
        </p:spPr>
        <p:txBody>
          <a:bodyPr/>
          <a:lstStyle/>
          <a:p>
            <a:endParaRPr lang="el-GR"/>
          </a:p>
        </p:txBody>
      </p:sp>
      <p:sp>
        <p:nvSpPr>
          <p:cNvPr id="4" name="Text 2"/>
          <p:cNvSpPr txBox="1"/>
          <p:nvPr/>
        </p:nvSpPr>
        <p:spPr>
          <a:xfrm>
            <a:off x="777240" y="384048"/>
            <a:ext cx="7315200" cy="320040"/>
          </a:xfrm>
          <a:prstGeom prst="rect">
            <a:avLst/>
          </a:prstGeom>
          <a:noFill/>
          <a:ln/>
        </p:spPr>
        <p:txBody>
          <a:bodyPr wrap="square" lIns="0" tIns="0" rIns="0" bIns="0" rtlCol="0" anchor="ctr"/>
          <a:lstStyle/>
          <a:p>
            <a:pPr marL="0" indent="0">
              <a:buNone/>
            </a:pPr>
            <a:r>
              <a:rPr lang="en-US" sz="1100" b="1" kern="0" spc="200" dirty="0">
                <a:solidFill>
                  <a:srgbClr val="6B7280"/>
                </a:solidFill>
                <a:latin typeface="Calibri" pitchFamily="34" charset="0"/>
                <a:ea typeface="Calibri" pitchFamily="34" charset="-122"/>
                <a:cs typeface="Calibri" pitchFamily="34" charset="-120"/>
              </a:rPr>
              <a:t>MOTIVATION</a:t>
            </a:r>
            <a:endParaRPr lang="en-US" sz="1100" dirty="0"/>
          </a:p>
        </p:txBody>
      </p:sp>
      <p:sp>
        <p:nvSpPr>
          <p:cNvPr id="5" name="Text 3"/>
          <p:cNvSpPr txBox="1"/>
          <p:nvPr/>
        </p:nvSpPr>
        <p:spPr>
          <a:xfrm>
            <a:off x="457200" y="713232"/>
            <a:ext cx="11247120" cy="777240"/>
          </a:xfrm>
          <a:prstGeom prst="rect">
            <a:avLst/>
          </a:prstGeom>
          <a:noFill/>
          <a:ln/>
        </p:spPr>
        <p:txBody>
          <a:bodyPr wrap="square" lIns="0" tIns="0" rIns="0" bIns="0" rtlCol="0" anchor="ctr"/>
          <a:lstStyle/>
          <a:p>
            <a:pPr marL="0" indent="0">
              <a:buNone/>
            </a:pPr>
            <a:r>
              <a:rPr lang="en-US" sz="3000" b="1" dirty="0">
                <a:solidFill>
                  <a:srgbClr val="1B1F3B"/>
                </a:solidFill>
                <a:latin typeface="Cambria" pitchFamily="34" charset="0"/>
                <a:ea typeface="Cambria" pitchFamily="34" charset="-122"/>
                <a:cs typeface="Cambria" pitchFamily="34" charset="-120"/>
              </a:rPr>
              <a:t>Disagreement isn't noise — it's polyphony</a:t>
            </a:r>
            <a:endParaRPr lang="en-US" sz="3000" dirty="0"/>
          </a:p>
        </p:txBody>
      </p:sp>
      <p:sp>
        <p:nvSpPr>
          <p:cNvPr id="6" name="Shape 4"/>
          <p:cNvSpPr/>
          <p:nvPr/>
        </p:nvSpPr>
        <p:spPr>
          <a:xfrm>
            <a:off x="457200" y="1874520"/>
            <a:ext cx="5349240" cy="3703320"/>
          </a:xfrm>
          <a:prstGeom prst="roundRect">
            <a:avLst>
              <a:gd name="adj" fmla="val 1975"/>
            </a:avLst>
          </a:prstGeom>
          <a:solidFill>
            <a:srgbClr val="F1F3FA"/>
          </a:solidFill>
          <a:ln/>
        </p:spPr>
        <p:txBody>
          <a:bodyPr/>
          <a:lstStyle/>
          <a:p>
            <a:endParaRPr lang="el-GR"/>
          </a:p>
        </p:txBody>
      </p:sp>
      <p:sp>
        <p:nvSpPr>
          <p:cNvPr id="7" name="Shape 5"/>
          <p:cNvSpPr/>
          <p:nvPr/>
        </p:nvSpPr>
        <p:spPr>
          <a:xfrm>
            <a:off x="457200" y="1874520"/>
            <a:ext cx="5349240" cy="73152"/>
          </a:xfrm>
          <a:prstGeom prst="rect">
            <a:avLst/>
          </a:prstGeom>
          <a:solidFill>
            <a:srgbClr val="E4572E"/>
          </a:solidFill>
          <a:ln/>
        </p:spPr>
        <p:txBody>
          <a:bodyPr/>
          <a:lstStyle/>
          <a:p>
            <a:endParaRPr lang="el-GR"/>
          </a:p>
        </p:txBody>
      </p:sp>
      <p:sp>
        <p:nvSpPr>
          <p:cNvPr id="8" name="Text 6"/>
          <p:cNvSpPr txBox="1"/>
          <p:nvPr/>
        </p:nvSpPr>
        <p:spPr>
          <a:xfrm>
            <a:off x="777240" y="2148840"/>
            <a:ext cx="4754880" cy="457200"/>
          </a:xfrm>
          <a:prstGeom prst="rect">
            <a:avLst/>
          </a:prstGeom>
          <a:noFill/>
          <a:ln/>
        </p:spPr>
        <p:txBody>
          <a:bodyPr wrap="square" lIns="0" tIns="0" rIns="0" bIns="0" rtlCol="0" anchor="ctr"/>
          <a:lstStyle/>
          <a:p>
            <a:pPr marL="0" indent="0">
              <a:buNone/>
            </a:pPr>
            <a:r>
              <a:rPr lang="en-US" sz="1700" b="1" dirty="0">
                <a:solidFill>
                  <a:srgbClr val="1B1F3B"/>
                </a:solidFill>
                <a:latin typeface="Cambria" pitchFamily="34" charset="0"/>
                <a:ea typeface="Cambria" pitchFamily="34" charset="-122"/>
                <a:cs typeface="Cambria" pitchFamily="34" charset="-120"/>
              </a:rPr>
              <a:t>The problem</a:t>
            </a:r>
            <a:endParaRPr lang="en-US" sz="1700" dirty="0"/>
          </a:p>
        </p:txBody>
      </p:sp>
      <p:sp>
        <p:nvSpPr>
          <p:cNvPr id="9" name="Text 7"/>
          <p:cNvSpPr txBox="1"/>
          <p:nvPr/>
        </p:nvSpPr>
        <p:spPr>
          <a:xfrm>
            <a:off x="777240" y="2743200"/>
            <a:ext cx="4754880" cy="2651760"/>
          </a:xfrm>
          <a:prstGeom prst="rect">
            <a:avLst/>
          </a:prstGeom>
          <a:noFill/>
          <a:ln/>
        </p:spPr>
        <p:txBody>
          <a:bodyPr wrap="square" lIns="0" tIns="0" rIns="0" bIns="0" rtlCol="0" anchor="ctr"/>
          <a:lstStyle/>
          <a:p>
            <a:pPr marL="0" indent="0">
              <a:lnSpc>
                <a:spcPct val="125000"/>
              </a:lnSpc>
              <a:buNone/>
            </a:pPr>
            <a:r>
              <a:rPr lang="en-US" sz="1400" dirty="0">
                <a:solidFill>
                  <a:srgbClr val="1B1F3B"/>
                </a:solidFill>
                <a:latin typeface="Calibri" pitchFamily="34" charset="0"/>
                <a:ea typeface="Calibri" pitchFamily="34" charset="-122"/>
                <a:cs typeface="Calibri" pitchFamily="34" charset="-120"/>
              </a:rPr>
              <a:t>Annotators labeling subjective content (toxicity, bias…) often don't just disagree at random — they split into consistent, opposing camps. Standard pipelines collapse this into a single label by majority vote, discarding exactly the signal we want: who disagrees, and why.</a:t>
            </a:r>
            <a:endParaRPr lang="en-US" sz="1400" dirty="0"/>
          </a:p>
        </p:txBody>
      </p:sp>
      <p:sp>
        <p:nvSpPr>
          <p:cNvPr id="10" name="Shape 8"/>
          <p:cNvSpPr/>
          <p:nvPr/>
        </p:nvSpPr>
        <p:spPr>
          <a:xfrm>
            <a:off x="6355080" y="1874520"/>
            <a:ext cx="5394960" cy="3703320"/>
          </a:xfrm>
          <a:prstGeom prst="roundRect">
            <a:avLst>
              <a:gd name="adj" fmla="val 1975"/>
            </a:avLst>
          </a:prstGeom>
          <a:solidFill>
            <a:srgbClr val="F1F3FA"/>
          </a:solidFill>
          <a:ln/>
        </p:spPr>
        <p:txBody>
          <a:bodyPr/>
          <a:lstStyle/>
          <a:p>
            <a:endParaRPr lang="el-GR"/>
          </a:p>
        </p:txBody>
      </p:sp>
      <p:sp>
        <p:nvSpPr>
          <p:cNvPr id="11" name="Shape 9"/>
          <p:cNvSpPr/>
          <p:nvPr/>
        </p:nvSpPr>
        <p:spPr>
          <a:xfrm>
            <a:off x="6355080" y="1874520"/>
            <a:ext cx="5394960" cy="73152"/>
          </a:xfrm>
          <a:prstGeom prst="rect">
            <a:avLst/>
          </a:prstGeom>
          <a:solidFill>
            <a:srgbClr val="2F6FED"/>
          </a:solidFill>
          <a:ln/>
        </p:spPr>
        <p:txBody>
          <a:bodyPr/>
          <a:lstStyle/>
          <a:p>
            <a:endParaRPr lang="el-GR"/>
          </a:p>
        </p:txBody>
      </p:sp>
      <p:sp>
        <p:nvSpPr>
          <p:cNvPr id="12" name="Text 10"/>
          <p:cNvSpPr txBox="1"/>
          <p:nvPr/>
        </p:nvSpPr>
        <p:spPr>
          <a:xfrm>
            <a:off x="6675120" y="2148840"/>
            <a:ext cx="4846320" cy="457200"/>
          </a:xfrm>
          <a:prstGeom prst="rect">
            <a:avLst/>
          </a:prstGeom>
          <a:noFill/>
          <a:ln/>
        </p:spPr>
        <p:txBody>
          <a:bodyPr wrap="square" lIns="0" tIns="0" rIns="0" bIns="0" rtlCol="0" anchor="ctr"/>
          <a:lstStyle/>
          <a:p>
            <a:pPr marL="0" indent="0">
              <a:buNone/>
            </a:pPr>
            <a:r>
              <a:rPr lang="en-US" sz="1700" b="1" dirty="0">
                <a:solidFill>
                  <a:srgbClr val="1B1F3B"/>
                </a:solidFill>
                <a:latin typeface="Cambria" pitchFamily="34" charset="0"/>
                <a:ea typeface="Cambria" pitchFamily="34" charset="-122"/>
                <a:cs typeface="Cambria" pitchFamily="34" charset="-120"/>
              </a:rPr>
              <a:t>The motivation</a:t>
            </a:r>
            <a:endParaRPr lang="en-US" sz="1700" dirty="0"/>
          </a:p>
        </p:txBody>
      </p:sp>
      <p:sp>
        <p:nvSpPr>
          <p:cNvPr id="13" name="Text 11"/>
          <p:cNvSpPr txBox="1"/>
          <p:nvPr/>
        </p:nvSpPr>
        <p:spPr>
          <a:xfrm>
            <a:off x="6675120" y="2743200"/>
            <a:ext cx="4846320" cy="2651760"/>
          </a:xfrm>
          <a:prstGeom prst="rect">
            <a:avLst/>
          </a:prstGeom>
          <a:noFill/>
          <a:ln/>
        </p:spPr>
        <p:txBody>
          <a:bodyPr wrap="square" lIns="0" tIns="0" rIns="0" bIns="0" rtlCol="0" anchor="ctr"/>
          <a:lstStyle/>
          <a:p>
            <a:pPr marL="0" indent="0">
              <a:lnSpc>
                <a:spcPct val="125000"/>
              </a:lnSpc>
              <a:buNone/>
            </a:pPr>
            <a:r>
              <a:rPr lang="en-US" sz="1400" dirty="0">
                <a:solidFill>
                  <a:srgbClr val="1B1F3B"/>
                </a:solidFill>
                <a:latin typeface="Calibri" pitchFamily="34" charset="0"/>
                <a:ea typeface="Calibri" pitchFamily="34" charset="-122"/>
                <a:cs typeface="Calibri" pitchFamily="34" charset="-120"/>
              </a:rPr>
              <a:t>Prior work shows annotator traits — gender, politics, race, age — can systematically shape judgments. If opposing camps line up with who the annotators are, that's signal worth surfacing, not noise to average away — but we rarely know which trait, or combination of traits, explains a given split</a:t>
            </a:r>
            <a:r>
              <a:rPr lang="el-GR" sz="1400" dirty="0">
                <a:solidFill>
                  <a:srgbClr val="1B1F3B"/>
                </a:solidFill>
                <a:latin typeface="Calibri" pitchFamily="34" charset="0"/>
                <a:ea typeface="Calibri" pitchFamily="34" charset="-122"/>
                <a:cs typeface="Calibri" pitchFamily="34" charset="-120"/>
              </a:rPr>
              <a:t> </a:t>
            </a:r>
            <a:r>
              <a:rPr lang="en-US" sz="1400" dirty="0">
                <a:solidFill>
                  <a:srgbClr val="1B1F3B"/>
                </a:solidFill>
                <a:latin typeface="Calibri" pitchFamily="34" charset="0"/>
                <a:ea typeface="Calibri" pitchFamily="34" charset="-122"/>
                <a:cs typeface="Calibri" pitchFamily="34" charset="-120"/>
              </a:rPr>
              <a:t>and by </a:t>
            </a:r>
            <a:r>
              <a:rPr lang="en-US" sz="1400">
                <a:solidFill>
                  <a:srgbClr val="1B1F3B"/>
                </a:solidFill>
                <a:latin typeface="Calibri" pitchFamily="34" charset="0"/>
                <a:ea typeface="Calibri" pitchFamily="34" charset="-122"/>
                <a:cs typeface="Calibri" pitchFamily="34" charset="-120"/>
              </a:rPr>
              <a:t>how much.</a:t>
            </a:r>
            <a:endParaRPr lang="en-US" sz="1400" dirty="0"/>
          </a:p>
        </p:txBody>
      </p:sp>
      <p:sp>
        <p:nvSpPr>
          <p:cNvPr id="14" name="Shape 12"/>
          <p:cNvSpPr/>
          <p:nvPr/>
        </p:nvSpPr>
        <p:spPr>
          <a:xfrm>
            <a:off x="457200" y="5760720"/>
            <a:ext cx="11292840" cy="685800"/>
          </a:xfrm>
          <a:prstGeom prst="roundRect">
            <a:avLst>
              <a:gd name="adj" fmla="val 8000"/>
            </a:avLst>
          </a:prstGeom>
          <a:solidFill>
            <a:srgbClr val="1B1F3B"/>
          </a:solidFill>
          <a:ln/>
        </p:spPr>
        <p:txBody>
          <a:bodyPr/>
          <a:lstStyle/>
          <a:p>
            <a:endParaRPr lang="el-GR"/>
          </a:p>
        </p:txBody>
      </p:sp>
      <p:sp>
        <p:nvSpPr>
          <p:cNvPr id="15" name="Text 13"/>
          <p:cNvSpPr txBox="1"/>
          <p:nvPr/>
        </p:nvSpPr>
        <p:spPr>
          <a:xfrm>
            <a:off x="777240" y="5760720"/>
            <a:ext cx="10652760" cy="685800"/>
          </a:xfrm>
          <a:prstGeom prst="rect">
            <a:avLst/>
          </a:prstGeom>
          <a:noFill/>
          <a:ln/>
        </p:spPr>
        <p:txBody>
          <a:bodyPr wrap="square" lIns="0" tIns="0" rIns="0" bIns="0" rtlCol="0" anchor="ctr"/>
          <a:lstStyle/>
          <a:p>
            <a:pPr marL="0" indent="0">
              <a:buNone/>
            </a:pPr>
            <a:r>
              <a:rPr lang="en-US" sz="1350" b="1" dirty="0">
                <a:solidFill>
                  <a:srgbClr val="F2B705"/>
                </a:solidFill>
                <a:latin typeface="Calibri" pitchFamily="34" charset="0"/>
                <a:ea typeface="Calibri" pitchFamily="34" charset="-122"/>
                <a:cs typeface="Calibri" pitchFamily="34" charset="-120"/>
              </a:rPr>
              <a:t>The open question:  </a:t>
            </a:r>
            <a:r>
              <a:rPr lang="en-US" sz="1350" dirty="0">
                <a:solidFill>
                  <a:srgbClr val="FFFFFF"/>
                </a:solidFill>
                <a:latin typeface="Calibri" pitchFamily="34" charset="0"/>
                <a:ea typeface="Calibri" pitchFamily="34" charset="-122"/>
                <a:cs typeface="Calibri" pitchFamily="34" charset="-120"/>
              </a:rPr>
              <a:t>which traits — alone or combined — explain where opinions diverge, and by how much, without guessing in advance?</a:t>
            </a:r>
            <a:endParaRPr lang="en-US" sz="1350" dirty="0"/>
          </a:p>
        </p:txBody>
      </p:sp>
      <p:sp>
        <p:nvSpPr>
          <p:cNvPr id="16" name="Text 14"/>
          <p:cNvSpPr txBox="1"/>
          <p:nvPr/>
        </p:nvSpPr>
        <p:spPr>
          <a:xfrm>
            <a:off x="11521440" y="6473952"/>
            <a:ext cx="548640" cy="274320"/>
          </a:xfrm>
          <a:prstGeom prst="rect">
            <a:avLst/>
          </a:prstGeom>
          <a:noFill/>
          <a:ln/>
        </p:spPr>
        <p:txBody>
          <a:bodyPr wrap="square" lIns="0" tIns="0" rIns="0" bIns="0" rtlCol="0" anchor="ctr"/>
          <a:lstStyle/>
          <a:p>
            <a:pPr marL="0" indent="0" algn="r">
              <a:buNone/>
            </a:pPr>
            <a:r>
              <a:rPr lang="en-US" sz="1000" dirty="0">
                <a:solidFill>
                  <a:srgbClr val="B7BCD0"/>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201168" cy="201168"/>
          </a:xfrm>
          <a:prstGeom prst="pie">
            <a:avLst>
              <a:gd name="adj1" fmla="val 16200000"/>
              <a:gd name="adj2" fmla="val 5400000"/>
            </a:avLst>
          </a:prstGeom>
          <a:solidFill>
            <a:srgbClr val="E4572E"/>
          </a:solidFill>
          <a:ln/>
        </p:spPr>
        <p:txBody>
          <a:bodyPr/>
          <a:lstStyle/>
          <a:p>
            <a:endParaRPr lang="el-GR"/>
          </a:p>
        </p:txBody>
      </p:sp>
      <p:sp>
        <p:nvSpPr>
          <p:cNvPr id="3" name="Shape 1"/>
          <p:cNvSpPr/>
          <p:nvPr/>
        </p:nvSpPr>
        <p:spPr>
          <a:xfrm>
            <a:off x="457200" y="457200"/>
            <a:ext cx="201168" cy="201168"/>
          </a:xfrm>
          <a:prstGeom prst="pie">
            <a:avLst>
              <a:gd name="adj1" fmla="val 5400000"/>
              <a:gd name="adj2" fmla="val 16200000"/>
            </a:avLst>
          </a:prstGeom>
          <a:solidFill>
            <a:srgbClr val="2F6FED"/>
          </a:solidFill>
          <a:ln/>
        </p:spPr>
        <p:txBody>
          <a:bodyPr/>
          <a:lstStyle/>
          <a:p>
            <a:endParaRPr lang="el-GR"/>
          </a:p>
        </p:txBody>
      </p:sp>
      <p:sp>
        <p:nvSpPr>
          <p:cNvPr id="4" name="Text 2"/>
          <p:cNvSpPr txBox="1"/>
          <p:nvPr/>
        </p:nvSpPr>
        <p:spPr>
          <a:xfrm>
            <a:off x="777240" y="384048"/>
            <a:ext cx="7315200" cy="320040"/>
          </a:xfrm>
          <a:prstGeom prst="rect">
            <a:avLst/>
          </a:prstGeom>
          <a:noFill/>
          <a:ln/>
        </p:spPr>
        <p:txBody>
          <a:bodyPr wrap="square" lIns="0" tIns="0" rIns="0" bIns="0" rtlCol="0" anchor="ctr"/>
          <a:lstStyle/>
          <a:p>
            <a:pPr marL="0" indent="0">
              <a:buNone/>
            </a:pPr>
            <a:r>
              <a:rPr lang="en-US" sz="1100" b="1" kern="0" spc="200" dirty="0">
                <a:solidFill>
                  <a:srgbClr val="6B7280"/>
                </a:solidFill>
                <a:latin typeface="Calibri" pitchFamily="34" charset="0"/>
                <a:ea typeface="Calibri" pitchFamily="34" charset="-122"/>
                <a:cs typeface="Calibri" pitchFamily="34" charset="-120"/>
              </a:rPr>
              <a:t>OVERVIEW</a:t>
            </a:r>
            <a:endParaRPr lang="en-US" sz="1100" dirty="0"/>
          </a:p>
        </p:txBody>
      </p:sp>
      <p:sp>
        <p:nvSpPr>
          <p:cNvPr id="5" name="Text 3"/>
          <p:cNvSpPr txBox="1"/>
          <p:nvPr/>
        </p:nvSpPr>
        <p:spPr>
          <a:xfrm>
            <a:off x="457200" y="713232"/>
            <a:ext cx="11247120" cy="777240"/>
          </a:xfrm>
          <a:prstGeom prst="rect">
            <a:avLst/>
          </a:prstGeom>
          <a:noFill/>
          <a:ln/>
        </p:spPr>
        <p:txBody>
          <a:bodyPr wrap="square" lIns="0" tIns="0" rIns="0" bIns="0" rtlCol="0" anchor="ctr"/>
          <a:lstStyle/>
          <a:p>
            <a:pPr marL="0" indent="0">
              <a:buNone/>
            </a:pPr>
            <a:r>
              <a:rPr lang="en-US" sz="3000" b="1" dirty="0">
                <a:solidFill>
                  <a:srgbClr val="1B1F3B"/>
                </a:solidFill>
                <a:latin typeface="Cambria" pitchFamily="34" charset="0"/>
                <a:ea typeface="Cambria" pitchFamily="34" charset="-122"/>
                <a:cs typeface="Cambria" pitchFamily="34" charset="-120"/>
              </a:rPr>
              <a:t>What is Polarized Trees?</a:t>
            </a:r>
            <a:endParaRPr lang="en-US" sz="3000" dirty="0"/>
          </a:p>
        </p:txBody>
      </p:sp>
      <p:sp>
        <p:nvSpPr>
          <p:cNvPr id="6" name="Shape 4"/>
          <p:cNvSpPr/>
          <p:nvPr/>
        </p:nvSpPr>
        <p:spPr>
          <a:xfrm>
            <a:off x="457200" y="1783080"/>
            <a:ext cx="11247120" cy="1051560"/>
          </a:xfrm>
          <a:prstGeom prst="roundRect">
            <a:avLst>
              <a:gd name="adj" fmla="val 6957"/>
            </a:avLst>
          </a:prstGeom>
          <a:solidFill>
            <a:srgbClr val="1B1F3B"/>
          </a:solidFill>
          <a:ln/>
        </p:spPr>
        <p:txBody>
          <a:bodyPr/>
          <a:lstStyle/>
          <a:p>
            <a:endParaRPr lang="el-GR"/>
          </a:p>
        </p:txBody>
      </p:sp>
      <p:sp>
        <p:nvSpPr>
          <p:cNvPr id="7" name="Text 5"/>
          <p:cNvSpPr txBox="1"/>
          <p:nvPr/>
        </p:nvSpPr>
        <p:spPr>
          <a:xfrm>
            <a:off x="777240" y="1783080"/>
            <a:ext cx="10607040" cy="1051560"/>
          </a:xfrm>
          <a:prstGeom prst="rect">
            <a:avLst/>
          </a:prstGeom>
          <a:noFill/>
          <a:ln/>
        </p:spPr>
        <p:txBody>
          <a:bodyPr wrap="square" lIns="0" tIns="0" rIns="0" bIns="0" rtlCol="0" anchor="ctr"/>
          <a:lstStyle/>
          <a:p>
            <a:pPr marL="0" indent="0">
              <a:lnSpc>
                <a:spcPct val="120000"/>
              </a:lnSpc>
              <a:buNone/>
            </a:pPr>
            <a:r>
              <a:rPr lang="en-US" sz="1450" b="1" dirty="0">
                <a:solidFill>
                  <a:srgbClr val="F2B705"/>
                </a:solidFill>
                <a:latin typeface="Calibri" pitchFamily="34" charset="0"/>
                <a:ea typeface="Calibri" pitchFamily="34" charset="-122"/>
                <a:cs typeface="Calibri" pitchFamily="34" charset="-120"/>
              </a:rPr>
              <a:t>Briefly: </a:t>
            </a:r>
            <a:r>
              <a:rPr lang="en-US" sz="1450" dirty="0">
                <a:solidFill>
                  <a:srgbClr val="FFFFFF"/>
                </a:solidFill>
                <a:latin typeface="Calibri" pitchFamily="34" charset="0"/>
                <a:ea typeface="Calibri" pitchFamily="34" charset="-122"/>
                <a:cs typeface="Calibri" pitchFamily="34" charset="-120"/>
              </a:rPr>
              <a:t>a method that hierarchically and automatically figures out which annotator traits (gender, politics, race, age…) and their intersections explain where people diverge into opposing opinion clusters on the same item, and by how much — without us guessing the traits in advance.</a:t>
            </a:r>
            <a:endParaRPr lang="en-US" sz="1450" dirty="0"/>
          </a:p>
        </p:txBody>
      </p:sp>
      <p:sp>
        <p:nvSpPr>
          <p:cNvPr id="8" name="Shape 6"/>
          <p:cNvSpPr/>
          <p:nvPr/>
        </p:nvSpPr>
        <p:spPr>
          <a:xfrm>
            <a:off x="457200" y="3108960"/>
            <a:ext cx="5349240" cy="2834640"/>
          </a:xfrm>
          <a:prstGeom prst="roundRect">
            <a:avLst>
              <a:gd name="adj" fmla="val 2581"/>
            </a:avLst>
          </a:prstGeom>
          <a:solidFill>
            <a:srgbClr val="F1F3FA"/>
          </a:solidFill>
          <a:ln/>
        </p:spPr>
        <p:txBody>
          <a:bodyPr/>
          <a:lstStyle/>
          <a:p>
            <a:endParaRPr lang="el-GR"/>
          </a:p>
        </p:txBody>
      </p:sp>
      <p:sp>
        <p:nvSpPr>
          <p:cNvPr id="9" name="Shape 7"/>
          <p:cNvSpPr/>
          <p:nvPr/>
        </p:nvSpPr>
        <p:spPr>
          <a:xfrm>
            <a:off x="457200" y="3108960"/>
            <a:ext cx="5349240" cy="73152"/>
          </a:xfrm>
          <a:prstGeom prst="rect">
            <a:avLst/>
          </a:prstGeom>
          <a:solidFill>
            <a:srgbClr val="F2B705"/>
          </a:solidFill>
          <a:ln/>
        </p:spPr>
        <p:txBody>
          <a:bodyPr/>
          <a:lstStyle/>
          <a:p>
            <a:endParaRPr lang="el-GR"/>
          </a:p>
        </p:txBody>
      </p:sp>
      <p:sp>
        <p:nvSpPr>
          <p:cNvPr id="10" name="Text 8"/>
          <p:cNvSpPr txBox="1"/>
          <p:nvPr/>
        </p:nvSpPr>
        <p:spPr>
          <a:xfrm>
            <a:off x="777240" y="3337560"/>
            <a:ext cx="4754880" cy="457200"/>
          </a:xfrm>
          <a:prstGeom prst="rect">
            <a:avLst/>
          </a:prstGeom>
          <a:noFill/>
          <a:ln/>
        </p:spPr>
        <p:txBody>
          <a:bodyPr wrap="square" lIns="0" tIns="0" rIns="0" bIns="0" rtlCol="0" anchor="ctr"/>
          <a:lstStyle/>
          <a:p>
            <a:pPr marL="0" indent="0">
              <a:buNone/>
            </a:pPr>
            <a:r>
              <a:rPr lang="en-US" sz="1600" b="1" dirty="0">
                <a:solidFill>
                  <a:srgbClr val="1B1F3B"/>
                </a:solidFill>
                <a:latin typeface="Cambria" pitchFamily="34" charset="0"/>
                <a:ea typeface="Cambria" pitchFamily="34" charset="-122"/>
                <a:cs typeface="Cambria" pitchFamily="34" charset="-120"/>
              </a:rPr>
              <a:t>What we propose</a:t>
            </a:r>
            <a:endParaRPr lang="en-US" sz="1600" dirty="0"/>
          </a:p>
        </p:txBody>
      </p:sp>
      <p:sp>
        <p:nvSpPr>
          <p:cNvPr id="11" name="Text 9"/>
          <p:cNvSpPr txBox="1"/>
          <p:nvPr/>
        </p:nvSpPr>
        <p:spPr>
          <a:xfrm>
            <a:off x="777240" y="3840480"/>
            <a:ext cx="4754880" cy="1965960"/>
          </a:xfrm>
          <a:prstGeom prst="rect">
            <a:avLst/>
          </a:prstGeom>
          <a:noFill/>
          <a:ln/>
        </p:spPr>
        <p:txBody>
          <a:bodyPr wrap="square" lIns="0" tIns="0" rIns="0" bIns="0" rtlCol="0" anchor="ctr"/>
          <a:lstStyle/>
          <a:p>
            <a:pPr marL="0" indent="0">
              <a:lnSpc>
                <a:spcPct val="125000"/>
              </a:lnSpc>
              <a:buNone/>
            </a:pPr>
            <a:r>
              <a:rPr lang="en-US" sz="1300" dirty="0">
                <a:solidFill>
                  <a:srgbClr val="6B7280"/>
                </a:solidFill>
                <a:latin typeface="Calibri" pitchFamily="34" charset="0"/>
                <a:ea typeface="Calibri" pitchFamily="34" charset="-122"/>
                <a:cs typeface="Calibri" pitchFamily="34" charset="-120"/>
              </a:rPr>
              <a:t>An automatic, hierarchical framework that discovers which annotator traits — and combinations of traits — explain opposing opinion clusters, without predefining hypotheses about which traits to test.</a:t>
            </a:r>
            <a:endParaRPr lang="en-US" sz="1300" dirty="0"/>
          </a:p>
        </p:txBody>
      </p:sp>
      <p:sp>
        <p:nvSpPr>
          <p:cNvPr id="12" name="Shape 10"/>
          <p:cNvSpPr/>
          <p:nvPr/>
        </p:nvSpPr>
        <p:spPr>
          <a:xfrm>
            <a:off x="6355080" y="3108960"/>
            <a:ext cx="5394960" cy="2834640"/>
          </a:xfrm>
          <a:prstGeom prst="roundRect">
            <a:avLst>
              <a:gd name="adj" fmla="val 2581"/>
            </a:avLst>
          </a:prstGeom>
          <a:solidFill>
            <a:srgbClr val="F1F3FA"/>
          </a:solidFill>
          <a:ln/>
        </p:spPr>
        <p:txBody>
          <a:bodyPr/>
          <a:lstStyle/>
          <a:p>
            <a:endParaRPr lang="el-GR"/>
          </a:p>
        </p:txBody>
      </p:sp>
      <p:sp>
        <p:nvSpPr>
          <p:cNvPr id="13" name="Shape 11"/>
          <p:cNvSpPr/>
          <p:nvPr/>
        </p:nvSpPr>
        <p:spPr>
          <a:xfrm>
            <a:off x="6355080" y="3108960"/>
            <a:ext cx="5394960" cy="73152"/>
          </a:xfrm>
          <a:prstGeom prst="rect">
            <a:avLst/>
          </a:prstGeom>
          <a:solidFill>
            <a:srgbClr val="2F6FED"/>
          </a:solidFill>
          <a:ln/>
        </p:spPr>
        <p:txBody>
          <a:bodyPr/>
          <a:lstStyle/>
          <a:p>
            <a:endParaRPr lang="el-GR"/>
          </a:p>
        </p:txBody>
      </p:sp>
      <p:sp>
        <p:nvSpPr>
          <p:cNvPr id="14" name="Text 12"/>
          <p:cNvSpPr txBox="1"/>
          <p:nvPr/>
        </p:nvSpPr>
        <p:spPr>
          <a:xfrm>
            <a:off x="6675120" y="3337560"/>
            <a:ext cx="4846320" cy="457200"/>
          </a:xfrm>
          <a:prstGeom prst="rect">
            <a:avLst/>
          </a:prstGeom>
          <a:noFill/>
          <a:ln/>
        </p:spPr>
        <p:txBody>
          <a:bodyPr wrap="square" lIns="0" tIns="0" rIns="0" bIns="0" rtlCol="0" anchor="ctr"/>
          <a:lstStyle/>
          <a:p>
            <a:pPr marL="0" indent="0">
              <a:buNone/>
            </a:pPr>
            <a:r>
              <a:rPr lang="en-US" sz="1600" b="1" dirty="0">
                <a:solidFill>
                  <a:srgbClr val="1B1F3B"/>
                </a:solidFill>
                <a:latin typeface="Cambria" pitchFamily="34" charset="0"/>
                <a:ea typeface="Cambria" pitchFamily="34" charset="-122"/>
                <a:cs typeface="Cambria" pitchFamily="34" charset="-120"/>
              </a:rPr>
              <a:t>What it does</a:t>
            </a:r>
            <a:endParaRPr lang="en-US" sz="1600" dirty="0"/>
          </a:p>
        </p:txBody>
      </p:sp>
      <p:sp>
        <p:nvSpPr>
          <p:cNvPr id="15" name="Text 13"/>
          <p:cNvSpPr txBox="1"/>
          <p:nvPr/>
        </p:nvSpPr>
        <p:spPr>
          <a:xfrm>
            <a:off x="6675120" y="3840480"/>
            <a:ext cx="4846320" cy="1965960"/>
          </a:xfrm>
          <a:prstGeom prst="rect">
            <a:avLst/>
          </a:prstGeom>
          <a:noFill/>
          <a:ln/>
        </p:spPr>
        <p:txBody>
          <a:bodyPr wrap="square" lIns="0" tIns="0" rIns="0" bIns="0" rtlCol="0" anchor="ctr"/>
          <a:lstStyle/>
          <a:p>
            <a:pPr marL="0" indent="0">
              <a:lnSpc>
                <a:spcPct val="120000"/>
              </a:lnSpc>
              <a:buNone/>
            </a:pPr>
            <a:r>
              <a:rPr lang="en-US" sz="1250" dirty="0">
                <a:solidFill>
                  <a:srgbClr val="6B7280"/>
                </a:solidFill>
                <a:latin typeface="Calibri" pitchFamily="34" charset="0"/>
                <a:ea typeface="Calibri" pitchFamily="34" charset="-122"/>
                <a:cs typeface="Calibri" pitchFamily="34" charset="-120"/>
              </a:rPr>
              <a:t>Builds an interpretable tree per item — each node splits on the trait that best separates opposing opinions, and the process repeats on the remaining traits within each subgroup until splitting stops. This builds up multidimensional annotator identities (e.g. left-leaning AND male AND over-50) along each branch, and each leaf is then assigned a pole by majority vote.</a:t>
            </a:r>
            <a:endParaRPr lang="en-US" sz="1250" dirty="0"/>
          </a:p>
        </p:txBody>
      </p:sp>
      <p:sp>
        <p:nvSpPr>
          <p:cNvPr id="16" name="Text 14"/>
          <p:cNvSpPr txBox="1"/>
          <p:nvPr/>
        </p:nvSpPr>
        <p:spPr>
          <a:xfrm>
            <a:off x="457200" y="6126480"/>
            <a:ext cx="11247120" cy="365760"/>
          </a:xfrm>
          <a:prstGeom prst="rect">
            <a:avLst/>
          </a:prstGeom>
          <a:noFill/>
          <a:ln/>
        </p:spPr>
        <p:txBody>
          <a:bodyPr wrap="square" lIns="0" tIns="0" rIns="0" bIns="0" rtlCol="0" anchor="ctr"/>
          <a:lstStyle/>
          <a:p>
            <a:pPr marL="0" indent="0">
              <a:buNone/>
            </a:pPr>
            <a:r>
              <a:rPr lang="en-US" sz="1200" i="1" dirty="0">
                <a:solidFill>
                  <a:srgbClr val="6B7280"/>
                </a:solidFill>
                <a:latin typeface="Calibri" pitchFamily="34" charset="0"/>
                <a:ea typeface="Calibri" pitchFamily="34" charset="-122"/>
                <a:cs typeface="Calibri" pitchFamily="34" charset="-120"/>
              </a:rPr>
              <a:t>The rest of this talk covers how it works, how we validated it, and what it finds in real data.</a:t>
            </a:r>
            <a:endParaRPr lang="en-US" sz="1200" dirty="0"/>
          </a:p>
        </p:txBody>
      </p:sp>
      <p:sp>
        <p:nvSpPr>
          <p:cNvPr id="17" name="Text 15"/>
          <p:cNvSpPr txBox="1"/>
          <p:nvPr/>
        </p:nvSpPr>
        <p:spPr>
          <a:xfrm>
            <a:off x="11521440" y="6473952"/>
            <a:ext cx="548640" cy="274320"/>
          </a:xfrm>
          <a:prstGeom prst="rect">
            <a:avLst/>
          </a:prstGeom>
          <a:noFill/>
          <a:ln/>
        </p:spPr>
        <p:txBody>
          <a:bodyPr wrap="square" lIns="0" tIns="0" rIns="0" bIns="0" rtlCol="0" anchor="ctr"/>
          <a:lstStyle/>
          <a:p>
            <a:pPr marL="0" indent="0" algn="r">
              <a:buNone/>
            </a:pPr>
            <a:r>
              <a:rPr lang="en-US" sz="1000" dirty="0">
                <a:solidFill>
                  <a:srgbClr val="B7BCD0"/>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201168" cy="201168"/>
          </a:xfrm>
          <a:prstGeom prst="pie">
            <a:avLst>
              <a:gd name="adj1" fmla="val 16200000"/>
              <a:gd name="adj2" fmla="val 5400000"/>
            </a:avLst>
          </a:prstGeom>
          <a:solidFill>
            <a:srgbClr val="E4572E"/>
          </a:solidFill>
          <a:ln/>
        </p:spPr>
        <p:txBody>
          <a:bodyPr/>
          <a:lstStyle/>
          <a:p>
            <a:endParaRPr lang="el-GR"/>
          </a:p>
        </p:txBody>
      </p:sp>
      <p:sp>
        <p:nvSpPr>
          <p:cNvPr id="3" name="Shape 1"/>
          <p:cNvSpPr/>
          <p:nvPr/>
        </p:nvSpPr>
        <p:spPr>
          <a:xfrm>
            <a:off x="457200" y="457200"/>
            <a:ext cx="201168" cy="201168"/>
          </a:xfrm>
          <a:prstGeom prst="pie">
            <a:avLst>
              <a:gd name="adj1" fmla="val 5400000"/>
              <a:gd name="adj2" fmla="val 16200000"/>
            </a:avLst>
          </a:prstGeom>
          <a:solidFill>
            <a:srgbClr val="2F6FED"/>
          </a:solidFill>
          <a:ln/>
        </p:spPr>
        <p:txBody>
          <a:bodyPr/>
          <a:lstStyle/>
          <a:p>
            <a:endParaRPr lang="el-GR"/>
          </a:p>
        </p:txBody>
      </p:sp>
      <p:sp>
        <p:nvSpPr>
          <p:cNvPr id="4" name="Text 2"/>
          <p:cNvSpPr txBox="1"/>
          <p:nvPr/>
        </p:nvSpPr>
        <p:spPr>
          <a:xfrm>
            <a:off x="777240" y="384048"/>
            <a:ext cx="7315200" cy="320040"/>
          </a:xfrm>
          <a:prstGeom prst="rect">
            <a:avLst/>
          </a:prstGeom>
          <a:noFill/>
          <a:ln/>
        </p:spPr>
        <p:txBody>
          <a:bodyPr wrap="square" lIns="0" tIns="0" rIns="0" bIns="0" rtlCol="0" anchor="ctr"/>
          <a:lstStyle/>
          <a:p>
            <a:pPr marL="0" indent="0">
              <a:buNone/>
            </a:pPr>
            <a:r>
              <a:rPr lang="en-US" sz="1100" b="1" kern="0" spc="200" dirty="0">
                <a:solidFill>
                  <a:srgbClr val="6B7280"/>
                </a:solidFill>
                <a:latin typeface="Calibri" pitchFamily="34" charset="0"/>
                <a:ea typeface="Calibri" pitchFamily="34" charset="-122"/>
                <a:cs typeface="Calibri" pitchFamily="34" charset="-120"/>
              </a:rPr>
              <a:t>CORE IDEA</a:t>
            </a:r>
            <a:endParaRPr lang="en-US" sz="1100" dirty="0"/>
          </a:p>
        </p:txBody>
      </p:sp>
      <p:sp>
        <p:nvSpPr>
          <p:cNvPr id="5" name="Text 3"/>
          <p:cNvSpPr txBox="1"/>
          <p:nvPr/>
        </p:nvSpPr>
        <p:spPr>
          <a:xfrm>
            <a:off x="457200" y="713232"/>
            <a:ext cx="11247120" cy="777240"/>
          </a:xfrm>
          <a:prstGeom prst="rect">
            <a:avLst/>
          </a:prstGeom>
          <a:noFill/>
          <a:ln/>
        </p:spPr>
        <p:txBody>
          <a:bodyPr wrap="square" lIns="0" tIns="0" rIns="0" bIns="0" rtlCol="0" anchor="ctr"/>
          <a:lstStyle/>
          <a:p>
            <a:pPr marL="0" indent="0">
              <a:buNone/>
            </a:pPr>
            <a:r>
              <a:rPr lang="en-US" sz="3000" b="1" dirty="0">
                <a:solidFill>
                  <a:srgbClr val="1B1F3B"/>
                </a:solidFill>
                <a:latin typeface="Cambria" pitchFamily="34" charset="0"/>
                <a:ea typeface="Cambria" pitchFamily="34" charset="-122"/>
                <a:cs typeface="Cambria" pitchFamily="34" charset="-120"/>
              </a:rPr>
              <a:t>Recursively split annotators along the traits that separate them</a:t>
            </a:r>
            <a:endParaRPr lang="en-US" sz="3000" dirty="0"/>
          </a:p>
        </p:txBody>
      </p:sp>
      <p:sp>
        <p:nvSpPr>
          <p:cNvPr id="6" name="Text 4"/>
          <p:cNvSpPr txBox="1"/>
          <p:nvPr/>
        </p:nvSpPr>
        <p:spPr>
          <a:xfrm>
            <a:off x="487680" y="1257300"/>
            <a:ext cx="9144000" cy="365760"/>
          </a:xfrm>
          <a:prstGeom prst="rect">
            <a:avLst/>
          </a:prstGeom>
          <a:noFill/>
          <a:ln/>
        </p:spPr>
        <p:txBody>
          <a:bodyPr wrap="square" lIns="0" tIns="0" rIns="0" bIns="0" rtlCol="0" anchor="ctr"/>
          <a:lstStyle/>
          <a:p>
            <a:pPr marL="0" indent="0">
              <a:buNone/>
            </a:pPr>
            <a:r>
              <a:rPr lang="en-US" sz="1300" i="1" dirty="0">
                <a:solidFill>
                  <a:srgbClr val="6B7280"/>
                </a:solidFill>
                <a:latin typeface="Calibri" pitchFamily="34" charset="0"/>
                <a:ea typeface="Calibri" pitchFamily="34" charset="-122"/>
                <a:cs typeface="Calibri" pitchFamily="34" charset="-120"/>
              </a:rPr>
              <a:t>Example tree — “Women should not be allowed in leadership positions.”</a:t>
            </a:r>
            <a:endParaRPr lang="en-US" sz="1300" dirty="0"/>
          </a:p>
        </p:txBody>
      </p:sp>
      <p:sp>
        <p:nvSpPr>
          <p:cNvPr id="7" name="Shape 5"/>
          <p:cNvSpPr/>
          <p:nvPr/>
        </p:nvSpPr>
        <p:spPr>
          <a:xfrm>
            <a:off x="4434840" y="1979676"/>
            <a:ext cx="1874520" cy="640080"/>
          </a:xfrm>
          <a:prstGeom prst="roundRect">
            <a:avLst>
              <a:gd name="adj" fmla="val 8571"/>
            </a:avLst>
          </a:prstGeom>
          <a:solidFill>
            <a:srgbClr val="1B1F3B"/>
          </a:solidFill>
          <a:ln/>
        </p:spPr>
        <p:txBody>
          <a:bodyPr/>
          <a:lstStyle/>
          <a:p>
            <a:endParaRPr lang="el-GR"/>
          </a:p>
        </p:txBody>
      </p:sp>
      <p:sp>
        <p:nvSpPr>
          <p:cNvPr id="8" name="Text 6"/>
          <p:cNvSpPr txBox="1"/>
          <p:nvPr/>
        </p:nvSpPr>
        <p:spPr>
          <a:xfrm>
            <a:off x="4434840" y="1979676"/>
            <a:ext cx="1874520" cy="640080"/>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all annotators</a:t>
            </a:r>
            <a:endParaRPr lang="en-US" sz="1100" dirty="0"/>
          </a:p>
        </p:txBody>
      </p:sp>
      <p:sp>
        <p:nvSpPr>
          <p:cNvPr id="9" name="Shape 7"/>
          <p:cNvSpPr/>
          <p:nvPr/>
        </p:nvSpPr>
        <p:spPr>
          <a:xfrm flipH="1">
            <a:off x="2811780" y="2619756"/>
            <a:ext cx="2560320" cy="457200"/>
          </a:xfrm>
          <a:prstGeom prst="line">
            <a:avLst/>
          </a:prstGeom>
          <a:noFill/>
          <a:ln w="19050">
            <a:solidFill>
              <a:srgbClr val="DDE1EE"/>
            </a:solidFill>
            <a:prstDash val="solid"/>
          </a:ln>
        </p:spPr>
        <p:txBody>
          <a:bodyPr/>
          <a:lstStyle/>
          <a:p>
            <a:endParaRPr lang="el-GR"/>
          </a:p>
        </p:txBody>
      </p:sp>
      <p:sp>
        <p:nvSpPr>
          <p:cNvPr id="10" name="Shape 8"/>
          <p:cNvSpPr/>
          <p:nvPr/>
        </p:nvSpPr>
        <p:spPr>
          <a:xfrm>
            <a:off x="5372100" y="2619756"/>
            <a:ext cx="2011680" cy="457200"/>
          </a:xfrm>
          <a:prstGeom prst="line">
            <a:avLst/>
          </a:prstGeom>
          <a:noFill/>
          <a:ln w="19050">
            <a:solidFill>
              <a:srgbClr val="DDE1EE"/>
            </a:solidFill>
            <a:prstDash val="solid"/>
          </a:ln>
        </p:spPr>
        <p:txBody>
          <a:bodyPr/>
          <a:lstStyle/>
          <a:p>
            <a:endParaRPr lang="el-GR"/>
          </a:p>
        </p:txBody>
      </p:sp>
      <p:sp>
        <p:nvSpPr>
          <p:cNvPr id="11" name="Text 9"/>
          <p:cNvSpPr txBox="1"/>
          <p:nvPr/>
        </p:nvSpPr>
        <p:spPr>
          <a:xfrm>
            <a:off x="4366260" y="2692908"/>
            <a:ext cx="2011680" cy="274320"/>
          </a:xfrm>
          <a:prstGeom prst="rect">
            <a:avLst/>
          </a:prstGeom>
          <a:noFill/>
          <a:ln/>
        </p:spPr>
        <p:txBody>
          <a:bodyPr wrap="square" lIns="0" tIns="0" rIns="0" bIns="0" rtlCol="0" anchor="ctr"/>
          <a:lstStyle/>
          <a:p>
            <a:pPr marL="0" indent="0" algn="ctr">
              <a:buNone/>
            </a:pPr>
            <a:r>
              <a:rPr lang="en-US" sz="1050" i="1" dirty="0">
                <a:solidFill>
                  <a:srgbClr val="6B7280"/>
                </a:solidFill>
                <a:latin typeface="Calibri" pitchFamily="34" charset="0"/>
                <a:ea typeface="Calibri" pitchFamily="34" charset="-122"/>
                <a:cs typeface="Calibri" pitchFamily="34" charset="-120"/>
              </a:rPr>
              <a:t>split: gender</a:t>
            </a:r>
            <a:endParaRPr lang="en-US" sz="1050" dirty="0"/>
          </a:p>
        </p:txBody>
      </p:sp>
      <p:sp>
        <p:nvSpPr>
          <p:cNvPr id="12" name="Shape 10"/>
          <p:cNvSpPr/>
          <p:nvPr/>
        </p:nvSpPr>
        <p:spPr>
          <a:xfrm>
            <a:off x="1874520" y="3076956"/>
            <a:ext cx="1874520" cy="640080"/>
          </a:xfrm>
          <a:prstGeom prst="roundRect">
            <a:avLst>
              <a:gd name="adj" fmla="val 8571"/>
            </a:avLst>
          </a:prstGeom>
          <a:solidFill>
            <a:srgbClr val="2F6FED"/>
          </a:solidFill>
          <a:ln/>
        </p:spPr>
        <p:txBody>
          <a:bodyPr/>
          <a:lstStyle/>
          <a:p>
            <a:endParaRPr lang="el-GR"/>
          </a:p>
        </p:txBody>
      </p:sp>
      <p:sp>
        <p:nvSpPr>
          <p:cNvPr id="13" name="Text 11"/>
          <p:cNvSpPr txBox="1"/>
          <p:nvPr/>
        </p:nvSpPr>
        <p:spPr>
          <a:xfrm>
            <a:off x="1874520" y="3076956"/>
            <a:ext cx="1874520" cy="640080"/>
          </a:xfrm>
          <a:prstGeom prst="rect">
            <a:avLst/>
          </a:prstGeom>
          <a:solidFill>
            <a:schemeClr val="accent2"/>
          </a:solid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women</a:t>
            </a:r>
            <a:endParaRPr lang="en-US" sz="1100" dirty="0"/>
          </a:p>
          <a:p>
            <a:pPr marL="0" indent="0" algn="ctr">
              <a:buNone/>
            </a:pPr>
            <a:r>
              <a:rPr lang="en-US" sz="1100" dirty="0">
                <a:solidFill>
                  <a:srgbClr val="FFFFFF"/>
                </a:solidFill>
                <a:latin typeface="Calibri" pitchFamily="34" charset="0"/>
                <a:ea typeface="Calibri" pitchFamily="34" charset="-122"/>
                <a:cs typeface="Calibri" pitchFamily="34" charset="-120"/>
              </a:rPr>
              <a:t>(leaf — civil)</a:t>
            </a:r>
            <a:endParaRPr lang="en-US" sz="1100" dirty="0"/>
          </a:p>
        </p:txBody>
      </p:sp>
      <p:sp>
        <p:nvSpPr>
          <p:cNvPr id="14" name="Shape 12"/>
          <p:cNvSpPr/>
          <p:nvPr/>
        </p:nvSpPr>
        <p:spPr>
          <a:xfrm>
            <a:off x="6446520" y="3076956"/>
            <a:ext cx="1874520" cy="640080"/>
          </a:xfrm>
          <a:prstGeom prst="roundRect">
            <a:avLst>
              <a:gd name="adj" fmla="val 8571"/>
            </a:avLst>
          </a:prstGeom>
          <a:solidFill>
            <a:srgbClr val="F1F3FA"/>
          </a:solidFill>
          <a:ln w="12700">
            <a:solidFill>
              <a:srgbClr val="DDE1EE"/>
            </a:solidFill>
            <a:prstDash val="solid"/>
          </a:ln>
        </p:spPr>
        <p:txBody>
          <a:bodyPr/>
          <a:lstStyle/>
          <a:p>
            <a:endParaRPr lang="el-GR"/>
          </a:p>
        </p:txBody>
      </p:sp>
      <p:sp>
        <p:nvSpPr>
          <p:cNvPr id="15" name="Text 13"/>
          <p:cNvSpPr txBox="1"/>
          <p:nvPr/>
        </p:nvSpPr>
        <p:spPr>
          <a:xfrm>
            <a:off x="6446520" y="3076956"/>
            <a:ext cx="1874520" cy="640080"/>
          </a:xfrm>
          <a:prstGeom prst="rect">
            <a:avLst/>
          </a:prstGeom>
          <a:noFill/>
          <a:ln/>
        </p:spPr>
        <p:txBody>
          <a:bodyPr wrap="square" lIns="0" tIns="0" rIns="0" bIns="0" rtlCol="0" anchor="ctr"/>
          <a:lstStyle/>
          <a:p>
            <a:pPr marL="0" indent="0" algn="ctr">
              <a:buNone/>
            </a:pPr>
            <a:r>
              <a:rPr lang="en-US" sz="1100" dirty="0">
                <a:solidFill>
                  <a:srgbClr val="1B1F3B"/>
                </a:solidFill>
                <a:latin typeface="Calibri" pitchFamily="34" charset="0"/>
                <a:ea typeface="Calibri" pitchFamily="34" charset="-122"/>
                <a:cs typeface="Calibri" pitchFamily="34" charset="-120"/>
              </a:rPr>
              <a:t>men</a:t>
            </a:r>
            <a:endParaRPr lang="en-US" sz="1100" dirty="0"/>
          </a:p>
          <a:p>
            <a:pPr marL="0" indent="0" algn="ctr">
              <a:buNone/>
            </a:pPr>
            <a:r>
              <a:rPr lang="en-US" sz="1100" dirty="0">
                <a:solidFill>
                  <a:srgbClr val="1B1F3B"/>
                </a:solidFill>
                <a:latin typeface="Calibri" pitchFamily="34" charset="0"/>
                <a:ea typeface="Calibri" pitchFamily="34" charset="-122"/>
                <a:cs typeface="Calibri" pitchFamily="34" charset="-120"/>
              </a:rPr>
              <a:t>(still polarized)</a:t>
            </a:r>
            <a:endParaRPr lang="en-US" sz="1100" dirty="0"/>
          </a:p>
        </p:txBody>
      </p:sp>
      <p:sp>
        <p:nvSpPr>
          <p:cNvPr id="16" name="Shape 14"/>
          <p:cNvSpPr/>
          <p:nvPr/>
        </p:nvSpPr>
        <p:spPr>
          <a:xfrm flipH="1">
            <a:off x="6195060" y="3717036"/>
            <a:ext cx="1188720" cy="365760"/>
          </a:xfrm>
          <a:prstGeom prst="line">
            <a:avLst/>
          </a:prstGeom>
          <a:noFill/>
          <a:ln w="19050">
            <a:solidFill>
              <a:srgbClr val="DDE1EE"/>
            </a:solidFill>
            <a:prstDash val="solid"/>
          </a:ln>
        </p:spPr>
        <p:txBody>
          <a:bodyPr/>
          <a:lstStyle/>
          <a:p>
            <a:endParaRPr lang="el-GR"/>
          </a:p>
        </p:txBody>
      </p:sp>
      <p:sp>
        <p:nvSpPr>
          <p:cNvPr id="17" name="Shape 15"/>
          <p:cNvSpPr/>
          <p:nvPr/>
        </p:nvSpPr>
        <p:spPr>
          <a:xfrm>
            <a:off x="7383780" y="3717036"/>
            <a:ext cx="1463040" cy="365760"/>
          </a:xfrm>
          <a:prstGeom prst="line">
            <a:avLst/>
          </a:prstGeom>
          <a:noFill/>
          <a:ln w="19050">
            <a:solidFill>
              <a:srgbClr val="DDE1EE"/>
            </a:solidFill>
            <a:prstDash val="solid"/>
          </a:ln>
        </p:spPr>
        <p:txBody>
          <a:bodyPr/>
          <a:lstStyle/>
          <a:p>
            <a:endParaRPr lang="el-GR"/>
          </a:p>
        </p:txBody>
      </p:sp>
      <p:sp>
        <p:nvSpPr>
          <p:cNvPr id="18" name="Text 16"/>
          <p:cNvSpPr txBox="1"/>
          <p:nvPr/>
        </p:nvSpPr>
        <p:spPr>
          <a:xfrm>
            <a:off x="6880860" y="3790188"/>
            <a:ext cx="2011680" cy="274320"/>
          </a:xfrm>
          <a:prstGeom prst="rect">
            <a:avLst/>
          </a:prstGeom>
          <a:noFill/>
          <a:ln/>
        </p:spPr>
        <p:txBody>
          <a:bodyPr wrap="square" lIns="0" tIns="0" rIns="0" bIns="0" rtlCol="0" anchor="ctr"/>
          <a:lstStyle/>
          <a:p>
            <a:pPr marL="0" indent="0" algn="ctr">
              <a:buNone/>
            </a:pPr>
            <a:r>
              <a:rPr lang="en-US" sz="1050" i="1" dirty="0">
                <a:solidFill>
                  <a:srgbClr val="6B7280"/>
                </a:solidFill>
                <a:latin typeface="Calibri" pitchFamily="34" charset="0"/>
                <a:ea typeface="Calibri" pitchFamily="34" charset="-122"/>
                <a:cs typeface="Calibri" pitchFamily="34" charset="-120"/>
              </a:rPr>
              <a:t>split: orientation</a:t>
            </a:r>
            <a:endParaRPr lang="en-US" sz="1050" dirty="0"/>
          </a:p>
        </p:txBody>
      </p:sp>
      <p:sp>
        <p:nvSpPr>
          <p:cNvPr id="19" name="Shape 17"/>
          <p:cNvSpPr/>
          <p:nvPr/>
        </p:nvSpPr>
        <p:spPr>
          <a:xfrm>
            <a:off x="5257800" y="4082796"/>
            <a:ext cx="1874520" cy="640080"/>
          </a:xfrm>
          <a:prstGeom prst="roundRect">
            <a:avLst>
              <a:gd name="adj" fmla="val 8571"/>
            </a:avLst>
          </a:prstGeom>
          <a:solidFill>
            <a:srgbClr val="F1F3FA"/>
          </a:solidFill>
          <a:ln w="12700">
            <a:solidFill>
              <a:srgbClr val="DDE1EE"/>
            </a:solidFill>
            <a:prstDash val="solid"/>
          </a:ln>
        </p:spPr>
        <p:txBody>
          <a:bodyPr/>
          <a:lstStyle/>
          <a:p>
            <a:endParaRPr lang="el-GR"/>
          </a:p>
        </p:txBody>
      </p:sp>
      <p:sp>
        <p:nvSpPr>
          <p:cNvPr id="20" name="Text 18"/>
          <p:cNvSpPr txBox="1"/>
          <p:nvPr/>
        </p:nvSpPr>
        <p:spPr>
          <a:xfrm>
            <a:off x="5257800" y="4082796"/>
            <a:ext cx="1874520" cy="640080"/>
          </a:xfrm>
          <a:prstGeom prst="rect">
            <a:avLst/>
          </a:prstGeom>
          <a:noFill/>
          <a:ln/>
        </p:spPr>
        <p:txBody>
          <a:bodyPr wrap="square" lIns="0" tIns="0" rIns="0" bIns="0" rtlCol="0" anchor="ctr"/>
          <a:lstStyle/>
          <a:p>
            <a:pPr marL="0" indent="0" algn="ctr">
              <a:buNone/>
            </a:pPr>
            <a:r>
              <a:rPr lang="en-US" sz="1100" dirty="0">
                <a:solidFill>
                  <a:srgbClr val="1B1F3B"/>
                </a:solidFill>
                <a:latin typeface="Calibri" pitchFamily="34" charset="0"/>
                <a:ea typeface="Calibri" pitchFamily="34" charset="-122"/>
                <a:cs typeface="Calibri" pitchFamily="34" charset="-120"/>
              </a:rPr>
              <a:t>LGBTQ+</a:t>
            </a:r>
            <a:endParaRPr lang="en-US" sz="1100" dirty="0"/>
          </a:p>
          <a:p>
            <a:pPr marL="0" indent="0" algn="ctr">
              <a:buNone/>
            </a:pPr>
            <a:r>
              <a:rPr lang="en-US" sz="1100" dirty="0">
                <a:solidFill>
                  <a:srgbClr val="1B1F3B"/>
                </a:solidFill>
                <a:latin typeface="Calibri" pitchFamily="34" charset="0"/>
                <a:ea typeface="Calibri" pitchFamily="34" charset="-122"/>
                <a:cs typeface="Calibri" pitchFamily="34" charset="-120"/>
              </a:rPr>
              <a:t>(still polarized)</a:t>
            </a:r>
            <a:endParaRPr lang="en-US" sz="1100" dirty="0"/>
          </a:p>
        </p:txBody>
      </p:sp>
      <p:sp>
        <p:nvSpPr>
          <p:cNvPr id="21" name="Shape 19"/>
          <p:cNvSpPr/>
          <p:nvPr/>
        </p:nvSpPr>
        <p:spPr>
          <a:xfrm>
            <a:off x="7909560" y="4082796"/>
            <a:ext cx="1874520" cy="640080"/>
          </a:xfrm>
          <a:prstGeom prst="roundRect">
            <a:avLst>
              <a:gd name="adj" fmla="val 8571"/>
            </a:avLst>
          </a:prstGeom>
          <a:solidFill>
            <a:srgbClr val="E4572E"/>
          </a:solidFill>
          <a:ln/>
        </p:spPr>
        <p:txBody>
          <a:bodyPr/>
          <a:lstStyle/>
          <a:p>
            <a:endParaRPr lang="el-GR"/>
          </a:p>
        </p:txBody>
      </p:sp>
      <p:sp>
        <p:nvSpPr>
          <p:cNvPr id="22" name="Text 20"/>
          <p:cNvSpPr txBox="1"/>
          <p:nvPr/>
        </p:nvSpPr>
        <p:spPr>
          <a:xfrm>
            <a:off x="7909560" y="4082796"/>
            <a:ext cx="1874520" cy="640080"/>
          </a:xfrm>
          <a:prstGeom prst="rect">
            <a:avLst/>
          </a:prstGeom>
          <a:solidFill>
            <a:schemeClr val="accent2"/>
          </a:solid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non-LGBTQ+</a:t>
            </a:r>
            <a:endParaRPr lang="en-US" sz="1100" dirty="0"/>
          </a:p>
          <a:p>
            <a:pPr marL="0" indent="0" algn="ctr">
              <a:buNone/>
            </a:pPr>
            <a:r>
              <a:rPr lang="en-US" sz="1100" dirty="0">
                <a:solidFill>
                  <a:srgbClr val="FFFFFF"/>
                </a:solidFill>
                <a:latin typeface="Calibri" pitchFamily="34" charset="0"/>
                <a:ea typeface="Calibri" pitchFamily="34" charset="-122"/>
                <a:cs typeface="Calibri" pitchFamily="34" charset="-120"/>
              </a:rPr>
              <a:t>(leaf — civil)</a:t>
            </a:r>
            <a:endParaRPr lang="en-US" sz="1100" dirty="0"/>
          </a:p>
        </p:txBody>
      </p:sp>
      <p:sp>
        <p:nvSpPr>
          <p:cNvPr id="23" name="Shape 21"/>
          <p:cNvSpPr/>
          <p:nvPr/>
        </p:nvSpPr>
        <p:spPr>
          <a:xfrm flipH="1">
            <a:off x="4777740" y="4722876"/>
            <a:ext cx="1417320" cy="411480"/>
          </a:xfrm>
          <a:prstGeom prst="line">
            <a:avLst/>
          </a:prstGeom>
          <a:noFill/>
          <a:ln w="19050">
            <a:solidFill>
              <a:srgbClr val="DDE1EE"/>
            </a:solidFill>
            <a:prstDash val="solid"/>
          </a:ln>
        </p:spPr>
        <p:txBody>
          <a:bodyPr/>
          <a:lstStyle/>
          <a:p>
            <a:endParaRPr lang="el-GR"/>
          </a:p>
        </p:txBody>
      </p:sp>
      <p:sp>
        <p:nvSpPr>
          <p:cNvPr id="24" name="Shape 22"/>
          <p:cNvSpPr/>
          <p:nvPr/>
        </p:nvSpPr>
        <p:spPr>
          <a:xfrm>
            <a:off x="6195060" y="4722876"/>
            <a:ext cx="0" cy="411480"/>
          </a:xfrm>
          <a:prstGeom prst="line">
            <a:avLst/>
          </a:prstGeom>
          <a:noFill/>
          <a:ln w="19050">
            <a:solidFill>
              <a:srgbClr val="DDE1EE"/>
            </a:solidFill>
            <a:prstDash val="solid"/>
          </a:ln>
        </p:spPr>
        <p:txBody>
          <a:bodyPr/>
          <a:lstStyle/>
          <a:p>
            <a:endParaRPr lang="el-GR"/>
          </a:p>
        </p:txBody>
      </p:sp>
      <p:sp>
        <p:nvSpPr>
          <p:cNvPr id="25" name="Shape 23"/>
          <p:cNvSpPr/>
          <p:nvPr/>
        </p:nvSpPr>
        <p:spPr>
          <a:xfrm>
            <a:off x="6195060" y="4722876"/>
            <a:ext cx="1417320" cy="411480"/>
          </a:xfrm>
          <a:prstGeom prst="line">
            <a:avLst/>
          </a:prstGeom>
          <a:noFill/>
          <a:ln w="19050">
            <a:solidFill>
              <a:srgbClr val="DDE1EE"/>
            </a:solidFill>
            <a:prstDash val="solid"/>
          </a:ln>
        </p:spPr>
        <p:txBody>
          <a:bodyPr/>
          <a:lstStyle/>
          <a:p>
            <a:endParaRPr lang="el-GR"/>
          </a:p>
        </p:txBody>
      </p:sp>
      <p:sp>
        <p:nvSpPr>
          <p:cNvPr id="26" name="Text 24"/>
          <p:cNvSpPr txBox="1"/>
          <p:nvPr/>
        </p:nvSpPr>
        <p:spPr>
          <a:xfrm>
            <a:off x="5097780" y="4796028"/>
            <a:ext cx="2011680" cy="274320"/>
          </a:xfrm>
          <a:prstGeom prst="rect">
            <a:avLst/>
          </a:prstGeom>
          <a:noFill/>
          <a:ln/>
        </p:spPr>
        <p:txBody>
          <a:bodyPr wrap="square" lIns="0" tIns="0" rIns="0" bIns="0" rtlCol="0" anchor="ctr"/>
          <a:lstStyle/>
          <a:p>
            <a:pPr marL="0" indent="0" algn="ctr">
              <a:buNone/>
            </a:pPr>
            <a:r>
              <a:rPr lang="en-US" sz="1050" i="1" dirty="0">
                <a:solidFill>
                  <a:srgbClr val="6B7280"/>
                </a:solidFill>
                <a:latin typeface="Calibri" pitchFamily="34" charset="0"/>
                <a:ea typeface="Calibri" pitchFamily="34" charset="-122"/>
                <a:cs typeface="Calibri" pitchFamily="34" charset="-120"/>
              </a:rPr>
              <a:t>split: politics</a:t>
            </a:r>
            <a:endParaRPr lang="en-US" sz="1050" dirty="0"/>
          </a:p>
        </p:txBody>
      </p:sp>
      <p:sp>
        <p:nvSpPr>
          <p:cNvPr id="27" name="Shape 25"/>
          <p:cNvSpPr/>
          <p:nvPr/>
        </p:nvSpPr>
        <p:spPr>
          <a:xfrm>
            <a:off x="4206240" y="5134356"/>
            <a:ext cx="1143000" cy="548640"/>
          </a:xfrm>
          <a:prstGeom prst="roundRect">
            <a:avLst>
              <a:gd name="adj" fmla="val 10000"/>
            </a:avLst>
          </a:prstGeom>
          <a:solidFill>
            <a:srgbClr val="2F6FED"/>
          </a:solidFill>
          <a:ln/>
        </p:spPr>
        <p:txBody>
          <a:bodyPr/>
          <a:lstStyle/>
          <a:p>
            <a:endParaRPr lang="el-GR"/>
          </a:p>
        </p:txBody>
      </p:sp>
      <p:sp>
        <p:nvSpPr>
          <p:cNvPr id="28" name="Text 26"/>
          <p:cNvSpPr txBox="1"/>
          <p:nvPr/>
        </p:nvSpPr>
        <p:spPr>
          <a:xfrm>
            <a:off x="4206240" y="5134356"/>
            <a:ext cx="1143000" cy="548640"/>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left</a:t>
            </a:r>
            <a:endParaRPr lang="en-US" sz="1100" dirty="0"/>
          </a:p>
        </p:txBody>
      </p:sp>
      <p:sp>
        <p:nvSpPr>
          <p:cNvPr id="29" name="Shape 27"/>
          <p:cNvSpPr/>
          <p:nvPr/>
        </p:nvSpPr>
        <p:spPr>
          <a:xfrm>
            <a:off x="5623560" y="5134356"/>
            <a:ext cx="1143000" cy="548640"/>
          </a:xfrm>
          <a:prstGeom prst="roundRect">
            <a:avLst>
              <a:gd name="adj" fmla="val 10000"/>
            </a:avLst>
          </a:prstGeom>
          <a:solidFill>
            <a:srgbClr val="2F6FED"/>
          </a:solidFill>
          <a:ln/>
        </p:spPr>
        <p:txBody>
          <a:bodyPr/>
          <a:lstStyle/>
          <a:p>
            <a:endParaRPr lang="el-GR"/>
          </a:p>
        </p:txBody>
      </p:sp>
      <p:sp>
        <p:nvSpPr>
          <p:cNvPr id="30" name="Text 28"/>
          <p:cNvSpPr txBox="1"/>
          <p:nvPr/>
        </p:nvSpPr>
        <p:spPr>
          <a:xfrm>
            <a:off x="5623560" y="5134356"/>
            <a:ext cx="1143000" cy="548640"/>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center</a:t>
            </a:r>
            <a:endParaRPr lang="en-US" sz="1100" dirty="0"/>
          </a:p>
        </p:txBody>
      </p:sp>
      <p:sp>
        <p:nvSpPr>
          <p:cNvPr id="31" name="Shape 29"/>
          <p:cNvSpPr/>
          <p:nvPr/>
        </p:nvSpPr>
        <p:spPr>
          <a:xfrm>
            <a:off x="7040880" y="5134356"/>
            <a:ext cx="1143000" cy="548640"/>
          </a:xfrm>
          <a:prstGeom prst="roundRect">
            <a:avLst>
              <a:gd name="adj" fmla="val 10000"/>
            </a:avLst>
          </a:prstGeom>
          <a:solidFill>
            <a:srgbClr val="E4572E"/>
          </a:solidFill>
          <a:ln/>
        </p:spPr>
        <p:txBody>
          <a:bodyPr/>
          <a:lstStyle/>
          <a:p>
            <a:endParaRPr lang="el-GR"/>
          </a:p>
        </p:txBody>
      </p:sp>
      <p:sp>
        <p:nvSpPr>
          <p:cNvPr id="32" name="Text 30"/>
          <p:cNvSpPr txBox="1"/>
          <p:nvPr/>
        </p:nvSpPr>
        <p:spPr>
          <a:xfrm>
            <a:off x="7040880" y="5134356"/>
            <a:ext cx="1143000" cy="548640"/>
          </a:xfrm>
          <a:prstGeom prst="rect">
            <a:avLst/>
          </a:prstGeom>
          <a:solidFill>
            <a:schemeClr val="accent2"/>
          </a:solid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right</a:t>
            </a:r>
            <a:endParaRPr lang="en-US" sz="1100" dirty="0"/>
          </a:p>
        </p:txBody>
      </p:sp>
      <p:sp>
        <p:nvSpPr>
          <p:cNvPr id="33" name="Text 31"/>
          <p:cNvSpPr txBox="1"/>
          <p:nvPr/>
        </p:nvSpPr>
        <p:spPr>
          <a:xfrm>
            <a:off x="457200" y="6172200"/>
            <a:ext cx="11247120" cy="457200"/>
          </a:xfrm>
          <a:prstGeom prst="rect">
            <a:avLst/>
          </a:prstGeom>
          <a:noFill/>
          <a:ln/>
        </p:spPr>
        <p:txBody>
          <a:bodyPr wrap="square" lIns="0" tIns="0" rIns="0" bIns="0" rtlCol="0" anchor="ctr"/>
          <a:lstStyle/>
          <a:p>
            <a:pPr marL="0" indent="0">
              <a:buNone/>
            </a:pPr>
            <a:r>
              <a:rPr lang="en-US" sz="1150" i="1" dirty="0">
                <a:solidFill>
                  <a:srgbClr val="6B7280"/>
                </a:solidFill>
                <a:latin typeface="Calibri" pitchFamily="34" charset="0"/>
                <a:ea typeface="Calibri" pitchFamily="34" charset="-122"/>
                <a:cs typeface="Calibri" pitchFamily="34" charset="-120"/>
              </a:rPr>
              <a:t>Each split is chosen to explain the polarization that remains; used dimensions drop out along that branch; recursion stops when no meaningful separation is left.</a:t>
            </a:r>
            <a:endParaRPr lang="en-US" sz="1150" dirty="0"/>
          </a:p>
        </p:txBody>
      </p:sp>
      <p:sp>
        <p:nvSpPr>
          <p:cNvPr id="34" name="Text 32"/>
          <p:cNvSpPr txBox="1"/>
          <p:nvPr/>
        </p:nvSpPr>
        <p:spPr>
          <a:xfrm>
            <a:off x="11521440" y="6473952"/>
            <a:ext cx="548640" cy="274320"/>
          </a:xfrm>
          <a:prstGeom prst="rect">
            <a:avLst/>
          </a:prstGeom>
          <a:noFill/>
          <a:ln/>
        </p:spPr>
        <p:txBody>
          <a:bodyPr wrap="square" lIns="0" tIns="0" rIns="0" bIns="0" rtlCol="0" anchor="ctr"/>
          <a:lstStyle/>
          <a:p>
            <a:pPr marL="0" indent="0" algn="r">
              <a:buNone/>
            </a:pPr>
            <a:r>
              <a:rPr lang="en-US" sz="1000" dirty="0">
                <a:solidFill>
                  <a:srgbClr val="B7BCD0"/>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201168" cy="201168"/>
          </a:xfrm>
          <a:prstGeom prst="pie">
            <a:avLst>
              <a:gd name="adj1" fmla="val 16200000"/>
              <a:gd name="adj2" fmla="val 5400000"/>
            </a:avLst>
          </a:prstGeom>
          <a:solidFill>
            <a:srgbClr val="E4572E"/>
          </a:solidFill>
          <a:ln/>
        </p:spPr>
        <p:txBody>
          <a:bodyPr/>
          <a:lstStyle/>
          <a:p>
            <a:endParaRPr lang="el-GR"/>
          </a:p>
        </p:txBody>
      </p:sp>
      <p:sp>
        <p:nvSpPr>
          <p:cNvPr id="3" name="Shape 1"/>
          <p:cNvSpPr/>
          <p:nvPr/>
        </p:nvSpPr>
        <p:spPr>
          <a:xfrm>
            <a:off x="457200" y="457200"/>
            <a:ext cx="201168" cy="201168"/>
          </a:xfrm>
          <a:prstGeom prst="pie">
            <a:avLst>
              <a:gd name="adj1" fmla="val 5400000"/>
              <a:gd name="adj2" fmla="val 16200000"/>
            </a:avLst>
          </a:prstGeom>
          <a:solidFill>
            <a:srgbClr val="2F6FED"/>
          </a:solidFill>
          <a:ln/>
        </p:spPr>
        <p:txBody>
          <a:bodyPr/>
          <a:lstStyle/>
          <a:p>
            <a:endParaRPr lang="el-GR"/>
          </a:p>
        </p:txBody>
      </p:sp>
      <p:sp>
        <p:nvSpPr>
          <p:cNvPr id="4" name="Text 2"/>
          <p:cNvSpPr txBox="1"/>
          <p:nvPr/>
        </p:nvSpPr>
        <p:spPr>
          <a:xfrm>
            <a:off x="777240" y="384048"/>
            <a:ext cx="7315200" cy="320040"/>
          </a:xfrm>
          <a:prstGeom prst="rect">
            <a:avLst/>
          </a:prstGeom>
          <a:noFill/>
          <a:ln/>
        </p:spPr>
        <p:txBody>
          <a:bodyPr wrap="square" lIns="0" tIns="0" rIns="0" bIns="0" rtlCol="0" anchor="ctr"/>
          <a:lstStyle/>
          <a:p>
            <a:pPr marL="0" indent="0">
              <a:buNone/>
            </a:pPr>
            <a:r>
              <a:rPr lang="en-US" sz="1100" b="1" kern="0" spc="200" dirty="0">
                <a:solidFill>
                  <a:srgbClr val="6B7280"/>
                </a:solidFill>
                <a:latin typeface="Calibri" pitchFamily="34" charset="0"/>
                <a:ea typeface="Calibri" pitchFamily="34" charset="-122"/>
                <a:cs typeface="Calibri" pitchFamily="34" charset="-120"/>
              </a:rPr>
              <a:t>RELATED WORK</a:t>
            </a:r>
            <a:endParaRPr lang="en-US" sz="1100" dirty="0"/>
          </a:p>
        </p:txBody>
      </p:sp>
      <p:sp>
        <p:nvSpPr>
          <p:cNvPr id="5" name="Text 3"/>
          <p:cNvSpPr txBox="1"/>
          <p:nvPr/>
        </p:nvSpPr>
        <p:spPr>
          <a:xfrm>
            <a:off x="457200" y="713232"/>
            <a:ext cx="11247120" cy="777240"/>
          </a:xfrm>
          <a:prstGeom prst="rect">
            <a:avLst/>
          </a:prstGeom>
          <a:noFill/>
          <a:ln/>
        </p:spPr>
        <p:txBody>
          <a:bodyPr wrap="square" lIns="0" tIns="0" rIns="0" bIns="0" rtlCol="0" anchor="ctr"/>
          <a:lstStyle/>
          <a:p>
            <a:pPr marL="0" indent="0">
              <a:buNone/>
            </a:pPr>
            <a:r>
              <a:rPr lang="en-US" sz="3000" b="1" dirty="0">
                <a:solidFill>
                  <a:srgbClr val="1B1F3B"/>
                </a:solidFill>
                <a:latin typeface="Cambria" pitchFamily="34" charset="0"/>
                <a:ea typeface="Cambria" pitchFamily="34" charset="-122"/>
                <a:cs typeface="Cambria" pitchFamily="34" charset="-120"/>
              </a:rPr>
              <a:t>Prior methods need a hypothesis first</a:t>
            </a:r>
            <a:endParaRPr lang="en-US" sz="3000" dirty="0"/>
          </a:p>
        </p:txBody>
      </p:sp>
      <p:sp>
        <p:nvSpPr>
          <p:cNvPr id="6" name="Shape 4"/>
          <p:cNvSpPr/>
          <p:nvPr/>
        </p:nvSpPr>
        <p:spPr>
          <a:xfrm>
            <a:off x="457200" y="1874520"/>
            <a:ext cx="5349240" cy="4023360"/>
          </a:xfrm>
          <a:prstGeom prst="roundRect">
            <a:avLst>
              <a:gd name="adj" fmla="val 1818"/>
            </a:avLst>
          </a:prstGeom>
          <a:solidFill>
            <a:srgbClr val="F1F3FA"/>
          </a:solidFill>
          <a:ln/>
        </p:spPr>
        <p:txBody>
          <a:bodyPr/>
          <a:lstStyle/>
          <a:p>
            <a:endParaRPr lang="el-GR"/>
          </a:p>
        </p:txBody>
      </p:sp>
      <p:sp>
        <p:nvSpPr>
          <p:cNvPr id="7" name="Text 5"/>
          <p:cNvSpPr txBox="1"/>
          <p:nvPr/>
        </p:nvSpPr>
        <p:spPr>
          <a:xfrm>
            <a:off x="777240" y="2103120"/>
            <a:ext cx="4754880" cy="457200"/>
          </a:xfrm>
          <a:prstGeom prst="rect">
            <a:avLst/>
          </a:prstGeom>
          <a:noFill/>
          <a:ln/>
        </p:spPr>
        <p:txBody>
          <a:bodyPr wrap="square" lIns="0" tIns="0" rIns="0" bIns="0" rtlCol="0" anchor="ctr"/>
          <a:lstStyle/>
          <a:p>
            <a:pPr marL="0" indent="0" algn="ctr">
              <a:buNone/>
            </a:pPr>
            <a:r>
              <a:rPr lang="en-US" sz="1600" b="1" dirty="0">
                <a:solidFill>
                  <a:srgbClr val="1B1F3B"/>
                </a:solidFill>
                <a:latin typeface="Cambria" pitchFamily="34" charset="0"/>
                <a:ea typeface="Cambria" pitchFamily="34" charset="-122"/>
                <a:cs typeface="Cambria" pitchFamily="34" charset="-120"/>
              </a:rPr>
              <a:t>Prior Methods</a:t>
            </a:r>
            <a:endParaRPr lang="en-US" sz="1600" dirty="0"/>
          </a:p>
        </p:txBody>
      </p:sp>
      <p:sp>
        <p:nvSpPr>
          <p:cNvPr id="8" name="Text 6"/>
          <p:cNvSpPr txBox="1"/>
          <p:nvPr/>
        </p:nvSpPr>
        <p:spPr>
          <a:xfrm>
            <a:off x="777240" y="2697480"/>
            <a:ext cx="4754880" cy="301752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1B1F3B"/>
                </a:solidFill>
                <a:latin typeface="Calibri" pitchFamily="34" charset="0"/>
                <a:ea typeface="Calibri" pitchFamily="34" charset="-122"/>
                <a:cs typeface="Calibri" pitchFamily="34" charset="-120"/>
              </a:rPr>
              <a:t>Partitions annotators along specified Socio-Demographic dimensions </a:t>
            </a:r>
            <a:endParaRPr lang="en-US" sz="1350" dirty="0"/>
          </a:p>
          <a:p>
            <a:pPr marL="342900" indent="-342900">
              <a:spcAft>
                <a:spcPts val="1000"/>
              </a:spcAft>
              <a:buSzPct val="100000"/>
              <a:buChar char="✗"/>
            </a:pPr>
            <a:r>
              <a:rPr lang="en-US" sz="1350" dirty="0">
                <a:solidFill>
                  <a:srgbClr val="1B1F3B"/>
                </a:solidFill>
                <a:latin typeface="Calibri" pitchFamily="34" charset="0"/>
                <a:ea typeface="Calibri" pitchFamily="34" charset="-122"/>
                <a:cs typeface="Calibri" pitchFamily="34" charset="-120"/>
              </a:rPr>
              <a:t>Compares subgroup polarization vs. the global distribution</a:t>
            </a:r>
            <a:endParaRPr lang="en-US" sz="1350" dirty="0"/>
          </a:p>
          <a:p>
            <a:pPr marL="342900" indent="-342900">
              <a:spcAft>
                <a:spcPts val="1000"/>
              </a:spcAft>
              <a:buSzPct val="100000"/>
              <a:buChar char="✗"/>
            </a:pPr>
            <a:r>
              <a:rPr lang="en-US" sz="1350" dirty="0">
                <a:solidFill>
                  <a:srgbClr val="1B1F3B"/>
                </a:solidFill>
                <a:latin typeface="Calibri" pitchFamily="34" charset="0"/>
                <a:ea typeface="Calibri" pitchFamily="34" charset="-122"/>
                <a:cs typeface="Calibri" pitchFamily="34" charset="-120"/>
              </a:rPr>
              <a:t>Gives a binary verdict: does this dimension explain the polarization?</a:t>
            </a:r>
            <a:endParaRPr lang="en-US" sz="1350" dirty="0"/>
          </a:p>
          <a:p>
            <a:pPr marL="342900" indent="-342900">
              <a:spcAft>
                <a:spcPts val="1000"/>
              </a:spcAft>
              <a:buSzPct val="100000"/>
              <a:buChar char="✗"/>
            </a:pPr>
            <a:r>
              <a:rPr lang="en-US" sz="1350" dirty="0">
                <a:solidFill>
                  <a:srgbClr val="1B1F3B"/>
                </a:solidFill>
                <a:latin typeface="Calibri" pitchFamily="34" charset="0"/>
                <a:ea typeface="Calibri" pitchFamily="34" charset="-122"/>
                <a:cs typeface="Calibri" pitchFamily="34" charset="-120"/>
              </a:rPr>
              <a:t>Cannot rank dimensions, or reveal how several combine</a:t>
            </a:r>
            <a:endParaRPr lang="en-US" sz="1350" dirty="0"/>
          </a:p>
        </p:txBody>
      </p:sp>
      <p:sp>
        <p:nvSpPr>
          <p:cNvPr id="9" name="Shape 7"/>
          <p:cNvSpPr/>
          <p:nvPr/>
        </p:nvSpPr>
        <p:spPr>
          <a:xfrm>
            <a:off x="6355080" y="1874520"/>
            <a:ext cx="5394960" cy="4023360"/>
          </a:xfrm>
          <a:prstGeom prst="roundRect">
            <a:avLst>
              <a:gd name="adj" fmla="val 1818"/>
            </a:avLst>
          </a:prstGeom>
          <a:solidFill>
            <a:srgbClr val="1B1F3B"/>
          </a:solidFill>
          <a:ln/>
        </p:spPr>
        <p:txBody>
          <a:bodyPr/>
          <a:lstStyle/>
          <a:p>
            <a:endParaRPr lang="el-GR"/>
          </a:p>
        </p:txBody>
      </p:sp>
      <p:sp>
        <p:nvSpPr>
          <p:cNvPr id="10" name="Text 8"/>
          <p:cNvSpPr txBox="1"/>
          <p:nvPr/>
        </p:nvSpPr>
        <p:spPr>
          <a:xfrm>
            <a:off x="6675120" y="2103120"/>
            <a:ext cx="475488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Polarized Trees (our work)</a:t>
            </a:r>
            <a:endParaRPr lang="en-US" sz="1600" dirty="0"/>
          </a:p>
        </p:txBody>
      </p:sp>
      <p:sp>
        <p:nvSpPr>
          <p:cNvPr id="11" name="Text 9"/>
          <p:cNvSpPr txBox="1"/>
          <p:nvPr/>
        </p:nvSpPr>
        <p:spPr>
          <a:xfrm>
            <a:off x="6675120" y="2697480"/>
            <a:ext cx="4846320" cy="301752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FFFFFF"/>
                </a:solidFill>
                <a:latin typeface="Calibri" pitchFamily="34" charset="0"/>
                <a:ea typeface="Calibri" pitchFamily="34" charset="-122"/>
                <a:cs typeface="Calibri" pitchFamily="34" charset="-120"/>
              </a:rPr>
              <a:t>Searches ALL dimensions at every step — no hypothesis required</a:t>
            </a:r>
            <a:endParaRPr lang="en-US" sz="1350" dirty="0"/>
          </a:p>
          <a:p>
            <a:pPr marL="342900" indent="-342900">
              <a:spcAft>
                <a:spcPts val="1000"/>
              </a:spcAft>
              <a:buSzPct val="100000"/>
              <a:buChar char="✓"/>
            </a:pPr>
            <a:r>
              <a:rPr lang="en-US" sz="1350" dirty="0">
                <a:solidFill>
                  <a:srgbClr val="FFFFFF"/>
                </a:solidFill>
                <a:latin typeface="Calibri" pitchFamily="34" charset="0"/>
                <a:ea typeface="Calibri" pitchFamily="34" charset="-122"/>
                <a:cs typeface="Calibri" pitchFamily="34" charset="-120"/>
              </a:rPr>
              <a:t>Recursively conditions on the dimension that best explains remaining polarization</a:t>
            </a:r>
            <a:endParaRPr lang="en-US" sz="1350" dirty="0"/>
          </a:p>
          <a:p>
            <a:pPr marL="342900" indent="-342900">
              <a:spcAft>
                <a:spcPts val="1000"/>
              </a:spcAft>
              <a:buSzPct val="100000"/>
              <a:buChar char="✓"/>
            </a:pPr>
            <a:r>
              <a:rPr lang="en-US" sz="1350" dirty="0">
                <a:solidFill>
                  <a:srgbClr val="FFFFFF"/>
                </a:solidFill>
                <a:latin typeface="Calibri" pitchFamily="34" charset="0"/>
                <a:ea typeface="Calibri" pitchFamily="34" charset="-122"/>
                <a:cs typeface="Calibri" pitchFamily="34" charset="-120"/>
              </a:rPr>
              <a:t>Motivates multidimensional intersections (e.g. left-leaning AND male)</a:t>
            </a:r>
            <a:endParaRPr lang="en-US" sz="1350" dirty="0"/>
          </a:p>
          <a:p>
            <a:pPr marL="342900" indent="-342900">
              <a:spcAft>
                <a:spcPts val="1000"/>
              </a:spcAft>
              <a:buSzPct val="100000"/>
              <a:buChar char="✓"/>
            </a:pPr>
            <a:r>
              <a:rPr lang="en-US" sz="1350" dirty="0">
                <a:solidFill>
                  <a:srgbClr val="FFFFFF"/>
                </a:solidFill>
                <a:latin typeface="Calibri" pitchFamily="34" charset="0"/>
                <a:ea typeface="Calibri" pitchFamily="34" charset="-122"/>
                <a:cs typeface="Calibri" pitchFamily="34" charset="-120"/>
              </a:rPr>
              <a:t>Quantifies each split's contribution and provides interpretable results</a:t>
            </a:r>
          </a:p>
        </p:txBody>
      </p:sp>
      <p:sp>
        <p:nvSpPr>
          <p:cNvPr id="12" name="Text 10"/>
          <p:cNvSpPr txBox="1"/>
          <p:nvPr/>
        </p:nvSpPr>
        <p:spPr>
          <a:xfrm>
            <a:off x="11521440" y="6473952"/>
            <a:ext cx="548640" cy="274320"/>
          </a:xfrm>
          <a:prstGeom prst="rect">
            <a:avLst/>
          </a:prstGeom>
          <a:noFill/>
          <a:ln/>
        </p:spPr>
        <p:txBody>
          <a:bodyPr wrap="square" lIns="0" tIns="0" rIns="0" bIns="0" rtlCol="0" anchor="ctr"/>
          <a:lstStyle/>
          <a:p>
            <a:pPr marL="0" indent="0" algn="r">
              <a:buNone/>
            </a:pPr>
            <a:r>
              <a:rPr lang="en-US" sz="1000" dirty="0">
                <a:solidFill>
                  <a:srgbClr val="B7BCD0"/>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201168" cy="201168"/>
          </a:xfrm>
          <a:prstGeom prst="pie">
            <a:avLst>
              <a:gd name="adj1" fmla="val 16200000"/>
              <a:gd name="adj2" fmla="val 5400000"/>
            </a:avLst>
          </a:prstGeom>
          <a:solidFill>
            <a:srgbClr val="E4572E"/>
          </a:solidFill>
          <a:ln/>
        </p:spPr>
        <p:txBody>
          <a:bodyPr/>
          <a:lstStyle/>
          <a:p>
            <a:endParaRPr lang="el-GR"/>
          </a:p>
        </p:txBody>
      </p:sp>
      <p:sp>
        <p:nvSpPr>
          <p:cNvPr id="3" name="Shape 1"/>
          <p:cNvSpPr/>
          <p:nvPr/>
        </p:nvSpPr>
        <p:spPr>
          <a:xfrm>
            <a:off x="457200" y="457200"/>
            <a:ext cx="201168" cy="201168"/>
          </a:xfrm>
          <a:prstGeom prst="pie">
            <a:avLst>
              <a:gd name="adj1" fmla="val 5400000"/>
              <a:gd name="adj2" fmla="val 16200000"/>
            </a:avLst>
          </a:prstGeom>
          <a:solidFill>
            <a:srgbClr val="2F6FED"/>
          </a:solidFill>
          <a:ln/>
        </p:spPr>
        <p:txBody>
          <a:bodyPr/>
          <a:lstStyle/>
          <a:p>
            <a:endParaRPr lang="el-GR"/>
          </a:p>
        </p:txBody>
      </p:sp>
      <p:sp>
        <p:nvSpPr>
          <p:cNvPr id="4" name="Text 2"/>
          <p:cNvSpPr txBox="1"/>
          <p:nvPr/>
        </p:nvSpPr>
        <p:spPr>
          <a:xfrm>
            <a:off x="777240" y="384048"/>
            <a:ext cx="7315200" cy="320040"/>
          </a:xfrm>
          <a:prstGeom prst="rect">
            <a:avLst/>
          </a:prstGeom>
          <a:noFill/>
          <a:ln/>
        </p:spPr>
        <p:txBody>
          <a:bodyPr wrap="square" lIns="0" tIns="0" rIns="0" bIns="0" rtlCol="0" anchor="ctr"/>
          <a:lstStyle/>
          <a:p>
            <a:pPr marL="0" indent="0">
              <a:buNone/>
            </a:pPr>
            <a:r>
              <a:rPr lang="en-US" sz="1100" b="1" kern="0" spc="200" dirty="0">
                <a:solidFill>
                  <a:srgbClr val="6B7280"/>
                </a:solidFill>
                <a:latin typeface="Calibri" pitchFamily="34" charset="0"/>
                <a:ea typeface="Calibri" pitchFamily="34" charset="-122"/>
                <a:cs typeface="Calibri" pitchFamily="34" charset="-120"/>
              </a:rPr>
              <a:t>METHOD</a:t>
            </a:r>
            <a:endParaRPr lang="en-US" sz="1100" dirty="0"/>
          </a:p>
        </p:txBody>
      </p:sp>
      <p:sp>
        <p:nvSpPr>
          <p:cNvPr id="5" name="Text 3"/>
          <p:cNvSpPr txBox="1"/>
          <p:nvPr/>
        </p:nvSpPr>
        <p:spPr>
          <a:xfrm>
            <a:off x="457200" y="713232"/>
            <a:ext cx="11247120" cy="777240"/>
          </a:xfrm>
          <a:prstGeom prst="rect">
            <a:avLst/>
          </a:prstGeom>
          <a:noFill/>
          <a:ln/>
        </p:spPr>
        <p:txBody>
          <a:bodyPr wrap="square" lIns="0" tIns="0" rIns="0" bIns="0" rtlCol="0" anchor="ctr"/>
          <a:lstStyle/>
          <a:p>
            <a:pPr marL="0" indent="0">
              <a:buNone/>
            </a:pPr>
            <a:r>
              <a:rPr lang="en-US" sz="3000" b="1" dirty="0">
                <a:solidFill>
                  <a:srgbClr val="1B1F3B"/>
                </a:solidFill>
                <a:latin typeface="Cambria" pitchFamily="34" charset="0"/>
                <a:ea typeface="Cambria" pitchFamily="34" charset="-122"/>
                <a:cs typeface="Cambria" pitchFamily="34" charset="-120"/>
              </a:rPr>
              <a:t>Four stages, run per text</a:t>
            </a:r>
            <a:endParaRPr lang="en-US" sz="3000" dirty="0"/>
          </a:p>
        </p:txBody>
      </p:sp>
      <p:sp>
        <p:nvSpPr>
          <p:cNvPr id="6" name="Shape 4"/>
          <p:cNvSpPr/>
          <p:nvPr/>
        </p:nvSpPr>
        <p:spPr>
          <a:xfrm>
            <a:off x="457200" y="1874520"/>
            <a:ext cx="2697480" cy="4023360"/>
          </a:xfrm>
          <a:prstGeom prst="roundRect">
            <a:avLst>
              <a:gd name="adj" fmla="val 2712"/>
            </a:avLst>
          </a:prstGeom>
          <a:solidFill>
            <a:srgbClr val="1B1F3B"/>
          </a:solidFill>
          <a:ln/>
        </p:spPr>
        <p:txBody>
          <a:bodyPr/>
          <a:lstStyle/>
          <a:p>
            <a:endParaRPr lang="el-GR"/>
          </a:p>
        </p:txBody>
      </p:sp>
      <p:sp>
        <p:nvSpPr>
          <p:cNvPr id="7" name="Text 5"/>
          <p:cNvSpPr txBox="1"/>
          <p:nvPr/>
        </p:nvSpPr>
        <p:spPr>
          <a:xfrm>
            <a:off x="685800" y="2057400"/>
            <a:ext cx="1188720" cy="640080"/>
          </a:xfrm>
          <a:prstGeom prst="rect">
            <a:avLst/>
          </a:prstGeom>
          <a:noFill/>
          <a:ln/>
        </p:spPr>
        <p:txBody>
          <a:bodyPr wrap="square" lIns="0" tIns="0" rIns="0" bIns="0" rtlCol="0" anchor="ctr"/>
          <a:lstStyle/>
          <a:p>
            <a:pPr marL="0" indent="0">
              <a:buNone/>
            </a:pPr>
            <a:r>
              <a:rPr lang="en-US" sz="3000" b="1" dirty="0">
                <a:solidFill>
                  <a:srgbClr val="4A5187"/>
                </a:solidFill>
                <a:latin typeface="Cambria" pitchFamily="34" charset="0"/>
                <a:ea typeface="Cambria" pitchFamily="34" charset="-122"/>
                <a:cs typeface="Cambria" pitchFamily="34" charset="-120"/>
              </a:rPr>
              <a:t>01</a:t>
            </a:r>
            <a:endParaRPr lang="en-US" sz="3000" dirty="0"/>
          </a:p>
        </p:txBody>
      </p:sp>
      <p:sp>
        <p:nvSpPr>
          <p:cNvPr id="8" name="Text 6"/>
          <p:cNvSpPr txBox="1"/>
          <p:nvPr/>
        </p:nvSpPr>
        <p:spPr>
          <a:xfrm>
            <a:off x="685800" y="2697480"/>
            <a:ext cx="2286000" cy="777240"/>
          </a:xfrm>
          <a:prstGeom prst="rect">
            <a:avLst/>
          </a:prstGeom>
          <a:noFill/>
          <a:ln/>
        </p:spPr>
        <p:txBody>
          <a:bodyPr wrap="square" lIns="0" tIns="0" rIns="0" bIns="0" rtlCol="0" anchor="ctr"/>
          <a:lstStyle/>
          <a:p>
            <a:pPr marL="0" indent="0">
              <a:buNone/>
            </a:pPr>
            <a:r>
              <a:rPr lang="en-US" sz="1500" b="1" dirty="0">
                <a:solidFill>
                  <a:srgbClr val="FFFFFF"/>
                </a:solidFill>
                <a:latin typeface="Cambria" pitchFamily="34" charset="0"/>
                <a:ea typeface="Cambria" pitchFamily="34" charset="-122"/>
                <a:cs typeface="Cambria" pitchFamily="34" charset="-120"/>
              </a:rPr>
              <a:t>Find polarized texts</a:t>
            </a:r>
            <a:endParaRPr lang="en-US" sz="1500" dirty="0"/>
          </a:p>
        </p:txBody>
      </p:sp>
      <p:sp>
        <p:nvSpPr>
          <p:cNvPr id="9" name="Text 7"/>
          <p:cNvSpPr txBox="1"/>
          <p:nvPr/>
        </p:nvSpPr>
        <p:spPr>
          <a:xfrm>
            <a:off x="685800" y="3474720"/>
            <a:ext cx="2286000" cy="2286000"/>
          </a:xfrm>
          <a:prstGeom prst="rect">
            <a:avLst/>
          </a:prstGeom>
          <a:noFill/>
          <a:ln/>
        </p:spPr>
        <p:txBody>
          <a:bodyPr wrap="square" lIns="0" tIns="0" rIns="0" bIns="0" rtlCol="0" anchor="ctr"/>
          <a:lstStyle/>
          <a:p>
            <a:pPr marL="0" indent="0">
              <a:lnSpc>
                <a:spcPct val="115000"/>
              </a:lnSpc>
              <a:buNone/>
            </a:pPr>
            <a:r>
              <a:rPr lang="en-US" sz="1150" dirty="0">
                <a:solidFill>
                  <a:srgbClr val="C9CFEA"/>
                </a:solidFill>
                <a:latin typeface="Calibri" pitchFamily="34" charset="0"/>
                <a:ea typeface="Calibri" pitchFamily="34" charset="-122"/>
                <a:cs typeface="Calibri" pitchFamily="34" charset="-120"/>
              </a:rPr>
              <a:t>Score each item with DFU (Distance from Unimodality). Keep items whose DFU ≥ θ — unimodal, low-disagreement items are dropped.</a:t>
            </a:r>
            <a:endParaRPr lang="en-US" sz="1150" dirty="0"/>
          </a:p>
        </p:txBody>
      </p:sp>
      <p:sp>
        <p:nvSpPr>
          <p:cNvPr id="10" name="Shape 8"/>
          <p:cNvSpPr/>
          <p:nvPr/>
        </p:nvSpPr>
        <p:spPr>
          <a:xfrm>
            <a:off x="3154680" y="3840480"/>
            <a:ext cx="137160" cy="0"/>
          </a:xfrm>
          <a:prstGeom prst="line">
            <a:avLst/>
          </a:prstGeom>
          <a:noFill/>
          <a:ln w="25400">
            <a:solidFill>
              <a:srgbClr val="DDE1EE"/>
            </a:solidFill>
            <a:prstDash val="solid"/>
          </a:ln>
        </p:spPr>
        <p:txBody>
          <a:bodyPr/>
          <a:lstStyle/>
          <a:p>
            <a:endParaRPr lang="el-GR"/>
          </a:p>
        </p:txBody>
      </p:sp>
      <p:sp>
        <p:nvSpPr>
          <p:cNvPr id="11" name="Shape 9"/>
          <p:cNvSpPr/>
          <p:nvPr/>
        </p:nvSpPr>
        <p:spPr>
          <a:xfrm>
            <a:off x="3291840" y="1874520"/>
            <a:ext cx="2697480" cy="4023360"/>
          </a:xfrm>
          <a:prstGeom prst="roundRect">
            <a:avLst>
              <a:gd name="adj" fmla="val 2712"/>
            </a:avLst>
          </a:prstGeom>
          <a:solidFill>
            <a:srgbClr val="F1F3FA"/>
          </a:solidFill>
          <a:ln/>
        </p:spPr>
        <p:txBody>
          <a:bodyPr/>
          <a:lstStyle/>
          <a:p>
            <a:endParaRPr lang="el-GR"/>
          </a:p>
        </p:txBody>
      </p:sp>
      <p:sp>
        <p:nvSpPr>
          <p:cNvPr id="12" name="Text 10"/>
          <p:cNvSpPr txBox="1"/>
          <p:nvPr/>
        </p:nvSpPr>
        <p:spPr>
          <a:xfrm>
            <a:off x="3520440" y="2057400"/>
            <a:ext cx="1188720" cy="640080"/>
          </a:xfrm>
          <a:prstGeom prst="rect">
            <a:avLst/>
          </a:prstGeom>
          <a:noFill/>
          <a:ln/>
        </p:spPr>
        <p:txBody>
          <a:bodyPr wrap="square" lIns="0" tIns="0" rIns="0" bIns="0" rtlCol="0" anchor="ctr"/>
          <a:lstStyle/>
          <a:p>
            <a:pPr marL="0" indent="0">
              <a:buNone/>
            </a:pPr>
            <a:r>
              <a:rPr lang="en-US" sz="3000" b="1" dirty="0">
                <a:solidFill>
                  <a:srgbClr val="C7CCE0"/>
                </a:solidFill>
                <a:latin typeface="Cambria" pitchFamily="34" charset="0"/>
                <a:ea typeface="Cambria" pitchFamily="34" charset="-122"/>
                <a:cs typeface="Cambria" pitchFamily="34" charset="-120"/>
              </a:rPr>
              <a:t>02</a:t>
            </a:r>
            <a:endParaRPr lang="en-US" sz="3000" dirty="0"/>
          </a:p>
        </p:txBody>
      </p:sp>
      <p:sp>
        <p:nvSpPr>
          <p:cNvPr id="13" name="Text 11"/>
          <p:cNvSpPr txBox="1"/>
          <p:nvPr/>
        </p:nvSpPr>
        <p:spPr>
          <a:xfrm>
            <a:off x="3520440" y="2697480"/>
            <a:ext cx="2286000" cy="777240"/>
          </a:xfrm>
          <a:prstGeom prst="rect">
            <a:avLst/>
          </a:prstGeom>
          <a:noFill/>
          <a:ln/>
        </p:spPr>
        <p:txBody>
          <a:bodyPr wrap="square" lIns="0" tIns="0" rIns="0" bIns="0" rtlCol="0" anchor="ctr"/>
          <a:lstStyle/>
          <a:p>
            <a:pPr marL="0" indent="0">
              <a:buNone/>
            </a:pPr>
            <a:r>
              <a:rPr lang="en-US" sz="1500" b="1" dirty="0">
                <a:solidFill>
                  <a:srgbClr val="1B1F3B"/>
                </a:solidFill>
                <a:latin typeface="Cambria" pitchFamily="34" charset="0"/>
                <a:ea typeface="Cambria" pitchFamily="34" charset="-122"/>
                <a:cs typeface="Cambria" pitchFamily="34" charset="-120"/>
              </a:rPr>
              <a:t>Score candidate splits</a:t>
            </a:r>
            <a:endParaRPr lang="en-US" sz="1500" dirty="0"/>
          </a:p>
        </p:txBody>
      </p:sp>
      <p:sp>
        <p:nvSpPr>
          <p:cNvPr id="14" name="Text 12"/>
          <p:cNvSpPr txBox="1"/>
          <p:nvPr/>
        </p:nvSpPr>
        <p:spPr>
          <a:xfrm>
            <a:off x="3520440" y="3474720"/>
            <a:ext cx="2286000" cy="2286000"/>
          </a:xfrm>
          <a:prstGeom prst="rect">
            <a:avLst/>
          </a:prstGeom>
          <a:noFill/>
          <a:ln/>
        </p:spPr>
        <p:txBody>
          <a:bodyPr wrap="square" lIns="0" tIns="0" rIns="0" bIns="0" rtlCol="0" anchor="ctr"/>
          <a:lstStyle/>
          <a:p>
            <a:pPr marL="0" indent="0">
              <a:lnSpc>
                <a:spcPct val="115000"/>
              </a:lnSpc>
              <a:buNone/>
            </a:pPr>
            <a:r>
              <a:rPr lang="en-US" sz="1150" dirty="0">
                <a:solidFill>
                  <a:srgbClr val="6B7280"/>
                </a:solidFill>
                <a:latin typeface="Calibri" pitchFamily="34" charset="0"/>
                <a:ea typeface="Calibri" pitchFamily="34" charset="-122"/>
                <a:cs typeface="Calibri" pitchFamily="34" charset="-120"/>
              </a:rPr>
              <a:t>At each node, evaluate every remaining SCD dimension with Polarization Explanation Gain (PEG); pick the highest-scoring one.</a:t>
            </a:r>
            <a:endParaRPr lang="en-US" sz="1150" dirty="0"/>
          </a:p>
        </p:txBody>
      </p:sp>
      <p:sp>
        <p:nvSpPr>
          <p:cNvPr id="15" name="Shape 13"/>
          <p:cNvSpPr/>
          <p:nvPr/>
        </p:nvSpPr>
        <p:spPr>
          <a:xfrm>
            <a:off x="5989320" y="3840480"/>
            <a:ext cx="137160" cy="0"/>
          </a:xfrm>
          <a:prstGeom prst="line">
            <a:avLst/>
          </a:prstGeom>
          <a:noFill/>
          <a:ln w="25400">
            <a:solidFill>
              <a:srgbClr val="DDE1EE"/>
            </a:solidFill>
            <a:prstDash val="solid"/>
          </a:ln>
        </p:spPr>
        <p:txBody>
          <a:bodyPr/>
          <a:lstStyle/>
          <a:p>
            <a:endParaRPr lang="el-GR"/>
          </a:p>
        </p:txBody>
      </p:sp>
      <p:sp>
        <p:nvSpPr>
          <p:cNvPr id="16" name="Shape 14"/>
          <p:cNvSpPr/>
          <p:nvPr/>
        </p:nvSpPr>
        <p:spPr>
          <a:xfrm>
            <a:off x="6126480" y="1874520"/>
            <a:ext cx="2697480" cy="4023360"/>
          </a:xfrm>
          <a:prstGeom prst="roundRect">
            <a:avLst>
              <a:gd name="adj" fmla="val 2712"/>
            </a:avLst>
          </a:prstGeom>
          <a:solidFill>
            <a:srgbClr val="1B1F3B"/>
          </a:solidFill>
          <a:ln/>
        </p:spPr>
        <p:txBody>
          <a:bodyPr/>
          <a:lstStyle/>
          <a:p>
            <a:endParaRPr lang="el-GR"/>
          </a:p>
        </p:txBody>
      </p:sp>
      <p:sp>
        <p:nvSpPr>
          <p:cNvPr id="17" name="Text 15"/>
          <p:cNvSpPr txBox="1"/>
          <p:nvPr/>
        </p:nvSpPr>
        <p:spPr>
          <a:xfrm>
            <a:off x="6355080" y="2057400"/>
            <a:ext cx="1188720" cy="640080"/>
          </a:xfrm>
          <a:prstGeom prst="rect">
            <a:avLst/>
          </a:prstGeom>
          <a:noFill/>
          <a:ln/>
        </p:spPr>
        <p:txBody>
          <a:bodyPr wrap="square" lIns="0" tIns="0" rIns="0" bIns="0" rtlCol="0" anchor="ctr"/>
          <a:lstStyle/>
          <a:p>
            <a:pPr marL="0" indent="0">
              <a:buNone/>
            </a:pPr>
            <a:r>
              <a:rPr lang="en-US" sz="3000" b="1" dirty="0">
                <a:solidFill>
                  <a:srgbClr val="4A5187"/>
                </a:solidFill>
                <a:latin typeface="Cambria" pitchFamily="34" charset="0"/>
                <a:ea typeface="Cambria" pitchFamily="34" charset="-122"/>
                <a:cs typeface="Cambria" pitchFamily="34" charset="-120"/>
              </a:rPr>
              <a:t>03</a:t>
            </a:r>
            <a:endParaRPr lang="en-US" sz="3000" dirty="0"/>
          </a:p>
        </p:txBody>
      </p:sp>
      <p:sp>
        <p:nvSpPr>
          <p:cNvPr id="18" name="Text 16"/>
          <p:cNvSpPr txBox="1"/>
          <p:nvPr/>
        </p:nvSpPr>
        <p:spPr>
          <a:xfrm>
            <a:off x="6355080" y="2697480"/>
            <a:ext cx="2286000" cy="777240"/>
          </a:xfrm>
          <a:prstGeom prst="rect">
            <a:avLst/>
          </a:prstGeom>
          <a:noFill/>
          <a:ln/>
        </p:spPr>
        <p:txBody>
          <a:bodyPr wrap="square" lIns="0" tIns="0" rIns="0" bIns="0" rtlCol="0" anchor="ctr"/>
          <a:lstStyle/>
          <a:p>
            <a:pPr marL="0" indent="0">
              <a:buNone/>
            </a:pPr>
            <a:r>
              <a:rPr lang="en-US" sz="1500" b="1" dirty="0">
                <a:solidFill>
                  <a:srgbClr val="FFFFFF"/>
                </a:solidFill>
                <a:latin typeface="Cambria" pitchFamily="34" charset="0"/>
                <a:ea typeface="Cambria" pitchFamily="34" charset="-122"/>
                <a:cs typeface="Cambria" pitchFamily="34" charset="-120"/>
              </a:rPr>
              <a:t>Split &amp; recurse</a:t>
            </a:r>
            <a:endParaRPr lang="en-US" sz="1500" dirty="0"/>
          </a:p>
        </p:txBody>
      </p:sp>
      <p:sp>
        <p:nvSpPr>
          <p:cNvPr id="19" name="Text 17"/>
          <p:cNvSpPr txBox="1"/>
          <p:nvPr/>
        </p:nvSpPr>
        <p:spPr>
          <a:xfrm>
            <a:off x="6355080" y="3474720"/>
            <a:ext cx="2286000" cy="2286000"/>
          </a:xfrm>
          <a:prstGeom prst="rect">
            <a:avLst/>
          </a:prstGeom>
          <a:noFill/>
          <a:ln/>
        </p:spPr>
        <p:txBody>
          <a:bodyPr wrap="square" lIns="0" tIns="0" rIns="0" bIns="0" rtlCol="0" anchor="ctr"/>
          <a:lstStyle/>
          <a:p>
            <a:pPr marL="0" indent="0">
              <a:lnSpc>
                <a:spcPct val="115000"/>
              </a:lnSpc>
              <a:buNone/>
            </a:pPr>
            <a:r>
              <a:rPr lang="en-US" sz="1150" dirty="0">
                <a:solidFill>
                  <a:srgbClr val="C9CFEA"/>
                </a:solidFill>
                <a:latin typeface="Calibri" pitchFamily="34" charset="0"/>
                <a:ea typeface="Calibri" pitchFamily="34" charset="-122"/>
                <a:cs typeface="Calibri" pitchFamily="34" charset="-120"/>
              </a:rPr>
              <a:t>Partition by that dimension, remove it from that branch, repeat inside each subgroup until size / depth / gain stopping rules trigger.</a:t>
            </a:r>
            <a:endParaRPr lang="en-US" sz="1150" dirty="0"/>
          </a:p>
        </p:txBody>
      </p:sp>
      <p:sp>
        <p:nvSpPr>
          <p:cNvPr id="20" name="Shape 18"/>
          <p:cNvSpPr/>
          <p:nvPr/>
        </p:nvSpPr>
        <p:spPr>
          <a:xfrm>
            <a:off x="8823960" y="3840480"/>
            <a:ext cx="137160" cy="0"/>
          </a:xfrm>
          <a:prstGeom prst="line">
            <a:avLst/>
          </a:prstGeom>
          <a:noFill/>
          <a:ln w="25400">
            <a:solidFill>
              <a:srgbClr val="DDE1EE"/>
            </a:solidFill>
            <a:prstDash val="solid"/>
          </a:ln>
        </p:spPr>
        <p:txBody>
          <a:bodyPr/>
          <a:lstStyle/>
          <a:p>
            <a:endParaRPr lang="el-GR"/>
          </a:p>
        </p:txBody>
      </p:sp>
      <p:sp>
        <p:nvSpPr>
          <p:cNvPr id="21" name="Shape 19"/>
          <p:cNvSpPr/>
          <p:nvPr/>
        </p:nvSpPr>
        <p:spPr>
          <a:xfrm>
            <a:off x="8961120" y="1874520"/>
            <a:ext cx="2697480" cy="4023360"/>
          </a:xfrm>
          <a:prstGeom prst="roundRect">
            <a:avLst>
              <a:gd name="adj" fmla="val 2712"/>
            </a:avLst>
          </a:prstGeom>
          <a:solidFill>
            <a:srgbClr val="F1F3FA"/>
          </a:solidFill>
          <a:ln/>
        </p:spPr>
        <p:txBody>
          <a:bodyPr/>
          <a:lstStyle/>
          <a:p>
            <a:endParaRPr lang="el-GR"/>
          </a:p>
        </p:txBody>
      </p:sp>
      <p:sp>
        <p:nvSpPr>
          <p:cNvPr id="22" name="Text 20"/>
          <p:cNvSpPr txBox="1"/>
          <p:nvPr/>
        </p:nvSpPr>
        <p:spPr>
          <a:xfrm>
            <a:off x="9189720" y="2057400"/>
            <a:ext cx="1188720" cy="640080"/>
          </a:xfrm>
          <a:prstGeom prst="rect">
            <a:avLst/>
          </a:prstGeom>
          <a:noFill/>
          <a:ln/>
        </p:spPr>
        <p:txBody>
          <a:bodyPr wrap="square" lIns="0" tIns="0" rIns="0" bIns="0" rtlCol="0" anchor="ctr"/>
          <a:lstStyle/>
          <a:p>
            <a:pPr marL="0" indent="0">
              <a:buNone/>
            </a:pPr>
            <a:r>
              <a:rPr lang="en-US" sz="3000" b="1" dirty="0">
                <a:solidFill>
                  <a:srgbClr val="C7CCE0"/>
                </a:solidFill>
                <a:latin typeface="Cambria" pitchFamily="34" charset="0"/>
                <a:ea typeface="Cambria" pitchFamily="34" charset="-122"/>
                <a:cs typeface="Cambria" pitchFamily="34" charset="-120"/>
              </a:rPr>
              <a:t>04</a:t>
            </a:r>
            <a:endParaRPr lang="en-US" sz="3000" dirty="0"/>
          </a:p>
        </p:txBody>
      </p:sp>
      <p:sp>
        <p:nvSpPr>
          <p:cNvPr id="23" name="Text 21"/>
          <p:cNvSpPr txBox="1"/>
          <p:nvPr/>
        </p:nvSpPr>
        <p:spPr>
          <a:xfrm>
            <a:off x="9189720" y="2697480"/>
            <a:ext cx="2286000" cy="777240"/>
          </a:xfrm>
          <a:prstGeom prst="rect">
            <a:avLst/>
          </a:prstGeom>
          <a:noFill/>
          <a:ln/>
        </p:spPr>
        <p:txBody>
          <a:bodyPr wrap="square" lIns="0" tIns="0" rIns="0" bIns="0" rtlCol="0" anchor="ctr"/>
          <a:lstStyle/>
          <a:p>
            <a:pPr marL="0" indent="0">
              <a:buNone/>
            </a:pPr>
            <a:r>
              <a:rPr lang="en-US" sz="1500" b="1" dirty="0">
                <a:solidFill>
                  <a:srgbClr val="1B1F3B"/>
                </a:solidFill>
                <a:latin typeface="Cambria" pitchFamily="34" charset="0"/>
                <a:ea typeface="Cambria" pitchFamily="34" charset="-122"/>
                <a:cs typeface="Cambria" pitchFamily="34" charset="-120"/>
              </a:rPr>
              <a:t>Label &amp; aggregate</a:t>
            </a:r>
            <a:endParaRPr lang="en-US" sz="1500" dirty="0"/>
          </a:p>
        </p:txBody>
      </p:sp>
      <p:sp>
        <p:nvSpPr>
          <p:cNvPr id="24" name="Text 22"/>
          <p:cNvSpPr txBox="1"/>
          <p:nvPr/>
        </p:nvSpPr>
        <p:spPr>
          <a:xfrm>
            <a:off x="9189720" y="3474720"/>
            <a:ext cx="2286000" cy="2286000"/>
          </a:xfrm>
          <a:prstGeom prst="rect">
            <a:avLst/>
          </a:prstGeom>
          <a:noFill/>
          <a:ln/>
        </p:spPr>
        <p:txBody>
          <a:bodyPr wrap="square" lIns="0" tIns="0" rIns="0" bIns="0" rtlCol="0" anchor="ctr"/>
          <a:lstStyle/>
          <a:p>
            <a:pPr marL="0" indent="0">
              <a:lnSpc>
                <a:spcPct val="115000"/>
              </a:lnSpc>
              <a:buNone/>
            </a:pPr>
            <a:r>
              <a:rPr lang="en-US" sz="1150" dirty="0">
                <a:solidFill>
                  <a:srgbClr val="6B7280"/>
                </a:solidFill>
                <a:latin typeface="Calibri" pitchFamily="34" charset="0"/>
                <a:ea typeface="Calibri" pitchFamily="34" charset="-122"/>
                <a:cs typeface="Calibri" pitchFamily="34" charset="-120"/>
              </a:rPr>
              <a:t>Leaves get a toxic/civil pole by majority vote. Across all trees: Dimension Frequency, Pole Consistency, and mean PEG per subgroup.</a:t>
            </a:r>
            <a:endParaRPr lang="en-US" sz="1150" dirty="0"/>
          </a:p>
        </p:txBody>
      </p:sp>
      <p:sp>
        <p:nvSpPr>
          <p:cNvPr id="25" name="Text 23"/>
          <p:cNvSpPr txBox="1"/>
          <p:nvPr/>
        </p:nvSpPr>
        <p:spPr>
          <a:xfrm>
            <a:off x="11521440" y="6473952"/>
            <a:ext cx="548640" cy="274320"/>
          </a:xfrm>
          <a:prstGeom prst="rect">
            <a:avLst/>
          </a:prstGeom>
          <a:noFill/>
          <a:ln/>
        </p:spPr>
        <p:txBody>
          <a:bodyPr wrap="square" lIns="0" tIns="0" rIns="0" bIns="0" rtlCol="0" anchor="ctr"/>
          <a:lstStyle/>
          <a:p>
            <a:pPr marL="0" indent="0" algn="r">
              <a:buNone/>
            </a:pPr>
            <a:r>
              <a:rPr lang="en-US" sz="1000" dirty="0">
                <a:solidFill>
                  <a:srgbClr val="B7BCD0"/>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201168" cy="201168"/>
          </a:xfrm>
          <a:prstGeom prst="pie">
            <a:avLst>
              <a:gd name="adj1" fmla="val 16200000"/>
              <a:gd name="adj2" fmla="val 5400000"/>
            </a:avLst>
          </a:prstGeom>
          <a:solidFill>
            <a:srgbClr val="E4572E"/>
          </a:solidFill>
          <a:ln/>
        </p:spPr>
        <p:txBody>
          <a:bodyPr/>
          <a:lstStyle/>
          <a:p>
            <a:endParaRPr lang="el-GR"/>
          </a:p>
        </p:txBody>
      </p:sp>
      <p:sp>
        <p:nvSpPr>
          <p:cNvPr id="3" name="Shape 1"/>
          <p:cNvSpPr/>
          <p:nvPr/>
        </p:nvSpPr>
        <p:spPr>
          <a:xfrm>
            <a:off x="457200" y="457200"/>
            <a:ext cx="201168" cy="201168"/>
          </a:xfrm>
          <a:prstGeom prst="pie">
            <a:avLst>
              <a:gd name="adj1" fmla="val 5400000"/>
              <a:gd name="adj2" fmla="val 16200000"/>
            </a:avLst>
          </a:prstGeom>
          <a:solidFill>
            <a:srgbClr val="2F6FED"/>
          </a:solidFill>
          <a:ln/>
        </p:spPr>
        <p:txBody>
          <a:bodyPr/>
          <a:lstStyle/>
          <a:p>
            <a:endParaRPr lang="el-GR"/>
          </a:p>
        </p:txBody>
      </p:sp>
      <p:sp>
        <p:nvSpPr>
          <p:cNvPr id="4" name="Text 2"/>
          <p:cNvSpPr txBox="1"/>
          <p:nvPr/>
        </p:nvSpPr>
        <p:spPr>
          <a:xfrm>
            <a:off x="777240" y="384048"/>
            <a:ext cx="7315200" cy="320040"/>
          </a:xfrm>
          <a:prstGeom prst="rect">
            <a:avLst/>
          </a:prstGeom>
          <a:noFill/>
          <a:ln/>
        </p:spPr>
        <p:txBody>
          <a:bodyPr wrap="square" lIns="0" tIns="0" rIns="0" bIns="0" rtlCol="0" anchor="ctr"/>
          <a:lstStyle/>
          <a:p>
            <a:pPr marL="0" indent="0">
              <a:buNone/>
            </a:pPr>
            <a:r>
              <a:rPr lang="en-US" sz="1100" b="1" kern="0" spc="200" dirty="0">
                <a:solidFill>
                  <a:srgbClr val="6B7280"/>
                </a:solidFill>
                <a:latin typeface="Calibri" pitchFamily="34" charset="0"/>
                <a:ea typeface="Calibri" pitchFamily="34" charset="-122"/>
                <a:cs typeface="Calibri" pitchFamily="34" charset="-120"/>
              </a:rPr>
              <a:t>SPLITTING CRITERION</a:t>
            </a:r>
            <a:endParaRPr lang="en-US" sz="1100" dirty="0"/>
          </a:p>
        </p:txBody>
      </p:sp>
      <p:sp>
        <p:nvSpPr>
          <p:cNvPr id="5" name="Text 3"/>
          <p:cNvSpPr txBox="1"/>
          <p:nvPr/>
        </p:nvSpPr>
        <p:spPr>
          <a:xfrm>
            <a:off x="457200" y="713232"/>
            <a:ext cx="11247120" cy="777240"/>
          </a:xfrm>
          <a:prstGeom prst="rect">
            <a:avLst/>
          </a:prstGeom>
          <a:noFill/>
          <a:ln/>
        </p:spPr>
        <p:txBody>
          <a:bodyPr wrap="square" lIns="0" tIns="0" rIns="0" bIns="0" rtlCol="0" anchor="ctr"/>
          <a:lstStyle/>
          <a:p>
            <a:pPr marL="0" indent="0">
              <a:buNone/>
            </a:pPr>
            <a:r>
              <a:rPr lang="en-US" sz="3000" b="1" dirty="0">
                <a:solidFill>
                  <a:srgbClr val="1B1F3B"/>
                </a:solidFill>
                <a:latin typeface="Cambria" pitchFamily="34" charset="0"/>
                <a:ea typeface="Cambria" pitchFamily="34" charset="-122"/>
                <a:cs typeface="Cambria" pitchFamily="34" charset="-120"/>
              </a:rPr>
              <a:t>Polarization Explanation Gain (PEG)</a:t>
            </a:r>
            <a:endParaRPr lang="en-US" sz="3000" dirty="0"/>
          </a:p>
        </p:txBody>
      </p:sp>
      <p:sp>
        <p:nvSpPr>
          <p:cNvPr id="6" name="Text 4"/>
          <p:cNvSpPr txBox="1"/>
          <p:nvPr/>
        </p:nvSpPr>
        <p:spPr>
          <a:xfrm>
            <a:off x="457200" y="1691640"/>
            <a:ext cx="11247120" cy="365760"/>
          </a:xfrm>
          <a:prstGeom prst="rect">
            <a:avLst/>
          </a:prstGeom>
          <a:noFill/>
          <a:ln/>
        </p:spPr>
        <p:txBody>
          <a:bodyPr wrap="square" lIns="0" tIns="0" rIns="0" bIns="0" rtlCol="0" anchor="ctr"/>
          <a:lstStyle/>
          <a:p>
            <a:pPr marL="0" indent="0">
              <a:buNone/>
            </a:pPr>
            <a:r>
              <a:rPr lang="en-US" sz="1600" dirty="0">
                <a:solidFill>
                  <a:srgbClr val="6B7280"/>
                </a:solidFill>
                <a:latin typeface="Calibri" pitchFamily="34" charset="0"/>
                <a:ea typeface="Calibri" pitchFamily="34" charset="-122"/>
                <a:cs typeface="Calibri" pitchFamily="34" charset="-120"/>
              </a:rPr>
              <a:t>For a candidate dimension, PEG asks: how polarized are the resulting subgroups?</a:t>
            </a:r>
            <a:endParaRPr lang="en-US" sz="1600" dirty="0"/>
          </a:p>
        </p:txBody>
      </p:sp>
      <p:sp>
        <p:nvSpPr>
          <p:cNvPr id="7" name="Shape 5"/>
          <p:cNvSpPr/>
          <p:nvPr/>
        </p:nvSpPr>
        <p:spPr>
          <a:xfrm>
            <a:off x="457200" y="2240280"/>
            <a:ext cx="3611880" cy="3200400"/>
          </a:xfrm>
          <a:prstGeom prst="roundRect">
            <a:avLst>
              <a:gd name="adj" fmla="val 2286"/>
            </a:avLst>
          </a:prstGeom>
          <a:solidFill>
            <a:srgbClr val="F1F3FA"/>
          </a:solidFill>
          <a:ln/>
        </p:spPr>
        <p:txBody>
          <a:bodyPr/>
          <a:lstStyle/>
          <a:p>
            <a:endParaRPr lang="el-GR"/>
          </a:p>
        </p:txBody>
      </p:sp>
      <p:sp>
        <p:nvSpPr>
          <p:cNvPr id="8" name="Shape 6"/>
          <p:cNvSpPr/>
          <p:nvPr/>
        </p:nvSpPr>
        <p:spPr>
          <a:xfrm>
            <a:off x="457200" y="2240280"/>
            <a:ext cx="3611880" cy="73152"/>
          </a:xfrm>
          <a:prstGeom prst="rect">
            <a:avLst/>
          </a:prstGeom>
          <a:solidFill>
            <a:srgbClr val="2F6FED"/>
          </a:solidFill>
          <a:ln/>
        </p:spPr>
        <p:txBody>
          <a:bodyPr/>
          <a:lstStyle/>
          <a:p>
            <a:endParaRPr lang="el-GR"/>
          </a:p>
        </p:txBody>
      </p:sp>
      <p:sp>
        <p:nvSpPr>
          <p:cNvPr id="9" name="Text 7"/>
          <p:cNvSpPr txBox="1"/>
          <p:nvPr/>
        </p:nvSpPr>
        <p:spPr>
          <a:xfrm>
            <a:off x="731520" y="2468880"/>
            <a:ext cx="3108960" cy="457200"/>
          </a:xfrm>
          <a:prstGeom prst="rect">
            <a:avLst/>
          </a:prstGeom>
          <a:noFill/>
          <a:ln/>
        </p:spPr>
        <p:txBody>
          <a:bodyPr wrap="square" lIns="0" tIns="0" rIns="0" bIns="0" rtlCol="0" anchor="ctr"/>
          <a:lstStyle/>
          <a:p>
            <a:pPr marL="0" indent="0">
              <a:buNone/>
            </a:pPr>
            <a:r>
              <a:rPr lang="en-US" sz="1800" b="1" dirty="0">
                <a:solidFill>
                  <a:srgbClr val="1B1F3B"/>
                </a:solidFill>
                <a:latin typeface="Cambria" pitchFamily="34" charset="0"/>
                <a:ea typeface="Cambria" pitchFamily="34" charset="-122"/>
                <a:cs typeface="Cambria" pitchFamily="34" charset="-120"/>
              </a:rPr>
              <a:t>PEGmax</a:t>
            </a:r>
            <a:endParaRPr lang="en-US" sz="1800" dirty="0"/>
          </a:p>
        </p:txBody>
      </p:sp>
      <p:sp>
        <p:nvSpPr>
          <p:cNvPr id="10" name="Text 8"/>
          <p:cNvSpPr txBox="1"/>
          <p:nvPr/>
        </p:nvSpPr>
        <p:spPr>
          <a:xfrm>
            <a:off x="731520" y="2971800"/>
            <a:ext cx="3108960" cy="594360"/>
          </a:xfrm>
          <a:prstGeom prst="rect">
            <a:avLst/>
          </a:prstGeom>
          <a:noFill/>
          <a:ln/>
        </p:spPr>
        <p:txBody>
          <a:bodyPr wrap="square" lIns="0" tIns="0" rIns="0" bIns="0" rtlCol="0" anchor="ctr"/>
          <a:lstStyle/>
          <a:p>
            <a:pPr marL="0" indent="0">
              <a:buNone/>
            </a:pPr>
            <a:r>
              <a:rPr lang="en-US" sz="1300" dirty="0">
                <a:solidFill>
                  <a:srgbClr val="6B7280"/>
                </a:solidFill>
                <a:latin typeface="Courier New" pitchFamily="34" charset="0"/>
                <a:ea typeface="Courier New" pitchFamily="34" charset="-122"/>
                <a:cs typeface="Courier New" pitchFamily="34" charset="-120"/>
              </a:rPr>
              <a:t>maxₖ DFU(gₖ)</a:t>
            </a:r>
            <a:endParaRPr lang="en-US" sz="1300" dirty="0"/>
          </a:p>
        </p:txBody>
      </p:sp>
      <p:sp>
        <p:nvSpPr>
          <p:cNvPr id="11" name="Text 9"/>
          <p:cNvSpPr txBox="1"/>
          <p:nvPr/>
        </p:nvSpPr>
        <p:spPr>
          <a:xfrm>
            <a:off x="731520" y="3657600"/>
            <a:ext cx="3108960" cy="1554480"/>
          </a:xfrm>
          <a:prstGeom prst="rect">
            <a:avLst/>
          </a:prstGeom>
          <a:noFill/>
          <a:ln/>
        </p:spPr>
        <p:txBody>
          <a:bodyPr wrap="square" lIns="0" tIns="0" rIns="0" bIns="0" rtlCol="0" anchor="ctr"/>
          <a:lstStyle/>
          <a:p>
            <a:pPr marL="0" indent="0">
              <a:lnSpc>
                <a:spcPct val="120000"/>
              </a:lnSpc>
              <a:buNone/>
            </a:pPr>
            <a:r>
              <a:rPr lang="en-US" sz="1200" dirty="0">
                <a:solidFill>
                  <a:srgbClr val="1B1F3B"/>
                </a:solidFill>
                <a:latin typeface="Calibri" pitchFamily="34" charset="0"/>
                <a:ea typeface="Calibri" pitchFamily="34" charset="-122"/>
                <a:cs typeface="Calibri" pitchFamily="34" charset="-120"/>
              </a:rPr>
              <a:t>Greedy view — rewards a split that isolates at least one sharply polarized subgroup.</a:t>
            </a:r>
            <a:endParaRPr lang="en-US" sz="1200" dirty="0"/>
          </a:p>
        </p:txBody>
      </p:sp>
      <p:sp>
        <p:nvSpPr>
          <p:cNvPr id="12" name="Shape 10"/>
          <p:cNvSpPr/>
          <p:nvPr/>
        </p:nvSpPr>
        <p:spPr>
          <a:xfrm>
            <a:off x="4297680" y="2240280"/>
            <a:ext cx="3611880" cy="3200400"/>
          </a:xfrm>
          <a:prstGeom prst="roundRect">
            <a:avLst>
              <a:gd name="adj" fmla="val 2286"/>
            </a:avLst>
          </a:prstGeom>
          <a:solidFill>
            <a:srgbClr val="F1F3FA"/>
          </a:solidFill>
          <a:ln/>
        </p:spPr>
        <p:txBody>
          <a:bodyPr/>
          <a:lstStyle/>
          <a:p>
            <a:endParaRPr lang="el-GR"/>
          </a:p>
        </p:txBody>
      </p:sp>
      <p:sp>
        <p:nvSpPr>
          <p:cNvPr id="13" name="Shape 11"/>
          <p:cNvSpPr/>
          <p:nvPr/>
        </p:nvSpPr>
        <p:spPr>
          <a:xfrm>
            <a:off x="4297680" y="2240280"/>
            <a:ext cx="3611880" cy="73152"/>
          </a:xfrm>
          <a:prstGeom prst="rect">
            <a:avLst/>
          </a:prstGeom>
          <a:solidFill>
            <a:srgbClr val="E4572E"/>
          </a:solidFill>
          <a:ln/>
        </p:spPr>
        <p:txBody>
          <a:bodyPr/>
          <a:lstStyle/>
          <a:p>
            <a:endParaRPr lang="el-GR"/>
          </a:p>
        </p:txBody>
      </p:sp>
      <p:sp>
        <p:nvSpPr>
          <p:cNvPr id="14" name="Text 12"/>
          <p:cNvSpPr txBox="1"/>
          <p:nvPr/>
        </p:nvSpPr>
        <p:spPr>
          <a:xfrm>
            <a:off x="4572000" y="2468880"/>
            <a:ext cx="3108960" cy="457200"/>
          </a:xfrm>
          <a:prstGeom prst="rect">
            <a:avLst/>
          </a:prstGeom>
          <a:noFill/>
          <a:ln/>
        </p:spPr>
        <p:txBody>
          <a:bodyPr wrap="square" lIns="0" tIns="0" rIns="0" bIns="0" rtlCol="0" anchor="ctr"/>
          <a:lstStyle/>
          <a:p>
            <a:pPr marL="0" indent="0">
              <a:buNone/>
            </a:pPr>
            <a:r>
              <a:rPr lang="en-US" sz="1800" b="1" dirty="0">
                <a:solidFill>
                  <a:srgbClr val="1B1F3B"/>
                </a:solidFill>
                <a:latin typeface="Cambria" pitchFamily="34" charset="0"/>
                <a:ea typeface="Cambria" pitchFamily="34" charset="-122"/>
                <a:cs typeface="Cambria" pitchFamily="34" charset="-120"/>
              </a:rPr>
              <a:t>PEGvar</a:t>
            </a:r>
            <a:endParaRPr lang="en-US" sz="1800" dirty="0"/>
          </a:p>
        </p:txBody>
      </p:sp>
      <p:sp>
        <p:nvSpPr>
          <p:cNvPr id="15" name="Text 13"/>
          <p:cNvSpPr txBox="1"/>
          <p:nvPr/>
        </p:nvSpPr>
        <p:spPr>
          <a:xfrm>
            <a:off x="4572000" y="2971800"/>
            <a:ext cx="3108960" cy="594360"/>
          </a:xfrm>
          <a:prstGeom prst="rect">
            <a:avLst/>
          </a:prstGeom>
          <a:noFill/>
          <a:ln/>
        </p:spPr>
        <p:txBody>
          <a:bodyPr wrap="square" lIns="0" tIns="0" rIns="0" bIns="0" rtlCol="0" anchor="ctr"/>
          <a:lstStyle/>
          <a:p>
            <a:pPr marL="0" indent="0">
              <a:buNone/>
            </a:pPr>
            <a:r>
              <a:rPr lang="en-US" sz="1300" dirty="0">
                <a:solidFill>
                  <a:srgbClr val="6B7280"/>
                </a:solidFill>
                <a:latin typeface="Courier New" pitchFamily="34" charset="0"/>
                <a:ea typeface="Courier New" pitchFamily="34" charset="-122"/>
                <a:cs typeface="Courier New" pitchFamily="34" charset="-120"/>
              </a:rPr>
              <a:t>Σₖ (Nₖ/N)·DFU(gₖ)</a:t>
            </a:r>
            <a:endParaRPr lang="en-US" sz="1300" dirty="0"/>
          </a:p>
        </p:txBody>
      </p:sp>
      <p:sp>
        <p:nvSpPr>
          <p:cNvPr id="16" name="Text 14"/>
          <p:cNvSpPr txBox="1"/>
          <p:nvPr/>
        </p:nvSpPr>
        <p:spPr>
          <a:xfrm>
            <a:off x="4572000" y="3657600"/>
            <a:ext cx="3108960" cy="1554480"/>
          </a:xfrm>
          <a:prstGeom prst="rect">
            <a:avLst/>
          </a:prstGeom>
          <a:noFill/>
          <a:ln/>
        </p:spPr>
        <p:txBody>
          <a:bodyPr wrap="square" lIns="0" tIns="0" rIns="0" bIns="0" rtlCol="0" anchor="ctr"/>
          <a:lstStyle/>
          <a:p>
            <a:pPr marL="0" indent="0">
              <a:lnSpc>
                <a:spcPct val="120000"/>
              </a:lnSpc>
              <a:buNone/>
            </a:pPr>
            <a:r>
              <a:rPr lang="en-US" sz="1200" dirty="0">
                <a:solidFill>
                  <a:srgbClr val="1B1F3B"/>
                </a:solidFill>
                <a:latin typeface="Calibri" pitchFamily="34" charset="0"/>
                <a:ea typeface="Calibri" pitchFamily="34" charset="-122"/>
                <a:cs typeface="Calibri" pitchFamily="34" charset="-120"/>
              </a:rPr>
              <a:t>Size-weighted average — rewards splits that explain polarization broadly, across the whole population.</a:t>
            </a:r>
            <a:endParaRPr lang="en-US" sz="1200" dirty="0"/>
          </a:p>
        </p:txBody>
      </p:sp>
      <p:sp>
        <p:nvSpPr>
          <p:cNvPr id="17" name="Shape 15"/>
          <p:cNvSpPr/>
          <p:nvPr/>
        </p:nvSpPr>
        <p:spPr>
          <a:xfrm>
            <a:off x="8138160" y="2240280"/>
            <a:ext cx="3611880" cy="3200400"/>
          </a:xfrm>
          <a:prstGeom prst="roundRect">
            <a:avLst>
              <a:gd name="adj" fmla="val 2286"/>
            </a:avLst>
          </a:prstGeom>
          <a:solidFill>
            <a:srgbClr val="F1F3FA"/>
          </a:solidFill>
          <a:ln/>
        </p:spPr>
        <p:txBody>
          <a:bodyPr/>
          <a:lstStyle/>
          <a:p>
            <a:endParaRPr lang="el-GR"/>
          </a:p>
        </p:txBody>
      </p:sp>
      <p:sp>
        <p:nvSpPr>
          <p:cNvPr id="18" name="Shape 16"/>
          <p:cNvSpPr/>
          <p:nvPr/>
        </p:nvSpPr>
        <p:spPr>
          <a:xfrm>
            <a:off x="8138160" y="2240280"/>
            <a:ext cx="3611880" cy="73152"/>
          </a:xfrm>
          <a:prstGeom prst="rect">
            <a:avLst/>
          </a:prstGeom>
          <a:solidFill>
            <a:srgbClr val="F2B705"/>
          </a:solidFill>
          <a:ln/>
        </p:spPr>
        <p:txBody>
          <a:bodyPr/>
          <a:lstStyle/>
          <a:p>
            <a:endParaRPr lang="el-GR"/>
          </a:p>
        </p:txBody>
      </p:sp>
      <p:sp>
        <p:nvSpPr>
          <p:cNvPr id="19" name="Text 17"/>
          <p:cNvSpPr txBox="1"/>
          <p:nvPr/>
        </p:nvSpPr>
        <p:spPr>
          <a:xfrm>
            <a:off x="8412480" y="2468880"/>
            <a:ext cx="3108960" cy="457200"/>
          </a:xfrm>
          <a:prstGeom prst="rect">
            <a:avLst/>
          </a:prstGeom>
          <a:noFill/>
          <a:ln/>
        </p:spPr>
        <p:txBody>
          <a:bodyPr wrap="square" lIns="0" tIns="0" rIns="0" bIns="0" rtlCol="0" anchor="ctr"/>
          <a:lstStyle/>
          <a:p>
            <a:pPr marL="0" indent="0">
              <a:buNone/>
            </a:pPr>
            <a:r>
              <a:rPr lang="en-US" sz="1800" b="1" dirty="0">
                <a:solidFill>
                  <a:srgbClr val="1B1F3B"/>
                </a:solidFill>
                <a:latin typeface="Cambria" pitchFamily="34" charset="0"/>
                <a:ea typeface="Cambria" pitchFamily="34" charset="-122"/>
                <a:cs typeface="Cambria" pitchFamily="34" charset="-120"/>
              </a:rPr>
              <a:t>PEGβ</a:t>
            </a:r>
            <a:endParaRPr lang="en-US" sz="1800" dirty="0"/>
          </a:p>
        </p:txBody>
      </p:sp>
      <p:sp>
        <p:nvSpPr>
          <p:cNvPr id="20" name="Text 18"/>
          <p:cNvSpPr txBox="1"/>
          <p:nvPr/>
        </p:nvSpPr>
        <p:spPr>
          <a:xfrm>
            <a:off x="8412480" y="2971800"/>
            <a:ext cx="3108960" cy="594360"/>
          </a:xfrm>
          <a:prstGeom prst="rect">
            <a:avLst/>
          </a:prstGeom>
          <a:noFill/>
          <a:ln/>
        </p:spPr>
        <p:txBody>
          <a:bodyPr wrap="square" lIns="0" tIns="0" rIns="0" bIns="0" rtlCol="0" anchor="ctr"/>
          <a:lstStyle/>
          <a:p>
            <a:pPr marL="0" indent="0">
              <a:buNone/>
            </a:pPr>
            <a:r>
              <a:rPr lang="en-US" sz="1300" dirty="0">
                <a:solidFill>
                  <a:srgbClr val="6B7280"/>
                </a:solidFill>
                <a:latin typeface="Courier New" pitchFamily="34" charset="0"/>
                <a:ea typeface="Courier New" pitchFamily="34" charset="-122"/>
                <a:cs typeface="Courier New" pitchFamily="34" charset="-120"/>
              </a:rPr>
              <a:t>Fβ-style harmonic mean of the two</a:t>
            </a:r>
            <a:endParaRPr lang="en-US" sz="1300" dirty="0"/>
          </a:p>
        </p:txBody>
      </p:sp>
      <p:sp>
        <p:nvSpPr>
          <p:cNvPr id="21" name="Text 19"/>
          <p:cNvSpPr txBox="1"/>
          <p:nvPr/>
        </p:nvSpPr>
        <p:spPr>
          <a:xfrm>
            <a:off x="8412480" y="3657600"/>
            <a:ext cx="3108960" cy="1554480"/>
          </a:xfrm>
          <a:prstGeom prst="rect">
            <a:avLst/>
          </a:prstGeom>
          <a:noFill/>
          <a:ln/>
        </p:spPr>
        <p:txBody>
          <a:bodyPr wrap="square" lIns="0" tIns="0" rIns="0" bIns="0" rtlCol="0" anchor="ctr"/>
          <a:lstStyle/>
          <a:p>
            <a:pPr marL="0" indent="0">
              <a:lnSpc>
                <a:spcPct val="120000"/>
              </a:lnSpc>
              <a:buNone/>
            </a:pPr>
            <a:r>
              <a:rPr lang="en-US" sz="1200" dirty="0">
                <a:solidFill>
                  <a:srgbClr val="1B1F3B"/>
                </a:solidFill>
                <a:latin typeface="Calibri" pitchFamily="34" charset="0"/>
                <a:ea typeface="Calibri" pitchFamily="34" charset="-122"/>
                <a:cs typeface="Calibri" pitchFamily="34" charset="-120"/>
              </a:rPr>
              <a:t>Balances greedy and broad views. β sets the trade-off.</a:t>
            </a:r>
            <a:endParaRPr lang="en-US" sz="1200" dirty="0"/>
          </a:p>
        </p:txBody>
      </p:sp>
      <p:sp>
        <p:nvSpPr>
          <p:cNvPr id="22" name="Text 20"/>
          <p:cNvSpPr txBox="1"/>
          <p:nvPr/>
        </p:nvSpPr>
        <p:spPr>
          <a:xfrm>
            <a:off x="457200" y="5623560"/>
            <a:ext cx="11247120" cy="640080"/>
          </a:xfrm>
          <a:prstGeom prst="rect">
            <a:avLst/>
          </a:prstGeom>
          <a:noFill/>
          <a:ln/>
        </p:spPr>
        <p:txBody>
          <a:bodyPr wrap="square" lIns="0" tIns="0" rIns="0" bIns="0" rtlCol="0" anchor="ctr"/>
          <a:lstStyle/>
          <a:p>
            <a:pPr marL="0" indent="0">
              <a:buNone/>
            </a:pPr>
            <a:r>
              <a:rPr lang="en-US" sz="1600" b="1" dirty="0">
                <a:solidFill>
                  <a:srgbClr val="1B1F3B"/>
                </a:solidFill>
                <a:latin typeface="Calibri" pitchFamily="34" charset="0"/>
                <a:ea typeface="Calibri" pitchFamily="34" charset="-122"/>
                <a:cs typeface="Calibri" pitchFamily="34" charset="-120"/>
              </a:rPr>
              <a:t>Normalization: </a:t>
            </a:r>
            <a:r>
              <a:rPr lang="en-US" sz="1600" dirty="0">
                <a:solidFill>
                  <a:srgbClr val="6B7280"/>
                </a:solidFill>
                <a:latin typeface="Calibri" pitchFamily="34" charset="0"/>
                <a:ea typeface="Calibri" pitchFamily="34" charset="-122"/>
                <a:cs typeface="Calibri" pitchFamily="34" charset="-120"/>
              </a:rPr>
              <a:t>PEG is divided by the item's global DFU, so the score reflects polarization explained relative to the item's overall polarization — comparable across easy and hard items.</a:t>
            </a:r>
            <a:endParaRPr lang="en-US" sz="1600" dirty="0"/>
          </a:p>
        </p:txBody>
      </p:sp>
      <p:sp>
        <p:nvSpPr>
          <p:cNvPr id="23" name="Text 21"/>
          <p:cNvSpPr txBox="1"/>
          <p:nvPr/>
        </p:nvSpPr>
        <p:spPr>
          <a:xfrm>
            <a:off x="11521440" y="6473952"/>
            <a:ext cx="548640" cy="274320"/>
          </a:xfrm>
          <a:prstGeom prst="rect">
            <a:avLst/>
          </a:prstGeom>
          <a:noFill/>
          <a:ln/>
        </p:spPr>
        <p:txBody>
          <a:bodyPr wrap="square" lIns="0" tIns="0" rIns="0" bIns="0" rtlCol="0" anchor="ctr"/>
          <a:lstStyle/>
          <a:p>
            <a:pPr marL="0" indent="0" algn="r">
              <a:buNone/>
            </a:pPr>
            <a:r>
              <a:rPr lang="en-US" sz="1000" dirty="0">
                <a:solidFill>
                  <a:srgbClr val="B7BCD0"/>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201168" cy="201168"/>
          </a:xfrm>
          <a:prstGeom prst="pie">
            <a:avLst>
              <a:gd name="adj1" fmla="val 16200000"/>
              <a:gd name="adj2" fmla="val 5400000"/>
            </a:avLst>
          </a:prstGeom>
          <a:solidFill>
            <a:srgbClr val="E4572E"/>
          </a:solidFill>
          <a:ln/>
        </p:spPr>
        <p:txBody>
          <a:bodyPr/>
          <a:lstStyle/>
          <a:p>
            <a:endParaRPr lang="el-GR"/>
          </a:p>
        </p:txBody>
      </p:sp>
      <p:sp>
        <p:nvSpPr>
          <p:cNvPr id="3" name="Shape 1"/>
          <p:cNvSpPr/>
          <p:nvPr/>
        </p:nvSpPr>
        <p:spPr>
          <a:xfrm>
            <a:off x="457200" y="457200"/>
            <a:ext cx="201168" cy="201168"/>
          </a:xfrm>
          <a:prstGeom prst="pie">
            <a:avLst>
              <a:gd name="adj1" fmla="val 5400000"/>
              <a:gd name="adj2" fmla="val 16200000"/>
            </a:avLst>
          </a:prstGeom>
          <a:solidFill>
            <a:srgbClr val="2F6FED"/>
          </a:solidFill>
          <a:ln/>
        </p:spPr>
        <p:txBody>
          <a:bodyPr/>
          <a:lstStyle/>
          <a:p>
            <a:endParaRPr lang="el-GR"/>
          </a:p>
        </p:txBody>
      </p:sp>
      <p:sp>
        <p:nvSpPr>
          <p:cNvPr id="4" name="Text 2"/>
          <p:cNvSpPr txBox="1"/>
          <p:nvPr/>
        </p:nvSpPr>
        <p:spPr>
          <a:xfrm>
            <a:off x="777240" y="384048"/>
            <a:ext cx="7315200" cy="320040"/>
          </a:xfrm>
          <a:prstGeom prst="rect">
            <a:avLst/>
          </a:prstGeom>
          <a:noFill/>
          <a:ln/>
        </p:spPr>
        <p:txBody>
          <a:bodyPr wrap="square" lIns="0" tIns="0" rIns="0" bIns="0" rtlCol="0" anchor="ctr"/>
          <a:lstStyle/>
          <a:p>
            <a:pPr marL="0" indent="0">
              <a:buNone/>
            </a:pPr>
            <a:r>
              <a:rPr lang="en-US" sz="1100" b="1" kern="0" spc="200" dirty="0">
                <a:solidFill>
                  <a:srgbClr val="6B7280"/>
                </a:solidFill>
                <a:latin typeface="Calibri" pitchFamily="34" charset="0"/>
                <a:ea typeface="Calibri" pitchFamily="34" charset="-122"/>
                <a:cs typeface="Calibri" pitchFamily="34" charset="-120"/>
              </a:rPr>
              <a:t>EVALUATION, PART 1</a:t>
            </a:r>
            <a:endParaRPr lang="en-US" sz="1100" dirty="0"/>
          </a:p>
        </p:txBody>
      </p:sp>
      <p:sp>
        <p:nvSpPr>
          <p:cNvPr id="5" name="Text 3"/>
          <p:cNvSpPr txBox="1"/>
          <p:nvPr/>
        </p:nvSpPr>
        <p:spPr>
          <a:xfrm>
            <a:off x="457200" y="713232"/>
            <a:ext cx="11247120" cy="777240"/>
          </a:xfrm>
          <a:prstGeom prst="rect">
            <a:avLst/>
          </a:prstGeom>
          <a:noFill/>
          <a:ln/>
        </p:spPr>
        <p:txBody>
          <a:bodyPr wrap="square" lIns="0" tIns="0" rIns="0" bIns="0" rtlCol="0" anchor="ctr"/>
          <a:lstStyle/>
          <a:p>
            <a:pPr marL="0" indent="0">
              <a:buNone/>
            </a:pPr>
            <a:r>
              <a:rPr lang="en-US" sz="3000" b="1" dirty="0">
                <a:solidFill>
                  <a:srgbClr val="1B1F3B"/>
                </a:solidFill>
                <a:latin typeface="Cambria" pitchFamily="34" charset="0"/>
                <a:ea typeface="Cambria" pitchFamily="34" charset="-122"/>
                <a:cs typeface="Cambria" pitchFamily="34" charset="-120"/>
              </a:rPr>
              <a:t>Picking hyperparameters on synthetic data with known ground truth</a:t>
            </a:r>
            <a:endParaRPr lang="en-US" sz="3000" dirty="0"/>
          </a:p>
        </p:txBody>
      </p:sp>
      <p:sp>
        <p:nvSpPr>
          <p:cNvPr id="6" name="Text 4"/>
          <p:cNvSpPr txBox="1"/>
          <p:nvPr/>
        </p:nvSpPr>
        <p:spPr>
          <a:xfrm>
            <a:off x="457200" y="1828800"/>
            <a:ext cx="5212080" cy="3931920"/>
          </a:xfrm>
          <a:prstGeom prst="rect">
            <a:avLst/>
          </a:prstGeom>
          <a:noFill/>
          <a:ln/>
        </p:spPr>
        <p:txBody>
          <a:bodyPr wrap="square" lIns="0" tIns="0" rIns="0" bIns="0" rtlCol="0" anchor="ctr"/>
          <a:lstStyle/>
          <a:p>
            <a:pPr marL="0" indent="0">
              <a:lnSpc>
                <a:spcPct val="125000"/>
              </a:lnSpc>
              <a:buNone/>
            </a:pPr>
            <a:r>
              <a:rPr lang="en-US" sz="1300" b="1" dirty="0">
                <a:solidFill>
                  <a:srgbClr val="1B1F3B"/>
                </a:solidFill>
                <a:latin typeface="Calibri" pitchFamily="34" charset="0"/>
                <a:ea typeface="Calibri" pitchFamily="34" charset="-122"/>
                <a:cs typeface="Calibri" pitchFamily="34" charset="-120"/>
              </a:rPr>
              <a:t>Why synthetic first: </a:t>
            </a:r>
            <a:endParaRPr lang="en-US" sz="1300" dirty="0"/>
          </a:p>
          <a:p>
            <a:pPr marL="0" indent="0">
              <a:lnSpc>
                <a:spcPct val="125000"/>
              </a:lnSpc>
              <a:spcAft>
                <a:spcPts val="1000"/>
              </a:spcAft>
              <a:buNone/>
            </a:pPr>
            <a:r>
              <a:rPr lang="en-US" sz="1300" dirty="0">
                <a:solidFill>
                  <a:srgbClr val="6B7280"/>
                </a:solidFill>
                <a:latin typeface="Calibri" pitchFamily="34" charset="0"/>
                <a:ea typeface="Calibri" pitchFamily="34" charset="-122"/>
                <a:cs typeface="Calibri" pitchFamily="34" charset="-120"/>
              </a:rPr>
              <a:t>real datasets do not have polarization ground-truth to check recovery against.</a:t>
            </a:r>
            <a:endParaRPr lang="en-US" sz="1300" dirty="0"/>
          </a:p>
          <a:p>
            <a:pPr marL="0" indent="0">
              <a:lnSpc>
                <a:spcPct val="125000"/>
              </a:lnSpc>
              <a:buNone/>
            </a:pPr>
            <a:r>
              <a:rPr lang="en-US" sz="1300" b="1" dirty="0">
                <a:solidFill>
                  <a:srgbClr val="1B1F3B"/>
                </a:solidFill>
                <a:latin typeface="Calibri" pitchFamily="34" charset="0"/>
                <a:ea typeface="Calibri" pitchFamily="34" charset="-122"/>
                <a:cs typeface="Calibri" pitchFamily="34" charset="-120"/>
              </a:rPr>
              <a:t>Setup: </a:t>
            </a:r>
            <a:endParaRPr lang="en-US" sz="1300" dirty="0"/>
          </a:p>
          <a:p>
            <a:pPr marL="0" indent="0">
              <a:lnSpc>
                <a:spcPct val="125000"/>
              </a:lnSpc>
              <a:spcAft>
                <a:spcPts val="1000"/>
              </a:spcAft>
              <a:buNone/>
            </a:pPr>
            <a:r>
              <a:rPr lang="en-US" sz="1300" dirty="0">
                <a:solidFill>
                  <a:srgbClr val="6B7280"/>
                </a:solidFill>
                <a:latin typeface="Calibri" pitchFamily="34" charset="0"/>
                <a:ea typeface="Calibri" pitchFamily="34" charset="-122"/>
                <a:cs typeface="Calibri" pitchFamily="34" charset="-120"/>
              </a:rPr>
              <a:t>5 SCD dimensions × 162 intersectional identities × 10 annotators = 1,620-annotator pool; each text gets 0–4 active dimensions at a controlled strength α.</a:t>
            </a:r>
            <a:endParaRPr lang="en-US" sz="1300" dirty="0"/>
          </a:p>
          <a:p>
            <a:pPr marL="0" indent="0">
              <a:lnSpc>
                <a:spcPct val="125000"/>
              </a:lnSpc>
              <a:buNone/>
            </a:pPr>
            <a:r>
              <a:rPr lang="en-US" sz="1300" b="1" dirty="0">
                <a:solidFill>
                  <a:srgbClr val="1B1F3B"/>
                </a:solidFill>
                <a:latin typeface="Calibri" pitchFamily="34" charset="0"/>
                <a:ea typeface="Calibri" pitchFamily="34" charset="-122"/>
                <a:cs typeface="Calibri" pitchFamily="34" charset="-120"/>
              </a:rPr>
              <a:t>Search: </a:t>
            </a:r>
            <a:endParaRPr lang="en-US" sz="1300" dirty="0"/>
          </a:p>
          <a:p>
            <a:pPr marL="0" indent="0">
              <a:lnSpc>
                <a:spcPct val="125000"/>
              </a:lnSpc>
              <a:buNone/>
            </a:pPr>
            <a:r>
              <a:rPr lang="en-US" sz="1300" dirty="0">
                <a:solidFill>
                  <a:srgbClr val="6B7280"/>
                </a:solidFill>
                <a:latin typeface="Calibri" pitchFamily="34" charset="0"/>
                <a:ea typeface="Calibri" pitchFamily="34" charset="-122"/>
                <a:cs typeface="Calibri" pitchFamily="34" charset="-120"/>
              </a:rPr>
              <a:t>3,240-combination grid (θ, min size, depth, PEG type, h, θstop); 800 configs sampled × 3 corpora = 2,400 runs, ranked by mean Jaccard vs. the known structure.</a:t>
            </a:r>
            <a:endParaRPr lang="en-US" sz="1300" dirty="0"/>
          </a:p>
        </p:txBody>
      </p:sp>
      <p:sp>
        <p:nvSpPr>
          <p:cNvPr id="7" name="Text 5"/>
          <p:cNvSpPr txBox="1"/>
          <p:nvPr/>
        </p:nvSpPr>
        <p:spPr>
          <a:xfrm>
            <a:off x="5943600" y="1828800"/>
            <a:ext cx="5760720" cy="365760"/>
          </a:xfrm>
          <a:prstGeom prst="rect">
            <a:avLst/>
          </a:prstGeom>
          <a:noFill/>
          <a:ln/>
        </p:spPr>
        <p:txBody>
          <a:bodyPr wrap="square" lIns="0" tIns="0" rIns="0" bIns="0" rtlCol="0" anchor="ctr"/>
          <a:lstStyle/>
          <a:p>
            <a:pPr marL="0" indent="0">
              <a:buNone/>
            </a:pPr>
            <a:r>
              <a:rPr lang="en-US" sz="1250" b="1" dirty="0">
                <a:solidFill>
                  <a:srgbClr val="1B1F3B"/>
                </a:solidFill>
                <a:latin typeface="Calibri" pitchFamily="34" charset="0"/>
                <a:ea typeface="Calibri" pitchFamily="34" charset="-122"/>
                <a:cs typeface="Calibri" pitchFamily="34" charset="-120"/>
              </a:rPr>
              <a:t>Normalizing PEG stabilizes recovery across the gain threshold h</a:t>
            </a:r>
            <a:endParaRPr lang="en-US" sz="1250" dirty="0"/>
          </a:p>
        </p:txBody>
      </p:sp>
      <p:graphicFrame>
        <p:nvGraphicFramePr>
          <p:cNvPr id="8" name="Chart 0"/>
          <p:cNvGraphicFramePr/>
          <p:nvPr/>
        </p:nvGraphicFramePr>
        <p:xfrm>
          <a:off x="5943600" y="2240280"/>
          <a:ext cx="5760720"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6"/>
          <p:cNvSpPr txBox="1"/>
          <p:nvPr/>
        </p:nvSpPr>
        <p:spPr>
          <a:xfrm>
            <a:off x="11521440" y="6473952"/>
            <a:ext cx="548640" cy="274320"/>
          </a:xfrm>
          <a:prstGeom prst="rect">
            <a:avLst/>
          </a:prstGeom>
          <a:noFill/>
          <a:ln/>
        </p:spPr>
        <p:txBody>
          <a:bodyPr wrap="square" lIns="0" tIns="0" rIns="0" bIns="0" rtlCol="0" anchor="ctr"/>
          <a:lstStyle/>
          <a:p>
            <a:pPr marL="0" indent="0" algn="r">
              <a:buNone/>
            </a:pPr>
            <a:r>
              <a:rPr lang="en-US" sz="1000" dirty="0">
                <a:solidFill>
                  <a:srgbClr val="B7BCD0"/>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201168" cy="201168"/>
          </a:xfrm>
          <a:prstGeom prst="pie">
            <a:avLst>
              <a:gd name="adj1" fmla="val 16200000"/>
              <a:gd name="adj2" fmla="val 5400000"/>
            </a:avLst>
          </a:prstGeom>
          <a:solidFill>
            <a:srgbClr val="E4572E"/>
          </a:solidFill>
          <a:ln/>
        </p:spPr>
        <p:txBody>
          <a:bodyPr/>
          <a:lstStyle/>
          <a:p>
            <a:endParaRPr lang="el-GR"/>
          </a:p>
        </p:txBody>
      </p:sp>
      <p:sp>
        <p:nvSpPr>
          <p:cNvPr id="3" name="Shape 1"/>
          <p:cNvSpPr/>
          <p:nvPr/>
        </p:nvSpPr>
        <p:spPr>
          <a:xfrm>
            <a:off x="457200" y="457200"/>
            <a:ext cx="201168" cy="201168"/>
          </a:xfrm>
          <a:prstGeom prst="pie">
            <a:avLst>
              <a:gd name="adj1" fmla="val 5400000"/>
              <a:gd name="adj2" fmla="val 16200000"/>
            </a:avLst>
          </a:prstGeom>
          <a:solidFill>
            <a:srgbClr val="2F6FED"/>
          </a:solidFill>
          <a:ln/>
        </p:spPr>
        <p:txBody>
          <a:bodyPr/>
          <a:lstStyle/>
          <a:p>
            <a:endParaRPr lang="el-GR"/>
          </a:p>
        </p:txBody>
      </p:sp>
      <p:sp>
        <p:nvSpPr>
          <p:cNvPr id="4" name="Text 2"/>
          <p:cNvSpPr txBox="1"/>
          <p:nvPr/>
        </p:nvSpPr>
        <p:spPr>
          <a:xfrm>
            <a:off x="777240" y="384048"/>
            <a:ext cx="7315200" cy="320040"/>
          </a:xfrm>
          <a:prstGeom prst="rect">
            <a:avLst/>
          </a:prstGeom>
          <a:noFill/>
          <a:ln/>
        </p:spPr>
        <p:txBody>
          <a:bodyPr wrap="square" lIns="0" tIns="0" rIns="0" bIns="0" rtlCol="0" anchor="ctr"/>
          <a:lstStyle/>
          <a:p>
            <a:pPr marL="0" indent="0">
              <a:buNone/>
            </a:pPr>
            <a:r>
              <a:rPr lang="en-US" sz="1100" b="1" kern="0" spc="200" dirty="0">
                <a:solidFill>
                  <a:srgbClr val="6B7280"/>
                </a:solidFill>
                <a:latin typeface="Calibri" pitchFamily="34" charset="0"/>
                <a:ea typeface="Calibri" pitchFamily="34" charset="-122"/>
                <a:cs typeface="Calibri" pitchFamily="34" charset="-120"/>
              </a:rPr>
              <a:t>EVALUATION, PART 2</a:t>
            </a:r>
            <a:endParaRPr lang="en-US" sz="1100" dirty="0"/>
          </a:p>
        </p:txBody>
      </p:sp>
      <p:sp>
        <p:nvSpPr>
          <p:cNvPr id="5" name="Text 3"/>
          <p:cNvSpPr txBox="1"/>
          <p:nvPr/>
        </p:nvSpPr>
        <p:spPr>
          <a:xfrm>
            <a:off x="457200" y="713232"/>
            <a:ext cx="11247120" cy="777240"/>
          </a:xfrm>
          <a:prstGeom prst="rect">
            <a:avLst/>
          </a:prstGeom>
          <a:noFill/>
          <a:ln/>
        </p:spPr>
        <p:txBody>
          <a:bodyPr wrap="square" lIns="0" tIns="0" rIns="0" bIns="0" rtlCol="0" anchor="ctr"/>
          <a:lstStyle/>
          <a:p>
            <a:pPr marL="0" indent="0">
              <a:buNone/>
            </a:pPr>
            <a:r>
              <a:rPr lang="en-US" sz="3000" b="1" dirty="0">
                <a:solidFill>
                  <a:srgbClr val="1B1F3B"/>
                </a:solidFill>
                <a:latin typeface="Cambria" pitchFamily="34" charset="0"/>
                <a:ea typeface="Cambria" pitchFamily="34" charset="-122"/>
                <a:cs typeface="Cambria" pitchFamily="34" charset="-120"/>
              </a:rPr>
              <a:t>Selected configuration recovers the true structure well</a:t>
            </a:r>
            <a:endParaRPr lang="en-US" sz="3000" dirty="0"/>
          </a:p>
        </p:txBody>
      </p:sp>
      <p:sp>
        <p:nvSpPr>
          <p:cNvPr id="6" name="Text 4"/>
          <p:cNvSpPr txBox="1"/>
          <p:nvPr/>
        </p:nvSpPr>
        <p:spPr>
          <a:xfrm>
            <a:off x="457200" y="1737360"/>
            <a:ext cx="11247120" cy="411480"/>
          </a:xfrm>
          <a:prstGeom prst="rect">
            <a:avLst/>
          </a:prstGeom>
          <a:solidFill>
            <a:srgbClr val="1B1F3B"/>
          </a:solidFill>
          <a:ln/>
        </p:spPr>
        <p:txBody>
          <a:bodyPr wrap="square" lIns="76200" tIns="76200" rIns="76200" bIns="76200" rtlCol="0" anchor="ctr"/>
          <a:lstStyle/>
          <a:p>
            <a:pPr marL="0" indent="0" algn="ctr">
              <a:buNone/>
            </a:pPr>
            <a:r>
              <a:rPr lang="en-US" sz="1300" dirty="0">
                <a:solidFill>
                  <a:srgbClr val="FFFFFF"/>
                </a:solidFill>
                <a:latin typeface="Courier New" pitchFamily="34" charset="0"/>
                <a:ea typeface="Courier New" pitchFamily="34" charset="-122"/>
                <a:cs typeface="Courier New" pitchFamily="34" charset="-120"/>
              </a:rPr>
              <a:t>θ=0.3   min_size=0.03   max_depth=8   PEGβ (β=1.0)   h=0.15   relative_h=True   θstop=0.10</a:t>
            </a:r>
            <a:endParaRPr lang="en-US" sz="1300" dirty="0"/>
          </a:p>
        </p:txBody>
      </p:sp>
      <p:sp>
        <p:nvSpPr>
          <p:cNvPr id="7" name="Shape 5"/>
          <p:cNvSpPr/>
          <p:nvPr/>
        </p:nvSpPr>
        <p:spPr>
          <a:xfrm>
            <a:off x="457200" y="2514600"/>
            <a:ext cx="2697480" cy="1828800"/>
          </a:xfrm>
          <a:prstGeom prst="roundRect">
            <a:avLst>
              <a:gd name="adj" fmla="val 4000"/>
            </a:avLst>
          </a:prstGeom>
          <a:solidFill>
            <a:srgbClr val="F1F3FA"/>
          </a:solidFill>
          <a:ln/>
        </p:spPr>
        <p:txBody>
          <a:bodyPr/>
          <a:lstStyle/>
          <a:p>
            <a:endParaRPr lang="el-GR"/>
          </a:p>
        </p:txBody>
      </p:sp>
      <p:sp>
        <p:nvSpPr>
          <p:cNvPr id="8" name="Text 6"/>
          <p:cNvSpPr txBox="1"/>
          <p:nvPr/>
        </p:nvSpPr>
        <p:spPr>
          <a:xfrm>
            <a:off x="457200" y="2651760"/>
            <a:ext cx="2697480" cy="868680"/>
          </a:xfrm>
          <a:prstGeom prst="rect">
            <a:avLst/>
          </a:prstGeom>
          <a:noFill/>
          <a:ln/>
        </p:spPr>
        <p:txBody>
          <a:bodyPr wrap="square" lIns="0" tIns="0" rIns="0" bIns="0" rtlCol="0" anchor="ctr"/>
          <a:lstStyle/>
          <a:p>
            <a:pPr marL="0" indent="0" algn="ctr">
              <a:buNone/>
            </a:pPr>
            <a:r>
              <a:rPr lang="en-US" sz="3400" b="1" dirty="0">
                <a:solidFill>
                  <a:srgbClr val="1B1F3B"/>
                </a:solidFill>
                <a:latin typeface="Cambria" pitchFamily="34" charset="0"/>
                <a:ea typeface="Cambria" pitchFamily="34" charset="-122"/>
                <a:cs typeface="Cambria" pitchFamily="34" charset="-120"/>
              </a:rPr>
              <a:t>0.892</a:t>
            </a:r>
            <a:endParaRPr lang="en-US" sz="3400" dirty="0"/>
          </a:p>
        </p:txBody>
      </p:sp>
      <p:sp>
        <p:nvSpPr>
          <p:cNvPr id="9" name="Text 7"/>
          <p:cNvSpPr txBox="1"/>
          <p:nvPr/>
        </p:nvSpPr>
        <p:spPr>
          <a:xfrm>
            <a:off x="457200" y="3520440"/>
            <a:ext cx="2697480" cy="320040"/>
          </a:xfrm>
          <a:prstGeom prst="rect">
            <a:avLst/>
          </a:prstGeom>
          <a:noFill/>
          <a:ln/>
        </p:spPr>
        <p:txBody>
          <a:bodyPr wrap="square" lIns="0" tIns="0" rIns="0" bIns="0" rtlCol="0" anchor="ctr"/>
          <a:lstStyle/>
          <a:p>
            <a:pPr marL="0" indent="0" algn="ctr">
              <a:buNone/>
            </a:pPr>
            <a:r>
              <a:rPr lang="en-US" sz="1250" b="1" dirty="0">
                <a:solidFill>
                  <a:srgbClr val="1B1F3B"/>
                </a:solidFill>
                <a:latin typeface="Calibri" pitchFamily="34" charset="0"/>
                <a:ea typeface="Calibri" pitchFamily="34" charset="-122"/>
                <a:cs typeface="Calibri" pitchFamily="34" charset="-120"/>
              </a:rPr>
              <a:t>Mean Jaccard</a:t>
            </a:r>
            <a:endParaRPr lang="en-US" sz="1250" dirty="0"/>
          </a:p>
        </p:txBody>
      </p:sp>
      <p:sp>
        <p:nvSpPr>
          <p:cNvPr id="10" name="Text 8"/>
          <p:cNvSpPr txBox="1"/>
          <p:nvPr/>
        </p:nvSpPr>
        <p:spPr>
          <a:xfrm>
            <a:off x="594360" y="3840480"/>
            <a:ext cx="2423160" cy="411480"/>
          </a:xfrm>
          <a:prstGeom prst="rect">
            <a:avLst/>
          </a:prstGeom>
          <a:noFill/>
          <a:ln/>
        </p:spPr>
        <p:txBody>
          <a:bodyPr wrap="square" lIns="0" tIns="0" rIns="0" bIns="0" rtlCol="0" anchor="ctr"/>
          <a:lstStyle/>
          <a:p>
            <a:pPr marL="0" indent="0" algn="ctr">
              <a:buNone/>
            </a:pPr>
            <a:r>
              <a:rPr lang="en-US" sz="1000" dirty="0">
                <a:solidFill>
                  <a:srgbClr val="6B7280"/>
                </a:solidFill>
                <a:latin typeface="Calibri" pitchFamily="34" charset="0"/>
                <a:ea typeface="Calibri" pitchFamily="34" charset="-122"/>
                <a:cs typeface="Calibri" pitchFamily="34" charset="-120"/>
              </a:rPr>
              <a:t>across 3 synthetic corpora</a:t>
            </a:r>
            <a:endParaRPr lang="en-US" sz="1000" dirty="0"/>
          </a:p>
        </p:txBody>
      </p:sp>
      <p:sp>
        <p:nvSpPr>
          <p:cNvPr id="11" name="Shape 9"/>
          <p:cNvSpPr/>
          <p:nvPr/>
        </p:nvSpPr>
        <p:spPr>
          <a:xfrm>
            <a:off x="3291840" y="2514600"/>
            <a:ext cx="2697480" cy="1828800"/>
          </a:xfrm>
          <a:prstGeom prst="roundRect">
            <a:avLst>
              <a:gd name="adj" fmla="val 4000"/>
            </a:avLst>
          </a:prstGeom>
          <a:solidFill>
            <a:srgbClr val="F1F3FA"/>
          </a:solidFill>
          <a:ln/>
        </p:spPr>
        <p:txBody>
          <a:bodyPr/>
          <a:lstStyle/>
          <a:p>
            <a:endParaRPr lang="el-GR"/>
          </a:p>
        </p:txBody>
      </p:sp>
      <p:sp>
        <p:nvSpPr>
          <p:cNvPr id="12" name="Text 10"/>
          <p:cNvSpPr txBox="1"/>
          <p:nvPr/>
        </p:nvSpPr>
        <p:spPr>
          <a:xfrm>
            <a:off x="3291840" y="2651760"/>
            <a:ext cx="2697480" cy="868680"/>
          </a:xfrm>
          <a:prstGeom prst="rect">
            <a:avLst/>
          </a:prstGeom>
          <a:noFill/>
          <a:ln/>
        </p:spPr>
        <p:txBody>
          <a:bodyPr wrap="square" lIns="0" tIns="0" rIns="0" bIns="0" rtlCol="0" anchor="ctr"/>
          <a:lstStyle/>
          <a:p>
            <a:pPr marL="0" indent="0" algn="ctr">
              <a:buNone/>
            </a:pPr>
            <a:r>
              <a:rPr lang="en-US" sz="3400" b="1" dirty="0">
                <a:solidFill>
                  <a:srgbClr val="1B1F3B"/>
                </a:solidFill>
                <a:latin typeface="Cambria" pitchFamily="34" charset="0"/>
                <a:ea typeface="Cambria" pitchFamily="34" charset="-122"/>
                <a:cs typeface="Cambria" pitchFamily="34" charset="-120"/>
              </a:rPr>
              <a:t>0.948</a:t>
            </a:r>
            <a:endParaRPr lang="en-US" sz="3400" dirty="0"/>
          </a:p>
        </p:txBody>
      </p:sp>
      <p:sp>
        <p:nvSpPr>
          <p:cNvPr id="13" name="Text 11"/>
          <p:cNvSpPr txBox="1"/>
          <p:nvPr/>
        </p:nvSpPr>
        <p:spPr>
          <a:xfrm>
            <a:off x="3291840" y="3520440"/>
            <a:ext cx="2697480" cy="320040"/>
          </a:xfrm>
          <a:prstGeom prst="rect">
            <a:avLst/>
          </a:prstGeom>
          <a:noFill/>
          <a:ln/>
        </p:spPr>
        <p:txBody>
          <a:bodyPr wrap="square" lIns="0" tIns="0" rIns="0" bIns="0" rtlCol="0" anchor="ctr"/>
          <a:lstStyle/>
          <a:p>
            <a:pPr marL="0" indent="0" algn="ctr">
              <a:buNone/>
            </a:pPr>
            <a:r>
              <a:rPr lang="en-US" sz="1250" b="1" dirty="0">
                <a:solidFill>
                  <a:srgbClr val="1B1F3B"/>
                </a:solidFill>
                <a:latin typeface="Calibri" pitchFamily="34" charset="0"/>
                <a:ea typeface="Calibri" pitchFamily="34" charset="-122"/>
                <a:cs typeface="Calibri" pitchFamily="34" charset="-120"/>
              </a:rPr>
              <a:t>Precision</a:t>
            </a:r>
            <a:endParaRPr lang="en-US" sz="1250" dirty="0"/>
          </a:p>
        </p:txBody>
      </p:sp>
      <p:sp>
        <p:nvSpPr>
          <p:cNvPr id="14" name="Text 12"/>
          <p:cNvSpPr txBox="1"/>
          <p:nvPr/>
        </p:nvSpPr>
        <p:spPr>
          <a:xfrm>
            <a:off x="3429000" y="3840480"/>
            <a:ext cx="2423160" cy="411480"/>
          </a:xfrm>
          <a:prstGeom prst="rect">
            <a:avLst/>
          </a:prstGeom>
          <a:noFill/>
          <a:ln/>
        </p:spPr>
        <p:txBody>
          <a:bodyPr wrap="square" lIns="0" tIns="0" rIns="0" bIns="0" rtlCol="0" anchor="ctr"/>
          <a:lstStyle/>
          <a:p>
            <a:pPr marL="0" indent="0" algn="ctr">
              <a:buNone/>
            </a:pPr>
            <a:r>
              <a:rPr lang="en-US" sz="1000" dirty="0">
                <a:solidFill>
                  <a:srgbClr val="6B7280"/>
                </a:solidFill>
                <a:latin typeface="Calibri" pitchFamily="34" charset="0"/>
                <a:ea typeface="Calibri" pitchFamily="34" charset="-122"/>
                <a:cs typeface="Calibri" pitchFamily="34" charset="-120"/>
              </a:rPr>
              <a:t>correctness of recovered dims</a:t>
            </a:r>
            <a:endParaRPr lang="en-US" sz="1000" dirty="0"/>
          </a:p>
        </p:txBody>
      </p:sp>
      <p:sp>
        <p:nvSpPr>
          <p:cNvPr id="15" name="Shape 13"/>
          <p:cNvSpPr/>
          <p:nvPr/>
        </p:nvSpPr>
        <p:spPr>
          <a:xfrm>
            <a:off x="6126480" y="2514600"/>
            <a:ext cx="2697480" cy="1828800"/>
          </a:xfrm>
          <a:prstGeom prst="roundRect">
            <a:avLst>
              <a:gd name="adj" fmla="val 4000"/>
            </a:avLst>
          </a:prstGeom>
          <a:solidFill>
            <a:srgbClr val="F1F3FA"/>
          </a:solidFill>
          <a:ln/>
        </p:spPr>
        <p:txBody>
          <a:bodyPr/>
          <a:lstStyle/>
          <a:p>
            <a:endParaRPr lang="el-GR"/>
          </a:p>
        </p:txBody>
      </p:sp>
      <p:sp>
        <p:nvSpPr>
          <p:cNvPr id="16" name="Text 14"/>
          <p:cNvSpPr txBox="1"/>
          <p:nvPr/>
        </p:nvSpPr>
        <p:spPr>
          <a:xfrm>
            <a:off x="6126480" y="2651760"/>
            <a:ext cx="2697480" cy="868680"/>
          </a:xfrm>
          <a:prstGeom prst="rect">
            <a:avLst/>
          </a:prstGeom>
          <a:noFill/>
          <a:ln/>
        </p:spPr>
        <p:txBody>
          <a:bodyPr wrap="square" lIns="0" tIns="0" rIns="0" bIns="0" rtlCol="0" anchor="ctr"/>
          <a:lstStyle/>
          <a:p>
            <a:pPr marL="0" indent="0" algn="ctr">
              <a:buNone/>
            </a:pPr>
            <a:r>
              <a:rPr lang="en-US" sz="3400" b="1" dirty="0">
                <a:solidFill>
                  <a:srgbClr val="1B1F3B"/>
                </a:solidFill>
                <a:latin typeface="Cambria" pitchFamily="34" charset="0"/>
                <a:ea typeface="Cambria" pitchFamily="34" charset="-122"/>
                <a:cs typeface="Cambria" pitchFamily="34" charset="-120"/>
              </a:rPr>
              <a:t>0.932</a:t>
            </a:r>
            <a:endParaRPr lang="en-US" sz="3400" dirty="0"/>
          </a:p>
        </p:txBody>
      </p:sp>
      <p:sp>
        <p:nvSpPr>
          <p:cNvPr id="17" name="Text 15"/>
          <p:cNvSpPr txBox="1"/>
          <p:nvPr/>
        </p:nvSpPr>
        <p:spPr>
          <a:xfrm>
            <a:off x="6126480" y="3520440"/>
            <a:ext cx="2697480" cy="320040"/>
          </a:xfrm>
          <a:prstGeom prst="rect">
            <a:avLst/>
          </a:prstGeom>
          <a:noFill/>
          <a:ln/>
        </p:spPr>
        <p:txBody>
          <a:bodyPr wrap="square" lIns="0" tIns="0" rIns="0" bIns="0" rtlCol="0" anchor="ctr"/>
          <a:lstStyle/>
          <a:p>
            <a:pPr marL="0" indent="0" algn="ctr">
              <a:buNone/>
            </a:pPr>
            <a:r>
              <a:rPr lang="en-US" sz="1250" b="1" dirty="0">
                <a:solidFill>
                  <a:srgbClr val="1B1F3B"/>
                </a:solidFill>
                <a:latin typeface="Calibri" pitchFamily="34" charset="0"/>
                <a:ea typeface="Calibri" pitchFamily="34" charset="-122"/>
                <a:cs typeface="Calibri" pitchFamily="34" charset="-120"/>
              </a:rPr>
              <a:t>Recall</a:t>
            </a:r>
            <a:endParaRPr lang="en-US" sz="1250" dirty="0"/>
          </a:p>
        </p:txBody>
      </p:sp>
      <p:sp>
        <p:nvSpPr>
          <p:cNvPr id="18" name="Text 16"/>
          <p:cNvSpPr txBox="1"/>
          <p:nvPr/>
        </p:nvSpPr>
        <p:spPr>
          <a:xfrm>
            <a:off x="6263640" y="3840480"/>
            <a:ext cx="2423160" cy="411480"/>
          </a:xfrm>
          <a:prstGeom prst="rect">
            <a:avLst/>
          </a:prstGeom>
          <a:noFill/>
          <a:ln/>
        </p:spPr>
        <p:txBody>
          <a:bodyPr wrap="square" lIns="0" tIns="0" rIns="0" bIns="0" rtlCol="0" anchor="ctr"/>
          <a:lstStyle/>
          <a:p>
            <a:pPr marL="0" indent="0" algn="ctr">
              <a:buNone/>
            </a:pPr>
            <a:r>
              <a:rPr lang="en-US" sz="1000" dirty="0">
                <a:solidFill>
                  <a:srgbClr val="6B7280"/>
                </a:solidFill>
                <a:latin typeface="Calibri" pitchFamily="34" charset="0"/>
                <a:ea typeface="Calibri" pitchFamily="34" charset="-122"/>
                <a:cs typeface="Calibri" pitchFamily="34" charset="-120"/>
              </a:rPr>
              <a:t>coverage of true dims</a:t>
            </a:r>
            <a:endParaRPr lang="en-US" sz="1000" dirty="0"/>
          </a:p>
        </p:txBody>
      </p:sp>
      <p:sp>
        <p:nvSpPr>
          <p:cNvPr id="19" name="Shape 17"/>
          <p:cNvSpPr/>
          <p:nvPr/>
        </p:nvSpPr>
        <p:spPr>
          <a:xfrm>
            <a:off x="8961120" y="2514600"/>
            <a:ext cx="2697480" cy="1828800"/>
          </a:xfrm>
          <a:prstGeom prst="roundRect">
            <a:avLst>
              <a:gd name="adj" fmla="val 4000"/>
            </a:avLst>
          </a:prstGeom>
          <a:solidFill>
            <a:srgbClr val="F1F3FA"/>
          </a:solidFill>
          <a:ln/>
        </p:spPr>
        <p:txBody>
          <a:bodyPr/>
          <a:lstStyle/>
          <a:p>
            <a:endParaRPr lang="el-GR"/>
          </a:p>
        </p:txBody>
      </p:sp>
      <p:sp>
        <p:nvSpPr>
          <p:cNvPr id="20" name="Text 18"/>
          <p:cNvSpPr txBox="1"/>
          <p:nvPr/>
        </p:nvSpPr>
        <p:spPr>
          <a:xfrm>
            <a:off x="8961120" y="2651760"/>
            <a:ext cx="2697480" cy="868680"/>
          </a:xfrm>
          <a:prstGeom prst="rect">
            <a:avLst/>
          </a:prstGeom>
          <a:noFill/>
          <a:ln/>
        </p:spPr>
        <p:txBody>
          <a:bodyPr wrap="square" lIns="0" tIns="0" rIns="0" bIns="0" rtlCol="0" anchor="ctr"/>
          <a:lstStyle/>
          <a:p>
            <a:pPr marL="0" indent="0" algn="ctr">
              <a:buNone/>
            </a:pPr>
            <a:r>
              <a:rPr lang="en-US" sz="3400" b="1" dirty="0">
                <a:solidFill>
                  <a:srgbClr val="1B1F3B"/>
                </a:solidFill>
                <a:latin typeface="Cambria" pitchFamily="34" charset="0"/>
                <a:ea typeface="Cambria" pitchFamily="34" charset="-122"/>
                <a:cs typeface="Cambria" pitchFamily="34" charset="-120"/>
              </a:rPr>
              <a:t>0.747</a:t>
            </a:r>
            <a:endParaRPr lang="en-US" sz="3400" dirty="0"/>
          </a:p>
        </p:txBody>
      </p:sp>
      <p:sp>
        <p:nvSpPr>
          <p:cNvPr id="21" name="Text 19"/>
          <p:cNvSpPr txBox="1"/>
          <p:nvPr/>
        </p:nvSpPr>
        <p:spPr>
          <a:xfrm>
            <a:off x="8961120" y="3520440"/>
            <a:ext cx="2697480" cy="320040"/>
          </a:xfrm>
          <a:prstGeom prst="rect">
            <a:avLst/>
          </a:prstGeom>
          <a:noFill/>
          <a:ln/>
        </p:spPr>
        <p:txBody>
          <a:bodyPr wrap="square" lIns="0" tIns="0" rIns="0" bIns="0" rtlCol="0" anchor="ctr"/>
          <a:lstStyle/>
          <a:p>
            <a:pPr marL="0" indent="0" algn="ctr">
              <a:buNone/>
            </a:pPr>
            <a:r>
              <a:rPr lang="en-US" sz="1250" b="1" dirty="0">
                <a:solidFill>
                  <a:srgbClr val="1B1F3B"/>
                </a:solidFill>
                <a:latin typeface="Calibri" pitchFamily="34" charset="0"/>
                <a:ea typeface="Calibri" pitchFamily="34" charset="-122"/>
                <a:cs typeface="Calibri" pitchFamily="34" charset="-120"/>
              </a:rPr>
              <a:t>Exact match</a:t>
            </a:r>
            <a:endParaRPr lang="en-US" sz="1250" dirty="0"/>
          </a:p>
        </p:txBody>
      </p:sp>
      <p:sp>
        <p:nvSpPr>
          <p:cNvPr id="22" name="Text 20"/>
          <p:cNvSpPr txBox="1"/>
          <p:nvPr/>
        </p:nvSpPr>
        <p:spPr>
          <a:xfrm>
            <a:off x="9098280" y="3840480"/>
            <a:ext cx="2423160" cy="411480"/>
          </a:xfrm>
          <a:prstGeom prst="rect">
            <a:avLst/>
          </a:prstGeom>
          <a:noFill/>
          <a:ln/>
        </p:spPr>
        <p:txBody>
          <a:bodyPr wrap="square" lIns="0" tIns="0" rIns="0" bIns="0" rtlCol="0" anchor="ctr"/>
          <a:lstStyle/>
          <a:p>
            <a:pPr marL="0" indent="0" algn="ctr">
              <a:buNone/>
            </a:pPr>
            <a:r>
              <a:rPr lang="en-US" sz="1000" dirty="0">
                <a:solidFill>
                  <a:srgbClr val="6B7280"/>
                </a:solidFill>
                <a:latin typeface="Calibri" pitchFamily="34" charset="0"/>
                <a:ea typeface="Calibri" pitchFamily="34" charset="-122"/>
                <a:cs typeface="Calibri" pitchFamily="34" charset="-120"/>
              </a:rPr>
              <a:t>fully recovered structure</a:t>
            </a:r>
            <a:endParaRPr lang="en-US" sz="1000" dirty="0"/>
          </a:p>
        </p:txBody>
      </p:sp>
      <p:sp>
        <p:nvSpPr>
          <p:cNvPr id="23" name="Text 21"/>
          <p:cNvSpPr txBox="1"/>
          <p:nvPr/>
        </p:nvSpPr>
        <p:spPr>
          <a:xfrm>
            <a:off x="457200" y="4709160"/>
            <a:ext cx="11247120" cy="548640"/>
          </a:xfrm>
          <a:prstGeom prst="rect">
            <a:avLst/>
          </a:prstGeom>
          <a:noFill/>
          <a:ln/>
        </p:spPr>
        <p:txBody>
          <a:bodyPr wrap="square" lIns="0" tIns="0" rIns="0" bIns="0" rtlCol="0" anchor="ctr"/>
          <a:lstStyle/>
          <a:p>
            <a:pPr marL="0" indent="0">
              <a:buNone/>
            </a:pPr>
            <a:r>
              <a:rPr lang="en-US" sz="1300" i="1" dirty="0">
                <a:solidFill>
                  <a:srgbClr val="6B7280"/>
                </a:solidFill>
                <a:latin typeface="Calibri" pitchFamily="34" charset="0"/>
                <a:ea typeface="Calibri" pitchFamily="34" charset="-122"/>
                <a:cs typeface="Calibri" pitchFamily="34" charset="-120"/>
              </a:rPr>
              <a:t>Held consistently across three structures — a default case, a weak-signal case, and a deliberately deep intersectional case — before it ever touches real data.</a:t>
            </a:r>
            <a:endParaRPr lang="en-US" sz="1300" dirty="0"/>
          </a:p>
        </p:txBody>
      </p:sp>
      <p:sp>
        <p:nvSpPr>
          <p:cNvPr id="24" name="Text 22"/>
          <p:cNvSpPr txBox="1"/>
          <p:nvPr/>
        </p:nvSpPr>
        <p:spPr>
          <a:xfrm>
            <a:off x="457200" y="5532120"/>
            <a:ext cx="11247120" cy="457200"/>
          </a:xfrm>
          <a:prstGeom prst="rect">
            <a:avLst/>
          </a:prstGeom>
          <a:noFill/>
          <a:ln/>
        </p:spPr>
        <p:txBody>
          <a:bodyPr wrap="square" lIns="0" tIns="0" rIns="0" bIns="0" rtlCol="0" anchor="ctr"/>
          <a:lstStyle/>
          <a:p>
            <a:pPr marL="0" indent="0">
              <a:buNone/>
            </a:pPr>
            <a:r>
              <a:rPr lang="en-US" sz="1400" b="1" dirty="0">
                <a:solidFill>
                  <a:srgbClr val="1B1F3B"/>
                </a:solidFill>
                <a:latin typeface="Calibri" pitchFamily="34" charset="0"/>
                <a:ea typeface="Calibri" pitchFamily="34" charset="-122"/>
                <a:cs typeface="Calibri" pitchFamily="34" charset="-120"/>
              </a:rPr>
              <a:t>This exact configuration is then frozen and applied, unchanged, to the real-world dataset.</a:t>
            </a:r>
            <a:endParaRPr lang="en-US" sz="1400" dirty="0"/>
          </a:p>
        </p:txBody>
      </p:sp>
      <p:sp>
        <p:nvSpPr>
          <p:cNvPr id="25" name="Text 23"/>
          <p:cNvSpPr txBox="1"/>
          <p:nvPr/>
        </p:nvSpPr>
        <p:spPr>
          <a:xfrm>
            <a:off x="11521440" y="6473952"/>
            <a:ext cx="548640" cy="274320"/>
          </a:xfrm>
          <a:prstGeom prst="rect">
            <a:avLst/>
          </a:prstGeom>
          <a:noFill/>
          <a:ln/>
        </p:spPr>
        <p:txBody>
          <a:bodyPr wrap="square" lIns="0" tIns="0" rIns="0" bIns="0" rtlCol="0" anchor="ctr"/>
          <a:lstStyle/>
          <a:p>
            <a:pPr marL="0" indent="0" algn="r">
              <a:buNone/>
            </a:pPr>
            <a:r>
              <a:rPr lang="en-US" sz="1000" dirty="0">
                <a:solidFill>
                  <a:srgbClr val="B7BCD0"/>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201168" cy="201168"/>
          </a:xfrm>
          <a:prstGeom prst="pie">
            <a:avLst>
              <a:gd name="adj1" fmla="val 16200000"/>
              <a:gd name="adj2" fmla="val 5400000"/>
            </a:avLst>
          </a:prstGeom>
          <a:solidFill>
            <a:srgbClr val="E4572E"/>
          </a:solidFill>
          <a:ln/>
        </p:spPr>
        <p:txBody>
          <a:bodyPr/>
          <a:lstStyle/>
          <a:p>
            <a:endParaRPr lang="el-GR"/>
          </a:p>
        </p:txBody>
      </p:sp>
      <p:sp>
        <p:nvSpPr>
          <p:cNvPr id="3" name="Shape 1"/>
          <p:cNvSpPr/>
          <p:nvPr/>
        </p:nvSpPr>
        <p:spPr>
          <a:xfrm>
            <a:off x="457200" y="457200"/>
            <a:ext cx="201168" cy="201168"/>
          </a:xfrm>
          <a:prstGeom prst="pie">
            <a:avLst>
              <a:gd name="adj1" fmla="val 5400000"/>
              <a:gd name="adj2" fmla="val 16200000"/>
            </a:avLst>
          </a:prstGeom>
          <a:solidFill>
            <a:srgbClr val="2F6FED"/>
          </a:solidFill>
          <a:ln/>
        </p:spPr>
        <p:txBody>
          <a:bodyPr/>
          <a:lstStyle/>
          <a:p>
            <a:endParaRPr lang="el-GR"/>
          </a:p>
        </p:txBody>
      </p:sp>
      <p:sp>
        <p:nvSpPr>
          <p:cNvPr id="4" name="Text 2"/>
          <p:cNvSpPr txBox="1"/>
          <p:nvPr/>
        </p:nvSpPr>
        <p:spPr>
          <a:xfrm>
            <a:off x="777240" y="384048"/>
            <a:ext cx="7315200" cy="320040"/>
          </a:xfrm>
          <a:prstGeom prst="rect">
            <a:avLst/>
          </a:prstGeom>
          <a:noFill/>
          <a:ln/>
        </p:spPr>
        <p:txBody>
          <a:bodyPr wrap="square" lIns="0" tIns="0" rIns="0" bIns="0" rtlCol="0" anchor="ctr"/>
          <a:lstStyle/>
          <a:p>
            <a:pPr marL="0" indent="0">
              <a:buNone/>
            </a:pPr>
            <a:r>
              <a:rPr lang="en-US" sz="1100" b="1" kern="0" spc="200" dirty="0">
                <a:solidFill>
                  <a:srgbClr val="6B7280"/>
                </a:solidFill>
                <a:latin typeface="Calibri" pitchFamily="34" charset="0"/>
                <a:ea typeface="Calibri" pitchFamily="34" charset="-122"/>
                <a:cs typeface="Calibri" pitchFamily="34" charset="-120"/>
              </a:rPr>
              <a:t>REAL-WORLD APPLICATION</a:t>
            </a:r>
            <a:endParaRPr lang="en-US" sz="1100" dirty="0"/>
          </a:p>
        </p:txBody>
      </p:sp>
      <p:sp>
        <p:nvSpPr>
          <p:cNvPr id="5" name="Text 3"/>
          <p:cNvSpPr txBox="1"/>
          <p:nvPr/>
        </p:nvSpPr>
        <p:spPr>
          <a:xfrm>
            <a:off x="457200" y="713232"/>
            <a:ext cx="11247120" cy="777240"/>
          </a:xfrm>
          <a:prstGeom prst="rect">
            <a:avLst/>
          </a:prstGeom>
          <a:noFill/>
          <a:ln/>
        </p:spPr>
        <p:txBody>
          <a:bodyPr wrap="square" lIns="0" tIns="0" rIns="0" bIns="0" rtlCol="0" anchor="ctr"/>
          <a:lstStyle/>
          <a:p>
            <a:pPr marL="0" indent="0">
              <a:buNone/>
            </a:pPr>
            <a:r>
              <a:rPr lang="en-US" sz="3000" b="1" dirty="0">
                <a:solidFill>
                  <a:srgbClr val="1B1F3B"/>
                </a:solidFill>
                <a:latin typeface="Cambria" pitchFamily="34" charset="0"/>
                <a:ea typeface="Cambria" pitchFamily="34" charset="-122"/>
                <a:cs typeface="Cambria" pitchFamily="34" charset="-120"/>
              </a:rPr>
              <a:t>Why DICES</a:t>
            </a:r>
            <a:endParaRPr lang="en-US" sz="3000" dirty="0"/>
          </a:p>
        </p:txBody>
      </p:sp>
      <p:sp>
        <p:nvSpPr>
          <p:cNvPr id="6" name="Text 4"/>
          <p:cNvSpPr txBox="1"/>
          <p:nvPr/>
        </p:nvSpPr>
        <p:spPr>
          <a:xfrm>
            <a:off x="457200" y="1783080"/>
            <a:ext cx="11247120" cy="914400"/>
          </a:xfrm>
          <a:prstGeom prst="rect">
            <a:avLst/>
          </a:prstGeom>
          <a:noFill/>
          <a:ln/>
        </p:spPr>
        <p:txBody>
          <a:bodyPr wrap="square" lIns="0" tIns="0" rIns="0" bIns="0" rtlCol="0" anchor="ctr"/>
          <a:lstStyle/>
          <a:p>
            <a:pPr marL="0" indent="0">
              <a:lnSpc>
                <a:spcPct val="120000"/>
              </a:lnSpc>
              <a:spcAft>
                <a:spcPts val="800"/>
              </a:spcAft>
              <a:buNone/>
            </a:pPr>
            <a:r>
              <a:rPr lang="en-US" sz="1400" dirty="0">
                <a:solidFill>
                  <a:srgbClr val="1B1F3B"/>
                </a:solidFill>
                <a:latin typeface="Calibri" pitchFamily="34" charset="0"/>
                <a:ea typeface="Calibri" pitchFamily="34" charset="-122"/>
                <a:cs typeface="Calibri" pitchFamily="34" charset="-120"/>
              </a:rPr>
              <a:t>DICES is the one dataset dense enough for recursive partitioning: </a:t>
            </a:r>
            <a:endParaRPr lang="en-US" sz="1400" dirty="0"/>
          </a:p>
          <a:p>
            <a:pPr marL="0" indent="0">
              <a:lnSpc>
                <a:spcPct val="120000"/>
              </a:lnSpc>
              <a:buNone/>
            </a:pPr>
            <a:r>
              <a:rPr lang="en-US" sz="1400" dirty="0">
                <a:solidFill>
                  <a:srgbClr val="6B7280"/>
                </a:solidFill>
                <a:latin typeface="Calibri" pitchFamily="34" charset="0"/>
                <a:ea typeface="Calibri" pitchFamily="34" charset="-122"/>
                <a:cs typeface="Calibri" pitchFamily="34" charset="-120"/>
              </a:rPr>
              <a:t>each split shrinks a subgroup, so we need many annotations per item to keep leaves meaningful rather than noise.</a:t>
            </a:r>
            <a:endParaRPr lang="en-US" sz="1400" dirty="0"/>
          </a:p>
        </p:txBody>
      </p:sp>
      <p:sp>
        <p:nvSpPr>
          <p:cNvPr id="7" name="Shape 5"/>
          <p:cNvSpPr/>
          <p:nvPr/>
        </p:nvSpPr>
        <p:spPr>
          <a:xfrm>
            <a:off x="457200" y="2788920"/>
            <a:ext cx="3566160" cy="2148840"/>
          </a:xfrm>
          <a:prstGeom prst="roundRect">
            <a:avLst>
              <a:gd name="adj" fmla="val 3404"/>
            </a:avLst>
          </a:prstGeom>
          <a:solidFill>
            <a:srgbClr val="1B1F3B"/>
          </a:solidFill>
          <a:ln/>
        </p:spPr>
        <p:txBody>
          <a:bodyPr/>
          <a:lstStyle/>
          <a:p>
            <a:endParaRPr lang="el-GR"/>
          </a:p>
        </p:txBody>
      </p:sp>
      <p:sp>
        <p:nvSpPr>
          <p:cNvPr id="8" name="Text 6"/>
          <p:cNvSpPr txBox="1"/>
          <p:nvPr/>
        </p:nvSpPr>
        <p:spPr>
          <a:xfrm>
            <a:off x="777240" y="3017520"/>
            <a:ext cx="2926080" cy="457200"/>
          </a:xfrm>
          <a:prstGeom prst="rect">
            <a:avLst/>
          </a:prstGeom>
          <a:noFill/>
          <a:ln/>
        </p:spPr>
        <p:txBody>
          <a:bodyPr wrap="square" lIns="0" tIns="0" rIns="0" bIns="0"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DICES-350</a:t>
            </a:r>
            <a:endParaRPr lang="en-US" sz="1800" dirty="0"/>
          </a:p>
        </p:txBody>
      </p:sp>
      <p:sp>
        <p:nvSpPr>
          <p:cNvPr id="9" name="Text 7"/>
          <p:cNvSpPr txBox="1"/>
          <p:nvPr/>
        </p:nvSpPr>
        <p:spPr>
          <a:xfrm>
            <a:off x="777240" y="3566160"/>
            <a:ext cx="2926080" cy="365760"/>
          </a:xfrm>
          <a:prstGeom prst="rect">
            <a:avLst/>
          </a:prstGeom>
          <a:noFill/>
          <a:ln/>
        </p:spPr>
        <p:txBody>
          <a:bodyPr wrap="square" lIns="0" tIns="0" rIns="0" bIns="0" rtlCol="0" anchor="ctr"/>
          <a:lstStyle/>
          <a:p>
            <a:pPr marL="0" indent="0">
              <a:buNone/>
            </a:pPr>
            <a:r>
              <a:rPr lang="en-US" sz="1400" b="1" dirty="0">
                <a:solidFill>
                  <a:srgbClr val="C9CFEA"/>
                </a:solidFill>
                <a:latin typeface="Calibri" pitchFamily="34" charset="0"/>
                <a:ea typeface="Calibri" pitchFamily="34" charset="-122"/>
                <a:cs typeface="Calibri" pitchFamily="34" charset="-120"/>
              </a:rPr>
              <a:t>350 items</a:t>
            </a:r>
            <a:endParaRPr lang="en-US" sz="1400" dirty="0"/>
          </a:p>
        </p:txBody>
      </p:sp>
      <p:sp>
        <p:nvSpPr>
          <p:cNvPr id="10" name="Text 8"/>
          <p:cNvSpPr txBox="1"/>
          <p:nvPr/>
        </p:nvSpPr>
        <p:spPr>
          <a:xfrm>
            <a:off x="777240" y="3931920"/>
            <a:ext cx="2926080" cy="365760"/>
          </a:xfrm>
          <a:prstGeom prst="rect">
            <a:avLst/>
          </a:prstGeom>
          <a:noFill/>
          <a:ln/>
        </p:spPr>
        <p:txBody>
          <a:bodyPr wrap="square" lIns="0" tIns="0" rIns="0" bIns="0" rtlCol="0" anchor="ctr"/>
          <a:lstStyle/>
          <a:p>
            <a:pPr marL="0" indent="0">
              <a:buNone/>
            </a:pPr>
            <a:r>
              <a:rPr lang="en-US" sz="1400" b="1" dirty="0">
                <a:solidFill>
                  <a:srgbClr val="C9CFEA"/>
                </a:solidFill>
                <a:latin typeface="Calibri" pitchFamily="34" charset="0"/>
                <a:ea typeface="Calibri" pitchFamily="34" charset="-122"/>
                <a:cs typeface="Calibri" pitchFamily="34" charset="-120"/>
              </a:rPr>
              <a:t>35,350 annotations</a:t>
            </a:r>
            <a:endParaRPr lang="en-US" sz="1400" dirty="0"/>
          </a:p>
        </p:txBody>
      </p:sp>
      <p:sp>
        <p:nvSpPr>
          <p:cNvPr id="11" name="Text 9"/>
          <p:cNvSpPr txBox="1"/>
          <p:nvPr/>
        </p:nvSpPr>
        <p:spPr>
          <a:xfrm>
            <a:off x="777240" y="4297680"/>
            <a:ext cx="2926080" cy="365760"/>
          </a:xfrm>
          <a:prstGeom prst="rect">
            <a:avLst/>
          </a:prstGeom>
          <a:noFill/>
          <a:ln/>
        </p:spPr>
        <p:txBody>
          <a:bodyPr wrap="square" lIns="0" tIns="0" rIns="0" bIns="0" rtlCol="0" anchor="ctr"/>
          <a:lstStyle/>
          <a:p>
            <a:pPr marL="0" indent="0">
              <a:buNone/>
            </a:pPr>
            <a:r>
              <a:rPr lang="en-US" sz="1200" i="1" dirty="0">
                <a:solidFill>
                  <a:srgbClr val="8B93BE"/>
                </a:solidFill>
                <a:latin typeface="Calibri" pitchFamily="34" charset="0"/>
                <a:ea typeface="Calibri" pitchFamily="34" charset="-122"/>
                <a:cs typeface="Calibri" pitchFamily="34" charset="-120"/>
              </a:rPr>
              <a:t>101 annotations per item</a:t>
            </a:r>
            <a:endParaRPr lang="en-US" sz="1200" dirty="0"/>
          </a:p>
        </p:txBody>
      </p:sp>
      <p:sp>
        <p:nvSpPr>
          <p:cNvPr id="12" name="Shape 10"/>
          <p:cNvSpPr/>
          <p:nvPr/>
        </p:nvSpPr>
        <p:spPr>
          <a:xfrm>
            <a:off x="4251960" y="2788920"/>
            <a:ext cx="3566160" cy="2148840"/>
          </a:xfrm>
          <a:prstGeom prst="roundRect">
            <a:avLst>
              <a:gd name="adj" fmla="val 3404"/>
            </a:avLst>
          </a:prstGeom>
          <a:solidFill>
            <a:srgbClr val="1B1F3B"/>
          </a:solidFill>
          <a:ln/>
        </p:spPr>
        <p:txBody>
          <a:bodyPr/>
          <a:lstStyle/>
          <a:p>
            <a:endParaRPr lang="el-GR"/>
          </a:p>
        </p:txBody>
      </p:sp>
      <p:sp>
        <p:nvSpPr>
          <p:cNvPr id="13" name="Text 11"/>
          <p:cNvSpPr txBox="1"/>
          <p:nvPr/>
        </p:nvSpPr>
        <p:spPr>
          <a:xfrm>
            <a:off x="4572000" y="3017520"/>
            <a:ext cx="2926080" cy="457200"/>
          </a:xfrm>
          <a:prstGeom prst="rect">
            <a:avLst/>
          </a:prstGeom>
          <a:noFill/>
          <a:ln/>
        </p:spPr>
        <p:txBody>
          <a:bodyPr wrap="square" lIns="0" tIns="0" rIns="0" bIns="0"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DICES-990</a:t>
            </a:r>
            <a:endParaRPr lang="en-US" sz="1800" dirty="0"/>
          </a:p>
        </p:txBody>
      </p:sp>
      <p:sp>
        <p:nvSpPr>
          <p:cNvPr id="14" name="Text 12"/>
          <p:cNvSpPr txBox="1"/>
          <p:nvPr/>
        </p:nvSpPr>
        <p:spPr>
          <a:xfrm>
            <a:off x="4572000" y="3566160"/>
            <a:ext cx="2926080" cy="365760"/>
          </a:xfrm>
          <a:prstGeom prst="rect">
            <a:avLst/>
          </a:prstGeom>
          <a:noFill/>
          <a:ln/>
        </p:spPr>
        <p:txBody>
          <a:bodyPr wrap="square" lIns="0" tIns="0" rIns="0" bIns="0" rtlCol="0" anchor="ctr"/>
          <a:lstStyle/>
          <a:p>
            <a:pPr marL="0" indent="0">
              <a:buNone/>
            </a:pPr>
            <a:r>
              <a:rPr lang="en-US" sz="1400" b="1" dirty="0">
                <a:solidFill>
                  <a:srgbClr val="C9CFEA"/>
                </a:solidFill>
                <a:latin typeface="Calibri" pitchFamily="34" charset="0"/>
                <a:ea typeface="Calibri" pitchFamily="34" charset="-122"/>
                <a:cs typeface="Calibri" pitchFamily="34" charset="-120"/>
              </a:rPr>
              <a:t>990 items</a:t>
            </a:r>
            <a:endParaRPr lang="en-US" sz="1400" dirty="0"/>
          </a:p>
        </p:txBody>
      </p:sp>
      <p:sp>
        <p:nvSpPr>
          <p:cNvPr id="15" name="Text 13"/>
          <p:cNvSpPr txBox="1"/>
          <p:nvPr/>
        </p:nvSpPr>
        <p:spPr>
          <a:xfrm>
            <a:off x="4572000" y="3931920"/>
            <a:ext cx="2926080" cy="365760"/>
          </a:xfrm>
          <a:prstGeom prst="rect">
            <a:avLst/>
          </a:prstGeom>
          <a:noFill/>
          <a:ln/>
        </p:spPr>
        <p:txBody>
          <a:bodyPr wrap="square" lIns="0" tIns="0" rIns="0" bIns="0" rtlCol="0" anchor="ctr"/>
          <a:lstStyle/>
          <a:p>
            <a:pPr marL="0" indent="0">
              <a:buNone/>
            </a:pPr>
            <a:r>
              <a:rPr lang="en-US" sz="1400" b="1" dirty="0">
                <a:solidFill>
                  <a:srgbClr val="C9CFEA"/>
                </a:solidFill>
                <a:latin typeface="Calibri" pitchFamily="34" charset="0"/>
                <a:ea typeface="Calibri" pitchFamily="34" charset="-122"/>
                <a:cs typeface="Calibri" pitchFamily="34" charset="-120"/>
              </a:rPr>
              <a:t>45,379 annotations</a:t>
            </a:r>
            <a:endParaRPr lang="en-US" sz="1400" dirty="0"/>
          </a:p>
        </p:txBody>
      </p:sp>
      <p:sp>
        <p:nvSpPr>
          <p:cNvPr id="16" name="Text 14"/>
          <p:cNvSpPr txBox="1"/>
          <p:nvPr/>
        </p:nvSpPr>
        <p:spPr>
          <a:xfrm>
            <a:off x="4572000" y="4297680"/>
            <a:ext cx="2926080" cy="365760"/>
          </a:xfrm>
          <a:prstGeom prst="rect">
            <a:avLst/>
          </a:prstGeom>
          <a:noFill/>
          <a:ln/>
        </p:spPr>
        <p:txBody>
          <a:bodyPr wrap="square" lIns="0" tIns="0" rIns="0" bIns="0" rtlCol="0" anchor="ctr"/>
          <a:lstStyle/>
          <a:p>
            <a:pPr marL="0" indent="0">
              <a:buNone/>
            </a:pPr>
            <a:r>
              <a:rPr lang="en-US" sz="1200" i="1" dirty="0">
                <a:solidFill>
                  <a:srgbClr val="8B93BE"/>
                </a:solidFill>
                <a:latin typeface="Calibri" pitchFamily="34" charset="0"/>
                <a:ea typeface="Calibri" pitchFamily="34" charset="-122"/>
                <a:cs typeface="Calibri" pitchFamily="34" charset="-120"/>
              </a:rPr>
              <a:t>45.8 annotations per item avg.</a:t>
            </a:r>
            <a:endParaRPr lang="en-US" sz="1200" dirty="0"/>
          </a:p>
        </p:txBody>
      </p:sp>
      <p:sp>
        <p:nvSpPr>
          <p:cNvPr id="17" name="Shape 15"/>
          <p:cNvSpPr/>
          <p:nvPr/>
        </p:nvSpPr>
        <p:spPr>
          <a:xfrm>
            <a:off x="8229600" y="2788920"/>
            <a:ext cx="3520440" cy="2148840"/>
          </a:xfrm>
          <a:prstGeom prst="roundRect">
            <a:avLst>
              <a:gd name="adj" fmla="val 3404"/>
            </a:avLst>
          </a:prstGeom>
          <a:solidFill>
            <a:srgbClr val="F1F3FA"/>
          </a:solidFill>
          <a:ln/>
        </p:spPr>
        <p:txBody>
          <a:bodyPr/>
          <a:lstStyle/>
          <a:p>
            <a:endParaRPr lang="el-GR"/>
          </a:p>
        </p:txBody>
      </p:sp>
      <p:sp>
        <p:nvSpPr>
          <p:cNvPr id="18" name="Text 16"/>
          <p:cNvSpPr txBox="1"/>
          <p:nvPr/>
        </p:nvSpPr>
        <p:spPr>
          <a:xfrm>
            <a:off x="8503920" y="2971800"/>
            <a:ext cx="3017520" cy="365760"/>
          </a:xfrm>
          <a:prstGeom prst="rect">
            <a:avLst/>
          </a:prstGeom>
          <a:noFill/>
          <a:ln/>
        </p:spPr>
        <p:txBody>
          <a:bodyPr wrap="square" lIns="0" tIns="0" rIns="0" bIns="0" rtlCol="0" anchor="ctr"/>
          <a:lstStyle/>
          <a:p>
            <a:pPr marL="0" indent="0">
              <a:buNone/>
            </a:pPr>
            <a:r>
              <a:rPr lang="en-US" sz="1250" b="1" dirty="0">
                <a:solidFill>
                  <a:srgbClr val="1B1F3B"/>
                </a:solidFill>
                <a:latin typeface="Calibri" pitchFamily="34" charset="0"/>
                <a:ea typeface="Calibri" pitchFamily="34" charset="-122"/>
                <a:cs typeface="Calibri" pitchFamily="34" charset="-120"/>
              </a:rPr>
              <a:t>SCD dimensions used</a:t>
            </a:r>
            <a:endParaRPr lang="en-US" sz="1250" dirty="0"/>
          </a:p>
        </p:txBody>
      </p:sp>
      <p:sp>
        <p:nvSpPr>
          <p:cNvPr id="19" name="Text 17"/>
          <p:cNvSpPr txBox="1"/>
          <p:nvPr/>
        </p:nvSpPr>
        <p:spPr>
          <a:xfrm>
            <a:off x="8503920" y="3337560"/>
            <a:ext cx="3017520" cy="457200"/>
          </a:xfrm>
          <a:prstGeom prst="rect">
            <a:avLst/>
          </a:prstGeom>
          <a:noFill/>
          <a:ln/>
        </p:spPr>
        <p:txBody>
          <a:bodyPr wrap="square" lIns="0" tIns="0" rIns="0" bIns="0" rtlCol="0" anchor="ctr"/>
          <a:lstStyle/>
          <a:p>
            <a:pPr marL="0" indent="0">
              <a:buNone/>
            </a:pPr>
            <a:r>
              <a:rPr lang="en-US" sz="1250" dirty="0">
                <a:solidFill>
                  <a:srgbClr val="6B7280"/>
                </a:solidFill>
                <a:latin typeface="Calibri" pitchFamily="34" charset="0"/>
                <a:ea typeface="Calibri" pitchFamily="34" charset="-122"/>
                <a:cs typeface="Calibri" pitchFamily="34" charset="-120"/>
              </a:rPr>
              <a:t>gender · race · age · education</a:t>
            </a:r>
            <a:endParaRPr lang="en-US" sz="1250" dirty="0"/>
          </a:p>
        </p:txBody>
      </p:sp>
      <p:sp>
        <p:nvSpPr>
          <p:cNvPr id="20" name="Text 18"/>
          <p:cNvSpPr txBox="1"/>
          <p:nvPr/>
        </p:nvSpPr>
        <p:spPr>
          <a:xfrm>
            <a:off x="8503920" y="3886200"/>
            <a:ext cx="3017520" cy="365760"/>
          </a:xfrm>
          <a:prstGeom prst="rect">
            <a:avLst/>
          </a:prstGeom>
          <a:noFill/>
          <a:ln/>
        </p:spPr>
        <p:txBody>
          <a:bodyPr wrap="square" lIns="0" tIns="0" rIns="0" bIns="0" rtlCol="0" anchor="ctr"/>
          <a:lstStyle/>
          <a:p>
            <a:pPr marL="0" indent="0">
              <a:buNone/>
            </a:pPr>
            <a:r>
              <a:rPr lang="en-US" sz="1250" b="1" dirty="0">
                <a:solidFill>
                  <a:srgbClr val="1B1F3B"/>
                </a:solidFill>
                <a:latin typeface="Calibri" pitchFamily="34" charset="0"/>
                <a:ea typeface="Calibri" pitchFamily="34" charset="-122"/>
                <a:cs typeface="Calibri" pitchFamily="34" charset="-120"/>
              </a:rPr>
              <a:t>Outcome variable</a:t>
            </a:r>
            <a:endParaRPr lang="en-US" sz="1250" dirty="0"/>
          </a:p>
        </p:txBody>
      </p:sp>
      <p:sp>
        <p:nvSpPr>
          <p:cNvPr id="21" name="Text 19"/>
          <p:cNvSpPr txBox="1"/>
          <p:nvPr/>
        </p:nvSpPr>
        <p:spPr>
          <a:xfrm>
            <a:off x="8503920" y="4251960"/>
            <a:ext cx="3017520" cy="594360"/>
          </a:xfrm>
          <a:prstGeom prst="rect">
            <a:avLst/>
          </a:prstGeom>
          <a:noFill/>
          <a:ln/>
        </p:spPr>
        <p:txBody>
          <a:bodyPr wrap="square" lIns="0" tIns="0" rIns="0" bIns="0" rtlCol="0" anchor="ctr"/>
          <a:lstStyle/>
          <a:p>
            <a:pPr marL="0" indent="0">
              <a:buNone/>
            </a:pPr>
            <a:r>
              <a:rPr lang="en-US" sz="1150" dirty="0">
                <a:solidFill>
                  <a:srgbClr val="6B7280"/>
                </a:solidFill>
                <a:latin typeface="Calibri" pitchFamily="34" charset="0"/>
                <a:ea typeface="Calibri" pitchFamily="34" charset="-122"/>
                <a:cs typeface="Calibri" pitchFamily="34" charset="-120"/>
              </a:rPr>
              <a:t>Q3_bias_overall: No / Unsure / Yes → 1 / 2 / 3, scored with DFU</a:t>
            </a:r>
            <a:endParaRPr lang="en-US" sz="1150" dirty="0"/>
          </a:p>
        </p:txBody>
      </p:sp>
      <p:sp>
        <p:nvSpPr>
          <p:cNvPr id="22" name="Text 20"/>
          <p:cNvSpPr txBox="1"/>
          <p:nvPr/>
        </p:nvSpPr>
        <p:spPr>
          <a:xfrm>
            <a:off x="457200" y="5212080"/>
            <a:ext cx="11247120" cy="457200"/>
          </a:xfrm>
          <a:prstGeom prst="rect">
            <a:avLst/>
          </a:prstGeom>
          <a:noFill/>
          <a:ln/>
        </p:spPr>
        <p:txBody>
          <a:bodyPr wrap="square" lIns="0" tIns="0" rIns="0" bIns="0" rtlCol="0" anchor="ctr"/>
          <a:lstStyle/>
          <a:p>
            <a:pPr marL="0" indent="0">
              <a:buNone/>
            </a:pPr>
            <a:r>
              <a:rPr lang="en-US" sz="1300" i="1" dirty="0">
                <a:solidFill>
                  <a:srgbClr val="6B7280"/>
                </a:solidFill>
                <a:latin typeface="Calibri" pitchFamily="34" charset="0"/>
                <a:ea typeface="Calibri" pitchFamily="34" charset="-122"/>
                <a:cs typeface="Calibri" pitchFamily="34" charset="-120"/>
              </a:rPr>
              <a:t>Ground truth is unknown here — so we characterize the structures the tree finds, rather than measuring recovery.</a:t>
            </a:r>
            <a:endParaRPr lang="en-US" sz="1300" dirty="0"/>
          </a:p>
        </p:txBody>
      </p:sp>
      <p:sp>
        <p:nvSpPr>
          <p:cNvPr id="23" name="Text 21"/>
          <p:cNvSpPr txBox="1"/>
          <p:nvPr/>
        </p:nvSpPr>
        <p:spPr>
          <a:xfrm>
            <a:off x="11521440" y="6473952"/>
            <a:ext cx="548640" cy="274320"/>
          </a:xfrm>
          <a:prstGeom prst="rect">
            <a:avLst/>
          </a:prstGeom>
          <a:noFill/>
          <a:ln/>
        </p:spPr>
        <p:txBody>
          <a:bodyPr wrap="square" lIns="0" tIns="0" rIns="0" bIns="0" rtlCol="0" anchor="ctr"/>
          <a:lstStyle/>
          <a:p>
            <a:pPr marL="0" indent="0" algn="r">
              <a:buNone/>
            </a:pPr>
            <a:r>
              <a:rPr lang="en-US" sz="1000" dirty="0">
                <a:solidFill>
                  <a:srgbClr val="B7BCD0"/>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201168" cy="201168"/>
          </a:xfrm>
          <a:prstGeom prst="pie">
            <a:avLst>
              <a:gd name="adj1" fmla="val 16200000"/>
              <a:gd name="adj2" fmla="val 5400000"/>
            </a:avLst>
          </a:prstGeom>
          <a:solidFill>
            <a:srgbClr val="E4572E"/>
          </a:solidFill>
          <a:ln/>
        </p:spPr>
        <p:txBody>
          <a:bodyPr/>
          <a:lstStyle/>
          <a:p>
            <a:endParaRPr lang="el-GR"/>
          </a:p>
        </p:txBody>
      </p:sp>
      <p:sp>
        <p:nvSpPr>
          <p:cNvPr id="3" name="Shape 1"/>
          <p:cNvSpPr/>
          <p:nvPr/>
        </p:nvSpPr>
        <p:spPr>
          <a:xfrm>
            <a:off x="457200" y="457200"/>
            <a:ext cx="201168" cy="201168"/>
          </a:xfrm>
          <a:prstGeom prst="pie">
            <a:avLst>
              <a:gd name="adj1" fmla="val 5400000"/>
              <a:gd name="adj2" fmla="val 16200000"/>
            </a:avLst>
          </a:prstGeom>
          <a:solidFill>
            <a:srgbClr val="2F6FED"/>
          </a:solidFill>
          <a:ln/>
        </p:spPr>
        <p:txBody>
          <a:bodyPr/>
          <a:lstStyle/>
          <a:p>
            <a:endParaRPr lang="el-GR"/>
          </a:p>
        </p:txBody>
      </p:sp>
      <p:sp>
        <p:nvSpPr>
          <p:cNvPr id="4" name="Text 2"/>
          <p:cNvSpPr txBox="1"/>
          <p:nvPr/>
        </p:nvSpPr>
        <p:spPr>
          <a:xfrm>
            <a:off x="777240" y="384048"/>
            <a:ext cx="7315200" cy="320040"/>
          </a:xfrm>
          <a:prstGeom prst="rect">
            <a:avLst/>
          </a:prstGeom>
          <a:noFill/>
          <a:ln/>
        </p:spPr>
        <p:txBody>
          <a:bodyPr wrap="square" lIns="0" tIns="0" rIns="0" bIns="0" rtlCol="0" anchor="ctr"/>
          <a:lstStyle/>
          <a:p>
            <a:pPr marL="0" indent="0">
              <a:buNone/>
            </a:pPr>
            <a:r>
              <a:rPr lang="en-US" sz="1100" b="1" kern="0" spc="200" dirty="0">
                <a:solidFill>
                  <a:srgbClr val="6B7280"/>
                </a:solidFill>
                <a:latin typeface="Calibri" pitchFamily="34" charset="0"/>
                <a:ea typeface="Calibri" pitchFamily="34" charset="-122"/>
                <a:cs typeface="Calibri" pitchFamily="34" charset="-120"/>
              </a:rPr>
              <a:t>FINDINGS ON DICES</a:t>
            </a:r>
            <a:endParaRPr lang="en-US" sz="1100" dirty="0"/>
          </a:p>
        </p:txBody>
      </p:sp>
      <p:sp>
        <p:nvSpPr>
          <p:cNvPr id="5" name="Text 3"/>
          <p:cNvSpPr txBox="1"/>
          <p:nvPr/>
        </p:nvSpPr>
        <p:spPr>
          <a:xfrm>
            <a:off x="457200" y="713232"/>
            <a:ext cx="11247120" cy="777240"/>
          </a:xfrm>
          <a:prstGeom prst="rect">
            <a:avLst/>
          </a:prstGeom>
          <a:noFill/>
          <a:ln/>
        </p:spPr>
        <p:txBody>
          <a:bodyPr wrap="square" lIns="0" tIns="0" rIns="0" bIns="0" rtlCol="0" anchor="ctr"/>
          <a:lstStyle/>
          <a:p>
            <a:pPr marL="0" indent="0">
              <a:buNone/>
            </a:pPr>
            <a:r>
              <a:rPr lang="en-US" sz="3000" b="1" dirty="0">
                <a:solidFill>
                  <a:srgbClr val="1B1F3B"/>
                </a:solidFill>
                <a:latin typeface="Cambria" pitchFamily="34" charset="0"/>
                <a:ea typeface="Cambria" pitchFamily="34" charset="-122"/>
                <a:cs typeface="Cambria" pitchFamily="34" charset="-120"/>
              </a:rPr>
              <a:t>Race opens the tree, gender and age take over deeper down</a:t>
            </a:r>
            <a:endParaRPr lang="en-US" sz="3000" dirty="0"/>
          </a:p>
        </p:txBody>
      </p:sp>
      <p:sp>
        <p:nvSpPr>
          <p:cNvPr id="6" name="Text 4"/>
          <p:cNvSpPr txBox="1"/>
          <p:nvPr/>
        </p:nvSpPr>
        <p:spPr>
          <a:xfrm>
            <a:off x="457200" y="1737360"/>
            <a:ext cx="5760720" cy="320040"/>
          </a:xfrm>
          <a:prstGeom prst="rect">
            <a:avLst/>
          </a:prstGeom>
          <a:noFill/>
          <a:ln/>
        </p:spPr>
        <p:txBody>
          <a:bodyPr wrap="square" lIns="0" tIns="0" rIns="0" bIns="0" rtlCol="0" anchor="ctr"/>
          <a:lstStyle/>
          <a:p>
            <a:pPr marL="0" indent="0">
              <a:buNone/>
            </a:pPr>
            <a:r>
              <a:rPr lang="en-US" sz="1250" b="1" dirty="0">
                <a:solidFill>
                  <a:srgbClr val="1B1F3B"/>
                </a:solidFill>
                <a:latin typeface="Calibri" pitchFamily="34" charset="0"/>
                <a:ea typeface="Calibri" pitchFamily="34" charset="-122"/>
                <a:cs typeface="Calibri" pitchFamily="34" charset="-120"/>
              </a:rPr>
              <a:t>% of dimension selections by split depth</a:t>
            </a:r>
            <a:endParaRPr lang="en-US" sz="1250" dirty="0"/>
          </a:p>
        </p:txBody>
      </p:sp>
      <p:graphicFrame>
        <p:nvGraphicFramePr>
          <p:cNvPr id="7" name="Chart 0"/>
          <p:cNvGraphicFramePr/>
          <p:nvPr/>
        </p:nvGraphicFramePr>
        <p:xfrm>
          <a:off x="457200" y="2103120"/>
          <a:ext cx="5760720"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5"/>
          <p:cNvSpPr txBox="1"/>
          <p:nvPr/>
        </p:nvSpPr>
        <p:spPr>
          <a:xfrm>
            <a:off x="457200" y="5715000"/>
            <a:ext cx="5760720" cy="365760"/>
          </a:xfrm>
          <a:prstGeom prst="rect">
            <a:avLst/>
          </a:prstGeom>
          <a:noFill/>
          <a:ln/>
        </p:spPr>
        <p:txBody>
          <a:bodyPr wrap="square" lIns="0" tIns="0" rIns="0" bIns="0" rtlCol="0" anchor="ctr"/>
          <a:lstStyle/>
          <a:p>
            <a:pPr marL="0" indent="0">
              <a:buNone/>
            </a:pPr>
            <a:r>
              <a:rPr lang="en-US" sz="1050" i="1" dirty="0">
                <a:solidFill>
                  <a:srgbClr val="6B7280"/>
                </a:solidFill>
                <a:latin typeface="Calibri" pitchFamily="34" charset="0"/>
                <a:ea typeface="Calibri" pitchFamily="34" charset="-122"/>
                <a:cs typeface="Calibri" pitchFamily="34" charset="-120"/>
              </a:rPr>
              <a:t>DICES-350 shown; DICES-990 mirrors the pattern with gender even more dominant at depth ≥2.</a:t>
            </a:r>
            <a:endParaRPr lang="en-US" sz="1050" dirty="0"/>
          </a:p>
        </p:txBody>
      </p:sp>
      <p:sp>
        <p:nvSpPr>
          <p:cNvPr id="9" name="Shape 6"/>
          <p:cNvSpPr/>
          <p:nvPr/>
        </p:nvSpPr>
        <p:spPr>
          <a:xfrm>
            <a:off x="6583680" y="1783080"/>
            <a:ext cx="5120640" cy="868680"/>
          </a:xfrm>
          <a:prstGeom prst="roundRect">
            <a:avLst>
              <a:gd name="adj" fmla="val 6316"/>
            </a:avLst>
          </a:prstGeom>
          <a:solidFill>
            <a:srgbClr val="F1F3FA"/>
          </a:solidFill>
          <a:ln/>
        </p:spPr>
        <p:txBody>
          <a:bodyPr/>
          <a:lstStyle/>
          <a:p>
            <a:endParaRPr lang="el-GR"/>
          </a:p>
        </p:txBody>
      </p:sp>
      <p:sp>
        <p:nvSpPr>
          <p:cNvPr id="10" name="Text 7"/>
          <p:cNvSpPr txBox="1"/>
          <p:nvPr/>
        </p:nvSpPr>
        <p:spPr>
          <a:xfrm>
            <a:off x="6812280" y="1783080"/>
            <a:ext cx="1554480" cy="868680"/>
          </a:xfrm>
          <a:prstGeom prst="rect">
            <a:avLst/>
          </a:prstGeom>
          <a:noFill/>
          <a:ln/>
        </p:spPr>
        <p:txBody>
          <a:bodyPr wrap="square" lIns="0" tIns="0" rIns="0" bIns="0" rtlCol="0" anchor="ctr"/>
          <a:lstStyle/>
          <a:p>
            <a:pPr marL="0" indent="0">
              <a:buNone/>
            </a:pPr>
            <a:r>
              <a:rPr lang="en-US" sz="2200" b="1" dirty="0">
                <a:solidFill>
                  <a:srgbClr val="1B1F3B"/>
                </a:solidFill>
                <a:latin typeface="Cambria" pitchFamily="34" charset="0"/>
                <a:ea typeface="Cambria" pitchFamily="34" charset="-122"/>
                <a:cs typeface="Cambria" pitchFamily="34" charset="-120"/>
              </a:rPr>
              <a:t>8–11%</a:t>
            </a:r>
            <a:endParaRPr lang="en-US" sz="2200" dirty="0"/>
          </a:p>
        </p:txBody>
      </p:sp>
      <p:sp>
        <p:nvSpPr>
          <p:cNvPr id="11" name="Text 8"/>
          <p:cNvSpPr txBox="1"/>
          <p:nvPr/>
        </p:nvSpPr>
        <p:spPr>
          <a:xfrm>
            <a:off x="8366760" y="1783080"/>
            <a:ext cx="3108960" cy="868680"/>
          </a:xfrm>
          <a:prstGeom prst="rect">
            <a:avLst/>
          </a:prstGeom>
          <a:noFill/>
          <a:ln/>
        </p:spPr>
        <p:txBody>
          <a:bodyPr wrap="square" lIns="0" tIns="0" rIns="0" bIns="0" rtlCol="0" anchor="ctr"/>
          <a:lstStyle/>
          <a:p>
            <a:pPr marL="0" indent="0">
              <a:buNone/>
            </a:pPr>
            <a:r>
              <a:rPr lang="en-US" sz="1250" dirty="0">
                <a:solidFill>
                  <a:srgbClr val="1B1F3B"/>
                </a:solidFill>
                <a:latin typeface="Calibri" pitchFamily="34" charset="0"/>
                <a:ea typeface="Calibri" pitchFamily="34" charset="-122"/>
                <a:cs typeface="Calibri" pitchFamily="34" charset="-120"/>
              </a:rPr>
              <a:t>of items retained as polarized</a:t>
            </a:r>
            <a:endParaRPr lang="en-US" sz="1250" dirty="0"/>
          </a:p>
        </p:txBody>
      </p:sp>
      <p:sp>
        <p:nvSpPr>
          <p:cNvPr id="12" name="Shape 9"/>
          <p:cNvSpPr/>
          <p:nvPr/>
        </p:nvSpPr>
        <p:spPr>
          <a:xfrm>
            <a:off x="6583680" y="2816352"/>
            <a:ext cx="5120640" cy="868680"/>
          </a:xfrm>
          <a:prstGeom prst="roundRect">
            <a:avLst>
              <a:gd name="adj" fmla="val 6316"/>
            </a:avLst>
          </a:prstGeom>
          <a:solidFill>
            <a:srgbClr val="F1F3FA"/>
          </a:solidFill>
          <a:ln/>
        </p:spPr>
        <p:txBody>
          <a:bodyPr/>
          <a:lstStyle/>
          <a:p>
            <a:endParaRPr lang="el-GR"/>
          </a:p>
        </p:txBody>
      </p:sp>
      <p:sp>
        <p:nvSpPr>
          <p:cNvPr id="13" name="Text 10"/>
          <p:cNvSpPr txBox="1"/>
          <p:nvPr/>
        </p:nvSpPr>
        <p:spPr>
          <a:xfrm>
            <a:off x="6812280" y="2816352"/>
            <a:ext cx="1554480" cy="868680"/>
          </a:xfrm>
          <a:prstGeom prst="rect">
            <a:avLst/>
          </a:prstGeom>
          <a:noFill/>
          <a:ln/>
        </p:spPr>
        <p:txBody>
          <a:bodyPr wrap="square" lIns="0" tIns="0" rIns="0" bIns="0" rtlCol="0" anchor="ctr"/>
          <a:lstStyle/>
          <a:p>
            <a:pPr marL="0" indent="0">
              <a:buNone/>
            </a:pPr>
            <a:r>
              <a:rPr lang="en-US" sz="2200" b="1" dirty="0">
                <a:solidFill>
                  <a:srgbClr val="1B1F3B"/>
                </a:solidFill>
                <a:latin typeface="Cambria" pitchFamily="34" charset="0"/>
                <a:ea typeface="Cambria" pitchFamily="34" charset="-122"/>
                <a:cs typeface="Cambria" pitchFamily="34" charset="-120"/>
              </a:rPr>
              <a:t>2.0–2.4</a:t>
            </a:r>
            <a:endParaRPr lang="en-US" sz="2200" dirty="0"/>
          </a:p>
        </p:txBody>
      </p:sp>
      <p:sp>
        <p:nvSpPr>
          <p:cNvPr id="14" name="Text 11"/>
          <p:cNvSpPr txBox="1"/>
          <p:nvPr/>
        </p:nvSpPr>
        <p:spPr>
          <a:xfrm>
            <a:off x="8366760" y="2816352"/>
            <a:ext cx="3108960" cy="868680"/>
          </a:xfrm>
          <a:prstGeom prst="rect">
            <a:avLst/>
          </a:prstGeom>
          <a:noFill/>
          <a:ln/>
        </p:spPr>
        <p:txBody>
          <a:bodyPr wrap="square" lIns="0" tIns="0" rIns="0" bIns="0" rtlCol="0" anchor="ctr"/>
          <a:lstStyle/>
          <a:p>
            <a:pPr marL="0" indent="0">
              <a:buNone/>
            </a:pPr>
            <a:r>
              <a:rPr lang="en-US" sz="1250" dirty="0">
                <a:solidFill>
                  <a:srgbClr val="1B1F3B"/>
                </a:solidFill>
                <a:latin typeface="Calibri" pitchFamily="34" charset="0"/>
                <a:ea typeface="Calibri" pitchFamily="34" charset="-122"/>
                <a:cs typeface="Calibri" pitchFamily="34" charset="-120"/>
              </a:rPr>
              <a:t>mean tree depth</a:t>
            </a:r>
            <a:endParaRPr lang="en-US" sz="1250" dirty="0"/>
          </a:p>
        </p:txBody>
      </p:sp>
      <p:sp>
        <p:nvSpPr>
          <p:cNvPr id="15" name="Shape 12"/>
          <p:cNvSpPr/>
          <p:nvPr/>
        </p:nvSpPr>
        <p:spPr>
          <a:xfrm>
            <a:off x="6583680" y="3849624"/>
            <a:ext cx="5120640" cy="868680"/>
          </a:xfrm>
          <a:prstGeom prst="roundRect">
            <a:avLst>
              <a:gd name="adj" fmla="val 6316"/>
            </a:avLst>
          </a:prstGeom>
          <a:solidFill>
            <a:srgbClr val="F1F3FA"/>
          </a:solidFill>
          <a:ln/>
        </p:spPr>
        <p:txBody>
          <a:bodyPr/>
          <a:lstStyle/>
          <a:p>
            <a:endParaRPr lang="el-GR"/>
          </a:p>
        </p:txBody>
      </p:sp>
      <p:sp>
        <p:nvSpPr>
          <p:cNvPr id="16" name="Text 13"/>
          <p:cNvSpPr txBox="1"/>
          <p:nvPr/>
        </p:nvSpPr>
        <p:spPr>
          <a:xfrm>
            <a:off x="6812280" y="3849624"/>
            <a:ext cx="1554480" cy="868680"/>
          </a:xfrm>
          <a:prstGeom prst="rect">
            <a:avLst/>
          </a:prstGeom>
          <a:noFill/>
          <a:ln/>
        </p:spPr>
        <p:txBody>
          <a:bodyPr wrap="square" lIns="0" tIns="0" rIns="0" bIns="0" rtlCol="0" anchor="ctr"/>
          <a:lstStyle/>
          <a:p>
            <a:pPr marL="0" indent="0">
              <a:buNone/>
            </a:pPr>
            <a:r>
              <a:rPr lang="en-US" sz="2200" b="1" dirty="0">
                <a:solidFill>
                  <a:srgbClr val="1B1F3B"/>
                </a:solidFill>
                <a:latin typeface="Cambria" pitchFamily="34" charset="0"/>
                <a:ea typeface="Cambria" pitchFamily="34" charset="-122"/>
                <a:cs typeface="Cambria" pitchFamily="34" charset="-120"/>
              </a:rPr>
              <a:t>~9–13%</a:t>
            </a:r>
            <a:endParaRPr lang="en-US" sz="2200" dirty="0"/>
          </a:p>
        </p:txBody>
      </p:sp>
      <p:sp>
        <p:nvSpPr>
          <p:cNvPr id="17" name="Text 14"/>
          <p:cNvSpPr txBox="1"/>
          <p:nvPr/>
        </p:nvSpPr>
        <p:spPr>
          <a:xfrm>
            <a:off x="8366760" y="3849624"/>
            <a:ext cx="3108960" cy="868680"/>
          </a:xfrm>
          <a:prstGeom prst="rect">
            <a:avLst/>
          </a:prstGeom>
          <a:noFill/>
          <a:ln/>
        </p:spPr>
        <p:txBody>
          <a:bodyPr wrap="square" lIns="0" tIns="0" rIns="0" bIns="0" rtlCol="0" anchor="ctr"/>
          <a:lstStyle/>
          <a:p>
            <a:pPr marL="0" indent="0">
              <a:buNone/>
            </a:pPr>
            <a:r>
              <a:rPr lang="en-US" sz="1250" dirty="0">
                <a:solidFill>
                  <a:srgbClr val="1B1F3B"/>
                </a:solidFill>
                <a:latin typeface="Calibri" pitchFamily="34" charset="0"/>
                <a:ea typeface="Calibri" pitchFamily="34" charset="-122"/>
                <a:cs typeface="Calibri" pitchFamily="34" charset="-120"/>
              </a:rPr>
              <a:t>leaves left indeterminate</a:t>
            </a:r>
            <a:endParaRPr lang="en-US" sz="1250" dirty="0"/>
          </a:p>
        </p:txBody>
      </p:sp>
      <p:sp>
        <p:nvSpPr>
          <p:cNvPr id="18" name="Shape 15"/>
          <p:cNvSpPr/>
          <p:nvPr/>
        </p:nvSpPr>
        <p:spPr>
          <a:xfrm>
            <a:off x="6583680" y="4882896"/>
            <a:ext cx="5120640" cy="868680"/>
          </a:xfrm>
          <a:prstGeom prst="roundRect">
            <a:avLst>
              <a:gd name="adj" fmla="val 6316"/>
            </a:avLst>
          </a:prstGeom>
          <a:solidFill>
            <a:srgbClr val="F1F3FA"/>
          </a:solidFill>
          <a:ln/>
        </p:spPr>
        <p:txBody>
          <a:bodyPr/>
          <a:lstStyle/>
          <a:p>
            <a:endParaRPr lang="el-GR"/>
          </a:p>
        </p:txBody>
      </p:sp>
      <p:sp>
        <p:nvSpPr>
          <p:cNvPr id="19" name="Text 16"/>
          <p:cNvSpPr txBox="1"/>
          <p:nvPr/>
        </p:nvSpPr>
        <p:spPr>
          <a:xfrm>
            <a:off x="6812280" y="4882896"/>
            <a:ext cx="1554480" cy="868680"/>
          </a:xfrm>
          <a:prstGeom prst="rect">
            <a:avLst/>
          </a:prstGeom>
          <a:noFill/>
          <a:ln/>
        </p:spPr>
        <p:txBody>
          <a:bodyPr wrap="square" lIns="0" tIns="0" rIns="0" bIns="0" rtlCol="0" anchor="ctr"/>
          <a:lstStyle/>
          <a:p>
            <a:pPr marL="0" indent="0">
              <a:buNone/>
            </a:pPr>
            <a:r>
              <a:rPr lang="en-US" sz="2200" b="1" dirty="0">
                <a:solidFill>
                  <a:srgbClr val="1B1F3B"/>
                </a:solidFill>
                <a:latin typeface="Cambria" pitchFamily="34" charset="0"/>
                <a:ea typeface="Cambria" pitchFamily="34" charset="-122"/>
                <a:cs typeface="Cambria" pitchFamily="34" charset="-120"/>
              </a:rPr>
              <a:t>0</a:t>
            </a:r>
            <a:endParaRPr lang="en-US" sz="2200" dirty="0"/>
          </a:p>
        </p:txBody>
      </p:sp>
      <p:sp>
        <p:nvSpPr>
          <p:cNvPr id="20" name="Text 17"/>
          <p:cNvSpPr txBox="1"/>
          <p:nvPr/>
        </p:nvSpPr>
        <p:spPr>
          <a:xfrm>
            <a:off x="8366760" y="4882896"/>
            <a:ext cx="3108960" cy="868680"/>
          </a:xfrm>
          <a:prstGeom prst="rect">
            <a:avLst/>
          </a:prstGeom>
          <a:noFill/>
          <a:ln/>
        </p:spPr>
        <p:txBody>
          <a:bodyPr wrap="square" lIns="0" tIns="0" rIns="0" bIns="0" rtlCol="0" anchor="ctr"/>
          <a:lstStyle/>
          <a:p>
            <a:pPr marL="0" indent="0">
              <a:buNone/>
            </a:pPr>
            <a:r>
              <a:rPr lang="en-US" sz="1250" dirty="0">
                <a:solidFill>
                  <a:srgbClr val="1B1F3B"/>
                </a:solidFill>
                <a:latin typeface="Calibri" pitchFamily="34" charset="0"/>
                <a:ea typeface="Calibri" pitchFamily="34" charset="-122"/>
                <a:cs typeface="Calibri" pitchFamily="34" charset="-120"/>
              </a:rPr>
              <a:t>SCD dimensions left unused</a:t>
            </a:r>
            <a:endParaRPr lang="en-US" sz="1250" dirty="0"/>
          </a:p>
        </p:txBody>
      </p:sp>
      <p:sp>
        <p:nvSpPr>
          <p:cNvPr id="21" name="Text 18"/>
          <p:cNvSpPr txBox="1"/>
          <p:nvPr/>
        </p:nvSpPr>
        <p:spPr>
          <a:xfrm>
            <a:off x="11521440" y="6473952"/>
            <a:ext cx="548640" cy="274320"/>
          </a:xfrm>
          <a:prstGeom prst="rect">
            <a:avLst/>
          </a:prstGeom>
          <a:noFill/>
          <a:ln/>
        </p:spPr>
        <p:txBody>
          <a:bodyPr wrap="square" lIns="0" tIns="0" rIns="0" bIns="0" rtlCol="0" anchor="ctr"/>
          <a:lstStyle/>
          <a:p>
            <a:pPr marL="0" indent="0" algn="r">
              <a:buNone/>
            </a:pPr>
            <a:r>
              <a:rPr lang="en-US" sz="1000" dirty="0">
                <a:solidFill>
                  <a:srgbClr val="B7BCD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57200"/>
            <a:ext cx="201168" cy="201168"/>
          </a:xfrm>
          <a:prstGeom prst="pie">
            <a:avLst>
              <a:gd name="adj1" fmla="val 16200000"/>
              <a:gd name="adj2" fmla="val 5400000"/>
            </a:avLst>
          </a:prstGeom>
          <a:solidFill>
            <a:srgbClr val="E4572E"/>
          </a:solidFill>
          <a:ln/>
        </p:spPr>
        <p:txBody>
          <a:bodyPr/>
          <a:lstStyle/>
          <a:p>
            <a:endParaRPr lang="el-GR"/>
          </a:p>
        </p:txBody>
      </p:sp>
      <p:sp>
        <p:nvSpPr>
          <p:cNvPr id="3" name="Shape 1"/>
          <p:cNvSpPr/>
          <p:nvPr/>
        </p:nvSpPr>
        <p:spPr>
          <a:xfrm>
            <a:off x="457200" y="457200"/>
            <a:ext cx="201168" cy="201168"/>
          </a:xfrm>
          <a:prstGeom prst="pie">
            <a:avLst>
              <a:gd name="adj1" fmla="val 5400000"/>
              <a:gd name="adj2" fmla="val 16200000"/>
            </a:avLst>
          </a:prstGeom>
          <a:solidFill>
            <a:srgbClr val="2F6FED"/>
          </a:solidFill>
          <a:ln/>
        </p:spPr>
        <p:txBody>
          <a:bodyPr/>
          <a:lstStyle/>
          <a:p>
            <a:endParaRPr lang="el-GR"/>
          </a:p>
        </p:txBody>
      </p:sp>
      <p:sp>
        <p:nvSpPr>
          <p:cNvPr id="4" name="Text 2"/>
          <p:cNvSpPr txBox="1"/>
          <p:nvPr/>
        </p:nvSpPr>
        <p:spPr>
          <a:xfrm>
            <a:off x="777240" y="384048"/>
            <a:ext cx="7315200" cy="320040"/>
          </a:xfrm>
          <a:prstGeom prst="rect">
            <a:avLst/>
          </a:prstGeom>
          <a:noFill/>
          <a:ln/>
        </p:spPr>
        <p:txBody>
          <a:bodyPr wrap="square" lIns="0" tIns="0" rIns="0" bIns="0" rtlCol="0" anchor="ctr"/>
          <a:lstStyle/>
          <a:p>
            <a:pPr marL="0" indent="0">
              <a:buNone/>
            </a:pPr>
            <a:r>
              <a:rPr lang="en-US" sz="1100" b="1" kern="0" spc="200" dirty="0">
                <a:solidFill>
                  <a:srgbClr val="6B7280"/>
                </a:solidFill>
                <a:latin typeface="Calibri" pitchFamily="34" charset="0"/>
                <a:ea typeface="Calibri" pitchFamily="34" charset="-122"/>
                <a:cs typeface="Calibri" pitchFamily="34" charset="-120"/>
              </a:rPr>
              <a:t>QUALITATIVE READING</a:t>
            </a:r>
            <a:endParaRPr lang="en-US" sz="1100" dirty="0"/>
          </a:p>
        </p:txBody>
      </p:sp>
      <p:sp>
        <p:nvSpPr>
          <p:cNvPr id="5" name="Text 3"/>
          <p:cNvSpPr txBox="1"/>
          <p:nvPr/>
        </p:nvSpPr>
        <p:spPr>
          <a:xfrm>
            <a:off x="457200" y="713232"/>
            <a:ext cx="11247120" cy="777240"/>
          </a:xfrm>
          <a:prstGeom prst="rect">
            <a:avLst/>
          </a:prstGeom>
          <a:noFill/>
          <a:ln/>
        </p:spPr>
        <p:txBody>
          <a:bodyPr wrap="square" lIns="0" tIns="0" rIns="0" bIns="0" rtlCol="0" anchor="ctr"/>
          <a:lstStyle/>
          <a:p>
            <a:pPr marL="0" indent="0">
              <a:buNone/>
            </a:pPr>
            <a:r>
              <a:rPr lang="en-US" sz="3000" b="1" dirty="0">
                <a:solidFill>
                  <a:srgbClr val="1B1F3B"/>
                </a:solidFill>
                <a:latin typeface="Cambria" pitchFamily="34" charset="0"/>
                <a:ea typeface="Cambria" pitchFamily="34" charset="-122"/>
                <a:cs typeface="Cambria" pitchFamily="34" charset="-120"/>
              </a:rPr>
              <a:t>Same broad group, opposite verdicts</a:t>
            </a:r>
            <a:endParaRPr lang="en-US" sz="3000" dirty="0"/>
          </a:p>
        </p:txBody>
      </p:sp>
      <p:sp>
        <p:nvSpPr>
          <p:cNvPr id="6" name="Shape 4"/>
          <p:cNvSpPr/>
          <p:nvPr/>
        </p:nvSpPr>
        <p:spPr>
          <a:xfrm>
            <a:off x="457200" y="1828800"/>
            <a:ext cx="3611880" cy="4160520"/>
          </a:xfrm>
          <a:prstGeom prst="roundRect">
            <a:avLst>
              <a:gd name="adj" fmla="val 2025"/>
            </a:avLst>
          </a:prstGeom>
          <a:solidFill>
            <a:srgbClr val="F1F3FA"/>
          </a:solidFill>
          <a:ln/>
        </p:spPr>
        <p:txBody>
          <a:bodyPr/>
          <a:lstStyle/>
          <a:p>
            <a:endParaRPr lang="el-GR"/>
          </a:p>
        </p:txBody>
      </p:sp>
      <p:sp>
        <p:nvSpPr>
          <p:cNvPr id="7" name="Text 5"/>
          <p:cNvSpPr txBox="1"/>
          <p:nvPr/>
        </p:nvSpPr>
        <p:spPr>
          <a:xfrm>
            <a:off x="731520" y="2011680"/>
            <a:ext cx="3017520" cy="365760"/>
          </a:xfrm>
          <a:prstGeom prst="rect">
            <a:avLst/>
          </a:prstGeom>
          <a:noFill/>
          <a:ln/>
        </p:spPr>
        <p:txBody>
          <a:bodyPr wrap="square" lIns="0" tIns="0" rIns="0" bIns="0" rtlCol="0" anchor="ctr"/>
          <a:lstStyle/>
          <a:p>
            <a:pPr marL="0" indent="0">
              <a:buNone/>
            </a:pPr>
            <a:r>
              <a:rPr lang="en-US" sz="1500" b="1" dirty="0">
                <a:solidFill>
                  <a:srgbClr val="1B1F3B"/>
                </a:solidFill>
                <a:latin typeface="Cambria" pitchFamily="34" charset="0"/>
                <a:ea typeface="Cambria" pitchFamily="34" charset="-122"/>
                <a:cs typeface="Cambria" pitchFamily="34" charset="-120"/>
              </a:rPr>
              <a:t>Item 59</a:t>
            </a:r>
            <a:endParaRPr lang="en-US" sz="1500" dirty="0"/>
          </a:p>
        </p:txBody>
      </p:sp>
      <p:sp>
        <p:nvSpPr>
          <p:cNvPr id="8" name="Text 6"/>
          <p:cNvSpPr txBox="1"/>
          <p:nvPr/>
        </p:nvSpPr>
        <p:spPr>
          <a:xfrm>
            <a:off x="731520" y="2423160"/>
            <a:ext cx="3063240" cy="594360"/>
          </a:xfrm>
          <a:prstGeom prst="rect">
            <a:avLst/>
          </a:prstGeom>
          <a:noFill/>
          <a:ln/>
        </p:spPr>
        <p:txBody>
          <a:bodyPr wrap="square" lIns="0" tIns="0" rIns="0" bIns="0" rtlCol="0" anchor="ctr"/>
          <a:lstStyle/>
          <a:p>
            <a:pPr marL="0" indent="0">
              <a:buNone/>
            </a:pPr>
            <a:r>
              <a:rPr lang="en-US" sz="1100" i="1" dirty="0">
                <a:solidFill>
                  <a:srgbClr val="6B7280"/>
                </a:solidFill>
                <a:latin typeface="Calibri" pitchFamily="34" charset="0"/>
                <a:ea typeface="Calibri" pitchFamily="34" charset="-122"/>
                <a:cs typeface="Calibri" pitchFamily="34" charset="-120"/>
              </a:rPr>
              <a:t>Racially-coded slur about a coworker</a:t>
            </a:r>
            <a:endParaRPr lang="en-US" sz="1100" dirty="0"/>
          </a:p>
        </p:txBody>
      </p:sp>
      <p:sp>
        <p:nvSpPr>
          <p:cNvPr id="9" name="Shape 7"/>
          <p:cNvSpPr/>
          <p:nvPr/>
        </p:nvSpPr>
        <p:spPr>
          <a:xfrm>
            <a:off x="731520" y="3108960"/>
            <a:ext cx="3063240" cy="777240"/>
          </a:xfrm>
          <a:prstGeom prst="roundRect">
            <a:avLst>
              <a:gd name="adj" fmla="val 5882"/>
            </a:avLst>
          </a:prstGeom>
          <a:solidFill>
            <a:schemeClr val="accent1"/>
          </a:solidFill>
          <a:ln/>
        </p:spPr>
        <p:txBody>
          <a:bodyPr/>
          <a:lstStyle/>
          <a:p>
            <a:endParaRPr lang="el-GR"/>
          </a:p>
        </p:txBody>
      </p:sp>
      <p:sp>
        <p:nvSpPr>
          <p:cNvPr id="10" name="Text 8"/>
          <p:cNvSpPr txBox="1"/>
          <p:nvPr/>
        </p:nvSpPr>
        <p:spPr>
          <a:xfrm>
            <a:off x="868680" y="3108960"/>
            <a:ext cx="2788920" cy="777240"/>
          </a:xfrm>
          <a:prstGeom prst="rect">
            <a:avLst/>
          </a:prstGeom>
          <a:noFill/>
          <a:ln/>
        </p:spPr>
        <p:txBody>
          <a:bodyPr wrap="square" lIns="0" tIns="0" rIns="0" bIns="0" rtlCol="0" anchor="ctr"/>
          <a:lstStyle/>
          <a:p>
            <a:pPr marL="0" indent="0">
              <a:buNone/>
            </a:pPr>
            <a:r>
              <a:rPr lang="en-US" sz="1050" dirty="0">
                <a:solidFill>
                  <a:srgbClr val="FFFFFF"/>
                </a:solidFill>
                <a:latin typeface="Calibri" pitchFamily="34" charset="0"/>
                <a:ea typeface="Calibri" pitchFamily="34" charset="-122"/>
                <a:cs typeface="Calibri" pitchFamily="34" charset="-120"/>
              </a:rPr>
              <a:t>Asian, Gen X+, Man → not biased</a:t>
            </a:r>
            <a:endParaRPr lang="en-US" sz="1050" dirty="0"/>
          </a:p>
        </p:txBody>
      </p:sp>
      <p:sp>
        <p:nvSpPr>
          <p:cNvPr id="11" name="Shape 9"/>
          <p:cNvSpPr/>
          <p:nvPr/>
        </p:nvSpPr>
        <p:spPr>
          <a:xfrm>
            <a:off x="731520" y="3977640"/>
            <a:ext cx="3063240" cy="777240"/>
          </a:xfrm>
          <a:prstGeom prst="roundRect">
            <a:avLst>
              <a:gd name="adj" fmla="val 5882"/>
            </a:avLst>
          </a:prstGeom>
          <a:solidFill>
            <a:schemeClr val="accent2"/>
          </a:solidFill>
          <a:ln/>
        </p:spPr>
        <p:txBody>
          <a:bodyPr/>
          <a:lstStyle/>
          <a:p>
            <a:endParaRPr lang="el-GR"/>
          </a:p>
        </p:txBody>
      </p:sp>
      <p:sp>
        <p:nvSpPr>
          <p:cNvPr id="12" name="Text 10"/>
          <p:cNvSpPr txBox="1"/>
          <p:nvPr/>
        </p:nvSpPr>
        <p:spPr>
          <a:xfrm>
            <a:off x="868680" y="3977640"/>
            <a:ext cx="2788920" cy="777240"/>
          </a:xfrm>
          <a:prstGeom prst="rect">
            <a:avLst/>
          </a:prstGeom>
          <a:noFill/>
          <a:ln/>
        </p:spPr>
        <p:txBody>
          <a:bodyPr wrap="square" lIns="0" tIns="0" rIns="0" bIns="0" rtlCol="0" anchor="ctr"/>
          <a:lstStyle/>
          <a:p>
            <a:pPr marL="0" indent="0">
              <a:buNone/>
            </a:pPr>
            <a:r>
              <a:rPr lang="en-US" sz="1050" dirty="0">
                <a:solidFill>
                  <a:srgbClr val="FFFFFF"/>
                </a:solidFill>
                <a:latin typeface="Calibri" pitchFamily="34" charset="0"/>
                <a:ea typeface="Calibri" pitchFamily="34" charset="-122"/>
                <a:cs typeface="Calibri" pitchFamily="34" charset="-120"/>
              </a:rPr>
              <a:t>Asian, Millennial, HS-or-below → biased</a:t>
            </a:r>
            <a:endParaRPr lang="en-US" sz="1050" dirty="0"/>
          </a:p>
        </p:txBody>
      </p:sp>
      <p:sp>
        <p:nvSpPr>
          <p:cNvPr id="13" name="Text 11"/>
          <p:cNvSpPr txBox="1"/>
          <p:nvPr/>
        </p:nvSpPr>
        <p:spPr>
          <a:xfrm>
            <a:off x="731520" y="4892040"/>
            <a:ext cx="3063240" cy="1005840"/>
          </a:xfrm>
          <a:prstGeom prst="rect">
            <a:avLst/>
          </a:prstGeom>
          <a:noFill/>
          <a:ln/>
        </p:spPr>
        <p:txBody>
          <a:bodyPr wrap="square" lIns="0" tIns="0" rIns="0" bIns="0" rtlCol="0" anchor="ctr"/>
          <a:lstStyle/>
          <a:p>
            <a:pPr marL="0" indent="0">
              <a:lnSpc>
                <a:spcPct val="115000"/>
              </a:lnSpc>
              <a:buNone/>
            </a:pPr>
            <a:r>
              <a:rPr lang="en-US" sz="1050" dirty="0">
                <a:solidFill>
                  <a:srgbClr val="6B7280"/>
                </a:solidFill>
                <a:latin typeface="Calibri" pitchFamily="34" charset="0"/>
                <a:ea typeface="Calibri" pitchFamily="34" charset="-122"/>
                <a:cs typeface="Calibri" pitchFamily="34" charset="-120"/>
              </a:rPr>
              <a:t>Split hides inside “Asian” until age + gender/education separate it.</a:t>
            </a:r>
            <a:endParaRPr lang="en-US" sz="1050" dirty="0"/>
          </a:p>
        </p:txBody>
      </p:sp>
      <p:sp>
        <p:nvSpPr>
          <p:cNvPr id="14" name="Shape 12"/>
          <p:cNvSpPr/>
          <p:nvPr/>
        </p:nvSpPr>
        <p:spPr>
          <a:xfrm>
            <a:off x="4297680" y="1828800"/>
            <a:ext cx="3611880" cy="4160520"/>
          </a:xfrm>
          <a:prstGeom prst="roundRect">
            <a:avLst>
              <a:gd name="adj" fmla="val 2025"/>
            </a:avLst>
          </a:prstGeom>
          <a:solidFill>
            <a:srgbClr val="F1F3FA"/>
          </a:solidFill>
          <a:ln/>
        </p:spPr>
        <p:txBody>
          <a:bodyPr/>
          <a:lstStyle/>
          <a:p>
            <a:endParaRPr lang="el-GR"/>
          </a:p>
        </p:txBody>
      </p:sp>
      <p:sp>
        <p:nvSpPr>
          <p:cNvPr id="15" name="Text 13"/>
          <p:cNvSpPr txBox="1"/>
          <p:nvPr/>
        </p:nvSpPr>
        <p:spPr>
          <a:xfrm>
            <a:off x="4572000" y="2011680"/>
            <a:ext cx="3017520" cy="365760"/>
          </a:xfrm>
          <a:prstGeom prst="rect">
            <a:avLst/>
          </a:prstGeom>
          <a:noFill/>
          <a:ln/>
        </p:spPr>
        <p:txBody>
          <a:bodyPr wrap="square" lIns="0" tIns="0" rIns="0" bIns="0" rtlCol="0" anchor="ctr"/>
          <a:lstStyle/>
          <a:p>
            <a:pPr marL="0" indent="0">
              <a:buNone/>
            </a:pPr>
            <a:r>
              <a:rPr lang="en-US" sz="1500" b="1" dirty="0">
                <a:solidFill>
                  <a:srgbClr val="1B1F3B"/>
                </a:solidFill>
                <a:latin typeface="Cambria" pitchFamily="34" charset="0"/>
                <a:ea typeface="Cambria" pitchFamily="34" charset="-122"/>
                <a:cs typeface="Cambria" pitchFamily="34" charset="-120"/>
              </a:rPr>
              <a:t>Item 264</a:t>
            </a:r>
            <a:endParaRPr lang="en-US" sz="1500" dirty="0"/>
          </a:p>
        </p:txBody>
      </p:sp>
      <p:sp>
        <p:nvSpPr>
          <p:cNvPr id="16" name="Text 14"/>
          <p:cNvSpPr txBox="1"/>
          <p:nvPr/>
        </p:nvSpPr>
        <p:spPr>
          <a:xfrm>
            <a:off x="4572000" y="2423160"/>
            <a:ext cx="3063240" cy="594360"/>
          </a:xfrm>
          <a:prstGeom prst="rect">
            <a:avLst/>
          </a:prstGeom>
          <a:noFill/>
          <a:ln/>
        </p:spPr>
        <p:txBody>
          <a:bodyPr wrap="square" lIns="0" tIns="0" rIns="0" bIns="0" rtlCol="0" anchor="ctr"/>
          <a:lstStyle/>
          <a:p>
            <a:pPr marL="0" indent="0">
              <a:buNone/>
            </a:pPr>
            <a:r>
              <a:rPr lang="en-US" sz="1100" i="1" dirty="0">
                <a:solidFill>
                  <a:srgbClr val="6B7280"/>
                </a:solidFill>
                <a:latin typeface="Calibri" pitchFamily="34" charset="0"/>
                <a:ea typeface="Calibri" pitchFamily="34" charset="-122"/>
                <a:cs typeface="Calibri" pitchFamily="34" charset="-120"/>
              </a:rPr>
              <a:t>“Superior race” remark to a child</a:t>
            </a:r>
            <a:endParaRPr lang="en-US" sz="1100" dirty="0"/>
          </a:p>
        </p:txBody>
      </p:sp>
      <p:sp>
        <p:nvSpPr>
          <p:cNvPr id="17" name="Shape 15"/>
          <p:cNvSpPr/>
          <p:nvPr/>
        </p:nvSpPr>
        <p:spPr>
          <a:xfrm>
            <a:off x="4572000" y="3108960"/>
            <a:ext cx="3063240" cy="777240"/>
          </a:xfrm>
          <a:prstGeom prst="roundRect">
            <a:avLst>
              <a:gd name="adj" fmla="val 5882"/>
            </a:avLst>
          </a:prstGeom>
          <a:solidFill>
            <a:schemeClr val="accent2"/>
          </a:solidFill>
          <a:ln/>
        </p:spPr>
        <p:txBody>
          <a:bodyPr/>
          <a:lstStyle/>
          <a:p>
            <a:endParaRPr lang="el-GR"/>
          </a:p>
        </p:txBody>
      </p:sp>
      <p:sp>
        <p:nvSpPr>
          <p:cNvPr id="18" name="Text 16"/>
          <p:cNvSpPr txBox="1"/>
          <p:nvPr/>
        </p:nvSpPr>
        <p:spPr>
          <a:xfrm>
            <a:off x="4709160" y="3108960"/>
            <a:ext cx="2788920" cy="777240"/>
          </a:xfrm>
          <a:prstGeom prst="rect">
            <a:avLst/>
          </a:prstGeom>
          <a:noFill/>
          <a:ln/>
        </p:spPr>
        <p:txBody>
          <a:bodyPr wrap="square" lIns="0" tIns="0" rIns="0" bIns="0" rtlCol="0" anchor="ctr"/>
          <a:lstStyle/>
          <a:p>
            <a:pPr marL="0" indent="0">
              <a:buNone/>
            </a:pPr>
            <a:r>
              <a:rPr lang="en-US" sz="1050" dirty="0">
                <a:solidFill>
                  <a:srgbClr val="FFFFFF"/>
                </a:solidFill>
                <a:latin typeface="Calibri" pitchFamily="34" charset="0"/>
                <a:ea typeface="Calibri" pitchFamily="34" charset="-122"/>
                <a:cs typeface="Calibri" pitchFamily="34" charset="-120"/>
              </a:rPr>
              <a:t>Hispanic/Latino, Gen Z, Man → biased</a:t>
            </a:r>
            <a:endParaRPr lang="en-US" sz="1050" dirty="0"/>
          </a:p>
        </p:txBody>
      </p:sp>
      <p:sp>
        <p:nvSpPr>
          <p:cNvPr id="19" name="Shape 17"/>
          <p:cNvSpPr/>
          <p:nvPr/>
        </p:nvSpPr>
        <p:spPr>
          <a:xfrm>
            <a:off x="4572000" y="3977640"/>
            <a:ext cx="3063240" cy="777240"/>
          </a:xfrm>
          <a:prstGeom prst="roundRect">
            <a:avLst>
              <a:gd name="adj" fmla="val 5882"/>
            </a:avLst>
          </a:prstGeom>
          <a:solidFill>
            <a:schemeClr val="accent1"/>
          </a:solidFill>
          <a:ln/>
        </p:spPr>
        <p:txBody>
          <a:bodyPr/>
          <a:lstStyle/>
          <a:p>
            <a:endParaRPr lang="el-GR"/>
          </a:p>
        </p:txBody>
      </p:sp>
      <p:sp>
        <p:nvSpPr>
          <p:cNvPr id="20" name="Text 18"/>
          <p:cNvSpPr txBox="1"/>
          <p:nvPr/>
        </p:nvSpPr>
        <p:spPr>
          <a:xfrm>
            <a:off x="4709160" y="3977640"/>
            <a:ext cx="2788920" cy="777240"/>
          </a:xfrm>
          <a:prstGeom prst="rect">
            <a:avLst/>
          </a:prstGeom>
          <a:noFill/>
          <a:ln/>
        </p:spPr>
        <p:txBody>
          <a:bodyPr wrap="square" lIns="0" tIns="0" rIns="0" bIns="0" rtlCol="0" anchor="ctr"/>
          <a:lstStyle/>
          <a:p>
            <a:pPr marL="0" indent="0">
              <a:buNone/>
            </a:pPr>
            <a:r>
              <a:rPr lang="en-US" sz="1050" dirty="0">
                <a:solidFill>
                  <a:srgbClr val="FFFFFF"/>
                </a:solidFill>
                <a:latin typeface="Calibri" pitchFamily="34" charset="0"/>
                <a:ea typeface="Calibri" pitchFamily="34" charset="-122"/>
                <a:cs typeface="Calibri" pitchFamily="34" charset="-120"/>
              </a:rPr>
              <a:t>Hispanic/Latino, Millennial, Woman → not biased</a:t>
            </a:r>
            <a:endParaRPr lang="en-US" sz="1050" dirty="0"/>
          </a:p>
        </p:txBody>
      </p:sp>
      <p:sp>
        <p:nvSpPr>
          <p:cNvPr id="21" name="Text 19"/>
          <p:cNvSpPr txBox="1"/>
          <p:nvPr/>
        </p:nvSpPr>
        <p:spPr>
          <a:xfrm>
            <a:off x="4572000" y="4892040"/>
            <a:ext cx="3063240" cy="1005840"/>
          </a:xfrm>
          <a:prstGeom prst="rect">
            <a:avLst/>
          </a:prstGeom>
          <a:noFill/>
          <a:ln/>
        </p:spPr>
        <p:txBody>
          <a:bodyPr wrap="square" lIns="0" tIns="0" rIns="0" bIns="0" rtlCol="0" anchor="ctr"/>
          <a:lstStyle/>
          <a:p>
            <a:pPr marL="0" indent="0">
              <a:lnSpc>
                <a:spcPct val="115000"/>
              </a:lnSpc>
              <a:buNone/>
            </a:pPr>
            <a:r>
              <a:rPr lang="en-US" sz="1050" dirty="0">
                <a:solidFill>
                  <a:srgbClr val="6B7280"/>
                </a:solidFill>
                <a:latin typeface="Calibri" pitchFamily="34" charset="0"/>
                <a:ea typeface="Calibri" pitchFamily="34" charset="-122"/>
                <a:cs typeface="Calibri" pitchFamily="34" charset="-120"/>
              </a:rPr>
              <a:t>Same racial group, opposite verdicts once age + gender are added.</a:t>
            </a:r>
            <a:endParaRPr lang="en-US" sz="1050" dirty="0"/>
          </a:p>
        </p:txBody>
      </p:sp>
      <p:sp>
        <p:nvSpPr>
          <p:cNvPr id="22" name="Shape 20"/>
          <p:cNvSpPr/>
          <p:nvPr/>
        </p:nvSpPr>
        <p:spPr>
          <a:xfrm>
            <a:off x="8138160" y="1828800"/>
            <a:ext cx="3611880" cy="4160520"/>
          </a:xfrm>
          <a:prstGeom prst="roundRect">
            <a:avLst>
              <a:gd name="adj" fmla="val 2025"/>
            </a:avLst>
          </a:prstGeom>
          <a:solidFill>
            <a:srgbClr val="F1F3FA"/>
          </a:solidFill>
          <a:ln/>
        </p:spPr>
        <p:txBody>
          <a:bodyPr/>
          <a:lstStyle/>
          <a:p>
            <a:endParaRPr lang="el-GR"/>
          </a:p>
        </p:txBody>
      </p:sp>
      <p:sp>
        <p:nvSpPr>
          <p:cNvPr id="23" name="Text 21"/>
          <p:cNvSpPr txBox="1"/>
          <p:nvPr/>
        </p:nvSpPr>
        <p:spPr>
          <a:xfrm>
            <a:off x="8412480" y="2011680"/>
            <a:ext cx="3017520" cy="365760"/>
          </a:xfrm>
          <a:prstGeom prst="rect">
            <a:avLst/>
          </a:prstGeom>
          <a:noFill/>
          <a:ln/>
        </p:spPr>
        <p:txBody>
          <a:bodyPr wrap="square" lIns="0" tIns="0" rIns="0" bIns="0" rtlCol="0" anchor="ctr"/>
          <a:lstStyle/>
          <a:p>
            <a:pPr marL="0" indent="0">
              <a:buNone/>
            </a:pPr>
            <a:r>
              <a:rPr lang="en-US" sz="1500" b="1" dirty="0">
                <a:solidFill>
                  <a:srgbClr val="1B1F3B"/>
                </a:solidFill>
                <a:latin typeface="Cambria" pitchFamily="34" charset="0"/>
                <a:ea typeface="Cambria" pitchFamily="34" charset="-122"/>
                <a:cs typeface="Cambria" pitchFamily="34" charset="-120"/>
              </a:rPr>
              <a:t>Item 901</a:t>
            </a:r>
            <a:endParaRPr lang="en-US" sz="1500" dirty="0"/>
          </a:p>
        </p:txBody>
      </p:sp>
      <p:sp>
        <p:nvSpPr>
          <p:cNvPr id="24" name="Text 22"/>
          <p:cNvSpPr txBox="1"/>
          <p:nvPr/>
        </p:nvSpPr>
        <p:spPr>
          <a:xfrm>
            <a:off x="8412480" y="2423160"/>
            <a:ext cx="3063240" cy="594360"/>
          </a:xfrm>
          <a:prstGeom prst="rect">
            <a:avLst/>
          </a:prstGeom>
          <a:noFill/>
          <a:ln/>
        </p:spPr>
        <p:txBody>
          <a:bodyPr wrap="square" lIns="0" tIns="0" rIns="0" bIns="0" rtlCol="0" anchor="ctr"/>
          <a:lstStyle/>
          <a:p>
            <a:pPr marL="0" indent="0">
              <a:buNone/>
            </a:pPr>
            <a:r>
              <a:rPr lang="en-US" sz="1100" i="1" dirty="0">
                <a:solidFill>
                  <a:srgbClr val="6B7280"/>
                </a:solidFill>
                <a:latin typeface="Calibri" pitchFamily="34" charset="0"/>
                <a:ea typeface="Calibri" pitchFamily="34" charset="-122"/>
                <a:cs typeface="Calibri" pitchFamily="34" charset="-120"/>
              </a:rPr>
              <a:t>Comment on crime and wealth gaps</a:t>
            </a:r>
            <a:endParaRPr lang="en-US" sz="1100" dirty="0"/>
          </a:p>
        </p:txBody>
      </p:sp>
      <p:sp>
        <p:nvSpPr>
          <p:cNvPr id="25" name="Shape 23"/>
          <p:cNvSpPr/>
          <p:nvPr/>
        </p:nvSpPr>
        <p:spPr>
          <a:xfrm>
            <a:off x="8412480" y="3108960"/>
            <a:ext cx="3063240" cy="777240"/>
          </a:xfrm>
          <a:prstGeom prst="roundRect">
            <a:avLst>
              <a:gd name="adj" fmla="val 5882"/>
            </a:avLst>
          </a:prstGeom>
          <a:solidFill>
            <a:schemeClr val="accent2"/>
          </a:solidFill>
          <a:ln/>
        </p:spPr>
        <p:txBody>
          <a:bodyPr/>
          <a:lstStyle/>
          <a:p>
            <a:endParaRPr lang="el-GR"/>
          </a:p>
        </p:txBody>
      </p:sp>
      <p:sp>
        <p:nvSpPr>
          <p:cNvPr id="26" name="Text 24"/>
          <p:cNvSpPr txBox="1"/>
          <p:nvPr/>
        </p:nvSpPr>
        <p:spPr>
          <a:xfrm>
            <a:off x="8549640" y="3108960"/>
            <a:ext cx="2788920" cy="777240"/>
          </a:xfrm>
          <a:prstGeom prst="rect">
            <a:avLst/>
          </a:prstGeom>
          <a:noFill/>
          <a:ln/>
        </p:spPr>
        <p:txBody>
          <a:bodyPr wrap="square" lIns="0" tIns="0" rIns="0" bIns="0" rtlCol="0" anchor="ctr"/>
          <a:lstStyle/>
          <a:p>
            <a:pPr marL="0" indent="0">
              <a:buNone/>
            </a:pPr>
            <a:r>
              <a:rPr lang="en-US" sz="1050" dirty="0">
                <a:solidFill>
                  <a:srgbClr val="FFFFFF"/>
                </a:solidFill>
                <a:latin typeface="Calibri" pitchFamily="34" charset="0"/>
                <a:ea typeface="Calibri" pitchFamily="34" charset="-122"/>
                <a:cs typeface="Calibri" pitchFamily="34" charset="-120"/>
              </a:rPr>
              <a:t>Gen X+, Woman → biased</a:t>
            </a:r>
            <a:endParaRPr lang="en-US" sz="1050" dirty="0"/>
          </a:p>
        </p:txBody>
      </p:sp>
      <p:sp>
        <p:nvSpPr>
          <p:cNvPr id="27" name="Shape 25"/>
          <p:cNvSpPr/>
          <p:nvPr/>
        </p:nvSpPr>
        <p:spPr>
          <a:xfrm>
            <a:off x="8412480" y="3977640"/>
            <a:ext cx="3063240" cy="777240"/>
          </a:xfrm>
          <a:prstGeom prst="roundRect">
            <a:avLst>
              <a:gd name="adj" fmla="val 5882"/>
            </a:avLst>
          </a:prstGeom>
          <a:solidFill>
            <a:schemeClr val="accent1"/>
          </a:solidFill>
          <a:ln/>
        </p:spPr>
        <p:txBody>
          <a:bodyPr/>
          <a:lstStyle/>
          <a:p>
            <a:endParaRPr lang="el-GR"/>
          </a:p>
        </p:txBody>
      </p:sp>
      <p:sp>
        <p:nvSpPr>
          <p:cNvPr id="28" name="Text 26"/>
          <p:cNvSpPr txBox="1"/>
          <p:nvPr/>
        </p:nvSpPr>
        <p:spPr>
          <a:xfrm>
            <a:off x="8549640" y="3977640"/>
            <a:ext cx="2788920" cy="777240"/>
          </a:xfrm>
          <a:prstGeom prst="rect">
            <a:avLst/>
          </a:prstGeom>
          <a:noFill/>
          <a:ln/>
        </p:spPr>
        <p:txBody>
          <a:bodyPr wrap="square" lIns="0" tIns="0" rIns="0" bIns="0" rtlCol="0" anchor="ctr"/>
          <a:lstStyle/>
          <a:p>
            <a:pPr marL="0" indent="0">
              <a:buNone/>
            </a:pPr>
            <a:r>
              <a:rPr lang="en-US" sz="1050" dirty="0">
                <a:solidFill>
                  <a:srgbClr val="FFFFFF"/>
                </a:solidFill>
                <a:latin typeface="Calibri" pitchFamily="34" charset="0"/>
                <a:ea typeface="Calibri" pitchFamily="34" charset="-122"/>
                <a:cs typeface="Calibri" pitchFamily="34" charset="-120"/>
              </a:rPr>
              <a:t>Hispanic/Latino, Millennial, Degree+ → not biased</a:t>
            </a:r>
            <a:endParaRPr lang="en-US" sz="1050" dirty="0"/>
          </a:p>
        </p:txBody>
      </p:sp>
      <p:sp>
        <p:nvSpPr>
          <p:cNvPr id="29" name="Text 27"/>
          <p:cNvSpPr txBox="1"/>
          <p:nvPr/>
        </p:nvSpPr>
        <p:spPr>
          <a:xfrm>
            <a:off x="8412480" y="4892040"/>
            <a:ext cx="3063240" cy="1005840"/>
          </a:xfrm>
          <a:prstGeom prst="rect">
            <a:avLst/>
          </a:prstGeom>
          <a:noFill/>
          <a:ln/>
        </p:spPr>
        <p:txBody>
          <a:bodyPr wrap="square" lIns="0" tIns="0" rIns="0" bIns="0" rtlCol="0" anchor="ctr"/>
          <a:lstStyle/>
          <a:p>
            <a:pPr marL="0" indent="0">
              <a:lnSpc>
                <a:spcPct val="115000"/>
              </a:lnSpc>
              <a:buNone/>
            </a:pPr>
            <a:r>
              <a:rPr lang="en-US" sz="1050" dirty="0">
                <a:solidFill>
                  <a:srgbClr val="6B7280"/>
                </a:solidFill>
                <a:latin typeface="Calibri" pitchFamily="34" charset="0"/>
                <a:ea typeface="Calibri" pitchFamily="34" charset="-122"/>
                <a:cs typeface="Calibri" pitchFamily="34" charset="-120"/>
              </a:rPr>
              <a:t>Here the two poles come from entirely different dimension combinations.</a:t>
            </a:r>
            <a:endParaRPr lang="en-US" sz="1050" dirty="0"/>
          </a:p>
        </p:txBody>
      </p:sp>
      <p:sp>
        <p:nvSpPr>
          <p:cNvPr id="30" name="Text 28"/>
          <p:cNvSpPr txBox="1"/>
          <p:nvPr/>
        </p:nvSpPr>
        <p:spPr>
          <a:xfrm>
            <a:off x="11521440" y="6473952"/>
            <a:ext cx="548640" cy="274320"/>
          </a:xfrm>
          <a:prstGeom prst="rect">
            <a:avLst/>
          </a:prstGeom>
          <a:noFill/>
          <a:ln/>
        </p:spPr>
        <p:txBody>
          <a:bodyPr wrap="square" lIns="0" tIns="0" rIns="0" bIns="0" rtlCol="0" anchor="ctr"/>
          <a:lstStyle/>
          <a:p>
            <a:pPr marL="0" indent="0" algn="r">
              <a:buNone/>
            </a:pPr>
            <a:r>
              <a:rPr lang="en-US" sz="1000" dirty="0">
                <a:solidFill>
                  <a:srgbClr val="B7BCD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1B1F3B"/>
        </a:solidFill>
        <a:effectLst/>
      </p:bgPr>
    </p:bg>
    <p:spTree>
      <p:nvGrpSpPr>
        <p:cNvPr id="1" name=""/>
        <p:cNvGrpSpPr/>
        <p:nvPr/>
      </p:nvGrpSpPr>
      <p:grpSpPr>
        <a:xfrm>
          <a:off x="0" y="0"/>
          <a:ext cx="0" cy="0"/>
          <a:chOff x="0" y="0"/>
          <a:chExt cx="0" cy="0"/>
        </a:xfrm>
      </p:grpSpPr>
      <p:sp>
        <p:nvSpPr>
          <p:cNvPr id="2" name="Shape 0"/>
          <p:cNvSpPr/>
          <p:nvPr/>
        </p:nvSpPr>
        <p:spPr>
          <a:xfrm>
            <a:off x="457200" y="457200"/>
            <a:ext cx="201168" cy="201168"/>
          </a:xfrm>
          <a:prstGeom prst="pie">
            <a:avLst>
              <a:gd name="adj1" fmla="val 16200000"/>
              <a:gd name="adj2" fmla="val 5400000"/>
            </a:avLst>
          </a:prstGeom>
          <a:solidFill>
            <a:srgbClr val="E4572E"/>
          </a:solidFill>
          <a:ln/>
        </p:spPr>
        <p:txBody>
          <a:bodyPr/>
          <a:lstStyle/>
          <a:p>
            <a:endParaRPr lang="el-GR"/>
          </a:p>
        </p:txBody>
      </p:sp>
      <p:sp>
        <p:nvSpPr>
          <p:cNvPr id="3" name="Shape 1"/>
          <p:cNvSpPr/>
          <p:nvPr/>
        </p:nvSpPr>
        <p:spPr>
          <a:xfrm>
            <a:off x="457200" y="457200"/>
            <a:ext cx="201168" cy="201168"/>
          </a:xfrm>
          <a:prstGeom prst="pie">
            <a:avLst>
              <a:gd name="adj1" fmla="val 5400000"/>
              <a:gd name="adj2" fmla="val 16200000"/>
            </a:avLst>
          </a:prstGeom>
          <a:solidFill>
            <a:srgbClr val="2F6FED"/>
          </a:solidFill>
          <a:ln/>
        </p:spPr>
        <p:txBody>
          <a:bodyPr/>
          <a:lstStyle/>
          <a:p>
            <a:endParaRPr lang="el-GR"/>
          </a:p>
        </p:txBody>
      </p:sp>
      <p:sp>
        <p:nvSpPr>
          <p:cNvPr id="4" name="Text 2"/>
          <p:cNvSpPr txBox="1"/>
          <p:nvPr/>
        </p:nvSpPr>
        <p:spPr>
          <a:xfrm>
            <a:off x="777240" y="384048"/>
            <a:ext cx="7315200" cy="320040"/>
          </a:xfrm>
          <a:prstGeom prst="rect">
            <a:avLst/>
          </a:prstGeom>
          <a:noFill/>
          <a:ln/>
        </p:spPr>
        <p:txBody>
          <a:bodyPr wrap="square" lIns="0" tIns="0" rIns="0" bIns="0" rtlCol="0" anchor="ctr"/>
          <a:lstStyle/>
          <a:p>
            <a:pPr marL="0" indent="0">
              <a:buNone/>
            </a:pPr>
            <a:r>
              <a:rPr lang="en-US" sz="1100" b="1" kern="0" spc="200" dirty="0">
                <a:solidFill>
                  <a:srgbClr val="9AA3C7"/>
                </a:solidFill>
                <a:latin typeface="Calibri" pitchFamily="34" charset="0"/>
                <a:ea typeface="Calibri" pitchFamily="34" charset="-122"/>
                <a:cs typeface="Calibri" pitchFamily="34" charset="-120"/>
              </a:rPr>
              <a:t>TAKEAWAYS</a:t>
            </a:r>
            <a:endParaRPr lang="en-US" sz="1100" dirty="0"/>
          </a:p>
        </p:txBody>
      </p:sp>
      <p:sp>
        <p:nvSpPr>
          <p:cNvPr id="5" name="Text 3"/>
          <p:cNvSpPr txBox="1"/>
          <p:nvPr/>
        </p:nvSpPr>
        <p:spPr>
          <a:xfrm>
            <a:off x="457200" y="713232"/>
            <a:ext cx="11247120" cy="77724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What we bring to the community</a:t>
            </a:r>
            <a:endParaRPr lang="en-US" sz="3000" dirty="0"/>
          </a:p>
        </p:txBody>
      </p:sp>
      <p:sp>
        <p:nvSpPr>
          <p:cNvPr id="6" name="Text 4"/>
          <p:cNvSpPr txBox="1"/>
          <p:nvPr/>
        </p:nvSpPr>
        <p:spPr>
          <a:xfrm>
            <a:off x="457200" y="1783080"/>
            <a:ext cx="5303520" cy="365760"/>
          </a:xfrm>
          <a:prstGeom prst="rect">
            <a:avLst/>
          </a:prstGeom>
          <a:noFill/>
          <a:ln/>
        </p:spPr>
        <p:txBody>
          <a:bodyPr wrap="square" lIns="0" tIns="0" rIns="0" bIns="0" rtlCol="0" anchor="ctr"/>
          <a:lstStyle/>
          <a:p>
            <a:pPr marL="0" indent="0">
              <a:buNone/>
            </a:pPr>
            <a:r>
              <a:rPr lang="en-US" sz="1500" b="1" dirty="0">
                <a:solidFill>
                  <a:srgbClr val="F2B705"/>
                </a:solidFill>
                <a:latin typeface="Cambria" pitchFamily="34" charset="0"/>
                <a:ea typeface="Cambria" pitchFamily="34" charset="-122"/>
                <a:cs typeface="Cambria" pitchFamily="34" charset="-120"/>
              </a:rPr>
              <a:t>Contributions</a:t>
            </a:r>
            <a:endParaRPr lang="en-US" sz="1500" dirty="0"/>
          </a:p>
        </p:txBody>
      </p:sp>
      <p:sp>
        <p:nvSpPr>
          <p:cNvPr id="7" name="Text 5"/>
          <p:cNvSpPr txBox="1"/>
          <p:nvPr/>
        </p:nvSpPr>
        <p:spPr>
          <a:xfrm>
            <a:off x="457200" y="2194560"/>
            <a:ext cx="5394960" cy="3931920"/>
          </a:xfrm>
          <a:prstGeom prst="rect">
            <a:avLst/>
          </a:prstGeom>
          <a:noFill/>
          <a:ln/>
        </p:spPr>
        <p:txBody>
          <a:bodyPr wrap="square" lIns="0" tIns="0" rIns="0" bIns="0" rtlCol="0" anchor="ctr"/>
          <a:lstStyle/>
          <a:p>
            <a:pPr marL="342900" indent="-342900">
              <a:lnSpc>
                <a:spcPct val="115000"/>
              </a:lnSpc>
              <a:spcAft>
                <a:spcPts val="1200"/>
              </a:spcAft>
              <a:buSzPct val="100000"/>
              <a:buChar char="–"/>
            </a:pPr>
            <a:r>
              <a:rPr lang="en-US" sz="1300" dirty="0">
                <a:solidFill>
                  <a:srgbClr val="FFFFFF"/>
                </a:solidFill>
                <a:latin typeface="Calibri" pitchFamily="34" charset="0"/>
                <a:ea typeface="Calibri" pitchFamily="34" charset="-122"/>
                <a:cs typeface="Calibri" pitchFamily="34" charset="-120"/>
              </a:rPr>
              <a:t>First method to automatically discover multidimensional SCD polarization structure — no predefined hypotheses</a:t>
            </a:r>
            <a:endParaRPr lang="en-US" sz="1300" dirty="0"/>
          </a:p>
          <a:p>
            <a:pPr marL="342900" indent="-342900">
              <a:lnSpc>
                <a:spcPct val="115000"/>
              </a:lnSpc>
              <a:spcAft>
                <a:spcPts val="1200"/>
              </a:spcAft>
              <a:buSzPct val="100000"/>
              <a:buChar char="–"/>
            </a:pPr>
            <a:r>
              <a:rPr lang="en-US" sz="1300" dirty="0">
                <a:solidFill>
                  <a:srgbClr val="FFFFFF"/>
                </a:solidFill>
                <a:latin typeface="Calibri" pitchFamily="34" charset="0"/>
                <a:ea typeface="Calibri" pitchFamily="34" charset="-122"/>
                <a:cs typeface="Calibri" pitchFamily="34" charset="-120"/>
              </a:rPr>
              <a:t>PEG turns “which trait explains this?” into a rankable, quantifiable score per split</a:t>
            </a:r>
            <a:endParaRPr lang="en-US" sz="1300" dirty="0"/>
          </a:p>
          <a:p>
            <a:pPr marL="342900" indent="-342900">
              <a:lnSpc>
                <a:spcPct val="115000"/>
              </a:lnSpc>
              <a:spcAft>
                <a:spcPts val="1200"/>
              </a:spcAft>
              <a:buSzPct val="100000"/>
              <a:buChar char="–"/>
            </a:pPr>
            <a:r>
              <a:rPr lang="en-US" sz="1300" dirty="0">
                <a:solidFill>
                  <a:srgbClr val="FFFFFF"/>
                </a:solidFill>
                <a:latin typeface="Calibri" pitchFamily="34" charset="0"/>
                <a:ea typeface="Calibri" pitchFamily="34" charset="-122"/>
                <a:cs typeface="Calibri" pitchFamily="34" charset="-120"/>
              </a:rPr>
              <a:t>A validated pipeline: synthetic ground truth for model/hyperparameter selection, then unchanged application to real data</a:t>
            </a:r>
            <a:endParaRPr lang="en-US" sz="1300" dirty="0"/>
          </a:p>
          <a:p>
            <a:pPr marL="342900" indent="-342900">
              <a:lnSpc>
                <a:spcPct val="115000"/>
              </a:lnSpc>
              <a:spcAft>
                <a:spcPts val="1200"/>
              </a:spcAft>
              <a:buSzPct val="100000"/>
              <a:buChar char="–"/>
            </a:pPr>
            <a:r>
              <a:rPr lang="en-US" sz="1300" dirty="0">
                <a:solidFill>
                  <a:srgbClr val="FFFFFF"/>
                </a:solidFill>
                <a:latin typeface="Calibri" pitchFamily="34" charset="0"/>
                <a:ea typeface="Calibri" pitchFamily="34" charset="-122"/>
                <a:cs typeface="Calibri" pitchFamily="34" charset="-120"/>
              </a:rPr>
              <a:t>Reframes annotation polarization as structure to explain, not noise to remove</a:t>
            </a:r>
            <a:endParaRPr lang="en-US" sz="1300" dirty="0"/>
          </a:p>
        </p:txBody>
      </p:sp>
      <p:sp>
        <p:nvSpPr>
          <p:cNvPr id="8" name="Text 6"/>
          <p:cNvSpPr txBox="1"/>
          <p:nvPr/>
        </p:nvSpPr>
        <p:spPr>
          <a:xfrm>
            <a:off x="6309360" y="1783080"/>
            <a:ext cx="5303520" cy="365760"/>
          </a:xfrm>
          <a:prstGeom prst="rect">
            <a:avLst/>
          </a:prstGeom>
          <a:noFill/>
          <a:ln/>
        </p:spPr>
        <p:txBody>
          <a:bodyPr wrap="square" lIns="0" tIns="0" rIns="0" bIns="0" rtlCol="0" anchor="ctr"/>
          <a:lstStyle/>
          <a:p>
            <a:pPr marL="0" indent="0">
              <a:buNone/>
            </a:pPr>
            <a:r>
              <a:rPr lang="en-US" sz="1500" b="1" dirty="0">
                <a:solidFill>
                  <a:srgbClr val="9AA3C7"/>
                </a:solidFill>
                <a:latin typeface="Cambria" pitchFamily="34" charset="0"/>
                <a:ea typeface="Cambria" pitchFamily="34" charset="-122"/>
                <a:cs typeface="Cambria" pitchFamily="34" charset="-120"/>
              </a:rPr>
              <a:t>Limitations &amp; next steps</a:t>
            </a:r>
            <a:endParaRPr lang="en-US" sz="1500" dirty="0"/>
          </a:p>
        </p:txBody>
      </p:sp>
      <p:sp>
        <p:nvSpPr>
          <p:cNvPr id="9" name="Text 7"/>
          <p:cNvSpPr txBox="1"/>
          <p:nvPr/>
        </p:nvSpPr>
        <p:spPr>
          <a:xfrm>
            <a:off x="6309360" y="2194560"/>
            <a:ext cx="5394960" cy="3931920"/>
          </a:xfrm>
          <a:prstGeom prst="rect">
            <a:avLst/>
          </a:prstGeom>
          <a:noFill/>
          <a:ln/>
        </p:spPr>
        <p:txBody>
          <a:bodyPr wrap="square" lIns="0" tIns="0" rIns="0" bIns="0" rtlCol="0" anchor="ctr"/>
          <a:lstStyle/>
          <a:p>
            <a:pPr marL="342900" indent="-342900">
              <a:lnSpc>
                <a:spcPct val="115000"/>
              </a:lnSpc>
              <a:spcAft>
                <a:spcPts val="1200"/>
              </a:spcAft>
              <a:buSzPct val="100000"/>
              <a:buChar char="–"/>
            </a:pPr>
            <a:r>
              <a:rPr lang="en-US" sz="1300" dirty="0">
                <a:solidFill>
                  <a:srgbClr val="C9CFEA"/>
                </a:solidFill>
                <a:latin typeface="Calibri" pitchFamily="34" charset="0"/>
                <a:ea typeface="Calibri" pitchFamily="34" charset="-122"/>
                <a:cs typeface="Calibri" pitchFamily="34" charset="-120"/>
              </a:rPr>
              <a:t>Greedy, locally-optimal splits — not a globally optimal tree</a:t>
            </a:r>
            <a:endParaRPr lang="en-US" sz="1300" dirty="0"/>
          </a:p>
          <a:p>
            <a:pPr marL="342900" indent="-342900">
              <a:lnSpc>
                <a:spcPct val="115000"/>
              </a:lnSpc>
              <a:spcAft>
                <a:spcPts val="1200"/>
              </a:spcAft>
              <a:buSzPct val="100000"/>
              <a:buChar char="–"/>
            </a:pPr>
            <a:r>
              <a:rPr lang="en-US" sz="1300" dirty="0">
                <a:solidFill>
                  <a:srgbClr val="C9CFEA"/>
                </a:solidFill>
                <a:latin typeface="Calibri" pitchFamily="34" charset="0"/>
                <a:ea typeface="Calibri" pitchFamily="34" charset="-122"/>
                <a:cs typeface="Calibri" pitchFamily="34" charset="-120"/>
              </a:rPr>
              <a:t>Assumes fixed categorical SCD attributes; real identity is more continuous</a:t>
            </a:r>
            <a:endParaRPr lang="en-US" sz="1300" dirty="0"/>
          </a:p>
          <a:p>
            <a:pPr marL="342900" indent="-342900">
              <a:lnSpc>
                <a:spcPct val="115000"/>
              </a:lnSpc>
              <a:spcAft>
                <a:spcPts val="1200"/>
              </a:spcAft>
              <a:buSzPct val="100000"/>
              <a:buChar char="–"/>
            </a:pPr>
            <a:r>
              <a:rPr lang="en-US" sz="1300" dirty="0">
                <a:solidFill>
                  <a:srgbClr val="C9CFEA"/>
                </a:solidFill>
                <a:latin typeface="Calibri" pitchFamily="34" charset="0"/>
                <a:ea typeface="Calibri" pitchFamily="34" charset="-122"/>
                <a:cs typeface="Calibri" pitchFamily="34" charset="-120"/>
              </a:rPr>
              <a:t>Ignores text semantics — can't say if content or annotator bias drives the split</a:t>
            </a:r>
            <a:endParaRPr lang="en-US" sz="1300" dirty="0"/>
          </a:p>
          <a:p>
            <a:pPr marL="342900" indent="-342900">
              <a:lnSpc>
                <a:spcPct val="115000"/>
              </a:lnSpc>
              <a:spcAft>
                <a:spcPts val="1200"/>
              </a:spcAft>
              <a:buSzPct val="100000"/>
              <a:buChar char="–"/>
            </a:pPr>
            <a:r>
              <a:rPr lang="en-US" sz="1300" dirty="0">
                <a:solidFill>
                  <a:srgbClr val="C9CFEA"/>
                </a:solidFill>
                <a:latin typeface="Calibri" pitchFamily="34" charset="0"/>
                <a:ea typeface="Calibri" pitchFamily="34" charset="-122"/>
                <a:cs typeface="Calibri" pitchFamily="34" charset="-120"/>
              </a:rPr>
              <a:t>Next: larger intersectional datasets, stability checks, human evaluation of the discovered structures</a:t>
            </a:r>
            <a:endParaRPr lang="en-US" sz="1300" dirty="0"/>
          </a:p>
        </p:txBody>
      </p:sp>
      <p:sp>
        <p:nvSpPr>
          <p:cNvPr id="10" name="Text 8"/>
          <p:cNvSpPr txBox="1"/>
          <p:nvPr/>
        </p:nvSpPr>
        <p:spPr>
          <a:xfrm>
            <a:off x="11521440" y="6473952"/>
            <a:ext cx="548640" cy="274320"/>
          </a:xfrm>
          <a:prstGeom prst="rect">
            <a:avLst/>
          </a:prstGeom>
          <a:noFill/>
          <a:ln/>
        </p:spPr>
        <p:txBody>
          <a:bodyPr wrap="square" lIns="0" tIns="0" rIns="0" bIns="0" rtlCol="0" anchor="ctr"/>
          <a:lstStyle/>
          <a:p>
            <a:pPr marL="0" indent="0" algn="r">
              <a:buNone/>
            </a:pPr>
            <a:r>
              <a:rPr lang="en-US" sz="1000" dirty="0">
                <a:solidFill>
                  <a:srgbClr val="6B7299"/>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1344</TotalTime>
  <Words>1428</Words>
  <Application>Microsoft Office PowerPoint</Application>
  <PresentationFormat>Widescreen</PresentationFormat>
  <Paragraphs>185</Paragraphs>
  <Slides>13</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SOKRATIS VISSARION GIANNOUTSOS</cp:lastModifiedBy>
  <cp:revision>1</cp:revision>
  <dcterms:created xsi:type="dcterms:W3CDTF">2026-09-14T09:46:04Z</dcterms:created>
  <dcterms:modified xsi:type="dcterms:W3CDTF">2026-09-15T08:33:32Z</dcterms:modified>
</cp:coreProperties>
</file>