
<file path=[Content_Types].xml><?xml version="1.0" encoding="utf-8"?>
<Types xmlns="http://schemas.openxmlformats.org/package/2006/content-types">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charts/chart1.xml" ContentType="application/vnd.openxmlformats-officedocument.drawingml.chart+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6"/>
  </p:notesMasterIdLst>
  <p:sldIdLst>
    <p:sldId id="256" r:id="rId2"/>
    <p:sldId id="268" r:id="rId3"/>
    <p:sldId id="257" r:id="rId4"/>
    <p:sldId id="259" r:id="rId5"/>
    <p:sldId id="258" r:id="rId6"/>
    <p:sldId id="260" r:id="rId7"/>
    <p:sldId id="261" r:id="rId8"/>
    <p:sldId id="262" r:id="rId9"/>
    <p:sldId id="263" r:id="rId10"/>
    <p:sldId id="264" r:id="rId11"/>
    <p:sldId id="265" r:id="rId12"/>
    <p:sldId id="266" r:id="rId13"/>
    <p:sldId id="267" r:id="rId14"/>
    <p:sldId id="270" r:id="rId15"/>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25214FB4-F113-47E4-A546-66C05D33C6BD}" v="29" dt="2026-09-17T09:38:34.872"/>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SorterView">
  <p:normalViewPr>
    <p:restoredLeft sz="18743" autoAdjust="0"/>
    <p:restoredTop sz="72063" autoAdjust="0"/>
  </p:normalViewPr>
  <p:slideViewPr>
    <p:cSldViewPr snapToGrid="0" snapToObjects="1">
      <p:cViewPr varScale="1">
        <p:scale>
          <a:sx n="59" d="100"/>
          <a:sy n="59" d="100"/>
        </p:scale>
        <p:origin x="1445" y="67"/>
      </p:cViewPr>
      <p:guideLst/>
    </p:cSldViewPr>
  </p:slideViewPr>
  <p:notesTextViewPr>
    <p:cViewPr>
      <p:scale>
        <a:sx n="1" d="1"/>
        <a:sy n="1" d="1"/>
      </p:scale>
      <p:origin x="0" y="0"/>
    </p:cViewPr>
  </p:notesTextViewPr>
  <p:sorterViewPr>
    <p:cViewPr>
      <p:scale>
        <a:sx n="100" d="100"/>
        <a:sy n="100" d="100"/>
      </p:scale>
      <p:origin x="0" y="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21" Type="http://schemas.microsoft.com/office/2016/11/relationships/changesInfo" Target="changesInfos/changesInfo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wkratis Giannoutsos" userId="635c5988b0ac75cb" providerId="LiveId" clId="{2A7595ED-FB9C-4431-944F-C1113FEFC942}"/>
    <pc:docChg chg="undo custSel addSld delSld modSld sldOrd modShowInfo">
      <pc:chgData name="Swkratis Giannoutsos" userId="635c5988b0ac75cb" providerId="LiveId" clId="{2A7595ED-FB9C-4431-944F-C1113FEFC942}" dt="2026-09-24T11:20:44.989" v="2472" actId="2744"/>
      <pc:docMkLst>
        <pc:docMk/>
      </pc:docMkLst>
      <pc:sldChg chg="modSp mod">
        <pc:chgData name="Swkratis Giannoutsos" userId="635c5988b0ac75cb" providerId="LiveId" clId="{2A7595ED-FB9C-4431-944F-C1113FEFC942}" dt="2026-09-15T07:38:32.842" v="319" actId="6549"/>
        <pc:sldMkLst>
          <pc:docMk/>
          <pc:sldMk cId="0" sldId="256"/>
        </pc:sldMkLst>
        <pc:spChg chg="mod">
          <ac:chgData name="Swkratis Giannoutsos" userId="635c5988b0ac75cb" providerId="LiveId" clId="{2A7595ED-FB9C-4431-944F-C1113FEFC942}" dt="2026-09-15T07:38:32.842" v="319" actId="6549"/>
          <ac:spMkLst>
            <pc:docMk/>
            <pc:sldMk cId="0" sldId="256"/>
            <ac:spMk id="7" creationId="{00000000-0000-0000-0000-000000000000}"/>
          </ac:spMkLst>
        </pc:spChg>
      </pc:sldChg>
      <pc:sldChg chg="modSp mod modNotesTx">
        <pc:chgData name="Swkratis Giannoutsos" userId="635c5988b0ac75cb" providerId="LiveId" clId="{2A7595ED-FB9C-4431-944F-C1113FEFC942}" dt="2026-09-17T09:26:48.010" v="2339" actId="20577"/>
        <pc:sldMkLst>
          <pc:docMk/>
          <pc:sldMk cId="0" sldId="257"/>
        </pc:sldMkLst>
        <pc:spChg chg="mod">
          <ac:chgData name="Swkratis Giannoutsos" userId="635c5988b0ac75cb" providerId="LiveId" clId="{2A7595ED-FB9C-4431-944F-C1113FEFC942}" dt="2026-09-17T06:25:16.777" v="1926" actId="20577"/>
          <ac:spMkLst>
            <pc:docMk/>
            <pc:sldMk cId="0" sldId="257"/>
            <ac:spMk id="7" creationId="{00000000-0000-0000-0000-000000000000}"/>
          </ac:spMkLst>
        </pc:spChg>
      </pc:sldChg>
      <pc:sldChg chg="modSp mod">
        <pc:chgData name="Swkratis Giannoutsos" userId="635c5988b0ac75cb" providerId="LiveId" clId="{2A7595ED-FB9C-4431-944F-C1113FEFC942}" dt="2026-09-16T11:13:59.218" v="1712" actId="20577"/>
        <pc:sldMkLst>
          <pc:docMk/>
          <pc:sldMk cId="0" sldId="258"/>
        </pc:sldMkLst>
        <pc:spChg chg="mod">
          <ac:chgData name="Swkratis Giannoutsos" userId="635c5988b0ac75cb" providerId="LiveId" clId="{2A7595ED-FB9C-4431-944F-C1113FEFC942}" dt="2026-09-16T11:13:21.090" v="1649" actId="20577"/>
          <ac:spMkLst>
            <pc:docMk/>
            <pc:sldMk cId="0" sldId="258"/>
            <ac:spMk id="5" creationId="{00000000-0000-0000-0000-000000000000}"/>
          </ac:spMkLst>
        </pc:spChg>
        <pc:spChg chg="mod">
          <ac:chgData name="Swkratis Giannoutsos" userId="635c5988b0ac75cb" providerId="LiveId" clId="{2A7595ED-FB9C-4431-944F-C1113FEFC942}" dt="2026-09-16T10:55:32.970" v="1339" actId="20577"/>
          <ac:spMkLst>
            <pc:docMk/>
            <pc:sldMk cId="0" sldId="258"/>
            <ac:spMk id="7" creationId="{00000000-0000-0000-0000-000000000000}"/>
          </ac:spMkLst>
        </pc:spChg>
        <pc:spChg chg="mod">
          <ac:chgData name="Swkratis Giannoutsos" userId="635c5988b0ac75cb" providerId="LiveId" clId="{2A7595ED-FB9C-4431-944F-C1113FEFC942}" dt="2026-09-16T11:13:59.218" v="1712" actId="20577"/>
          <ac:spMkLst>
            <pc:docMk/>
            <pc:sldMk cId="0" sldId="258"/>
            <ac:spMk id="8" creationId="{00000000-0000-0000-0000-000000000000}"/>
          </ac:spMkLst>
        </pc:spChg>
        <pc:spChg chg="mod">
          <ac:chgData name="Swkratis Giannoutsos" userId="635c5988b0ac75cb" providerId="LiveId" clId="{2A7595ED-FB9C-4431-944F-C1113FEFC942}" dt="2026-09-14T09:53:28.431" v="21" actId="20577"/>
          <ac:spMkLst>
            <pc:docMk/>
            <pc:sldMk cId="0" sldId="258"/>
            <ac:spMk id="10" creationId="{00000000-0000-0000-0000-000000000000}"/>
          </ac:spMkLst>
        </pc:spChg>
        <pc:spChg chg="mod">
          <ac:chgData name="Swkratis Giannoutsos" userId="635c5988b0ac75cb" providerId="LiveId" clId="{2A7595ED-FB9C-4431-944F-C1113FEFC942}" dt="2026-09-16T10:57:08.315" v="1527" actId="20577"/>
          <ac:spMkLst>
            <pc:docMk/>
            <pc:sldMk cId="0" sldId="258"/>
            <ac:spMk id="11" creationId="{00000000-0000-0000-0000-000000000000}"/>
          </ac:spMkLst>
        </pc:spChg>
        <pc:spChg chg="mod">
          <ac:chgData name="Swkratis Giannoutsos" userId="635c5988b0ac75cb" providerId="LiveId" clId="{2A7595ED-FB9C-4431-944F-C1113FEFC942}" dt="2026-09-16T10:58:23.953" v="1606" actId="20577"/>
          <ac:spMkLst>
            <pc:docMk/>
            <pc:sldMk cId="0" sldId="258"/>
            <ac:spMk id="13" creationId="{00000000-0000-0000-0000-000000000000}"/>
          </ac:spMkLst>
        </pc:spChg>
      </pc:sldChg>
      <pc:sldChg chg="addSp delSp modSp mod ord modNotesTx">
        <pc:chgData name="Swkratis Giannoutsos" userId="635c5988b0ac75cb" providerId="LiveId" clId="{2A7595ED-FB9C-4431-944F-C1113FEFC942}" dt="2026-09-17T07:18:51.150" v="2228" actId="20577"/>
        <pc:sldMkLst>
          <pc:docMk/>
          <pc:sldMk cId="0" sldId="259"/>
        </pc:sldMkLst>
        <pc:spChg chg="mod">
          <ac:chgData name="Swkratis Giannoutsos" userId="635c5988b0ac75cb" providerId="LiveId" clId="{2A7595ED-FB9C-4431-944F-C1113FEFC942}" dt="2026-09-14T12:07:59.513" v="307" actId="1076"/>
          <ac:spMkLst>
            <pc:docMk/>
            <pc:sldMk cId="0" sldId="259"/>
            <ac:spMk id="6" creationId="{00000000-0000-0000-0000-000000000000}"/>
          </ac:spMkLst>
        </pc:spChg>
        <pc:spChg chg="mod">
          <ac:chgData name="Swkratis Giannoutsos" userId="635c5988b0ac75cb" providerId="LiveId" clId="{2A7595ED-FB9C-4431-944F-C1113FEFC942}" dt="2026-09-14T12:08:07.785" v="311" actId="1076"/>
          <ac:spMkLst>
            <pc:docMk/>
            <pc:sldMk cId="0" sldId="259"/>
            <ac:spMk id="9" creationId="{00000000-0000-0000-0000-000000000000}"/>
          </ac:spMkLst>
        </pc:spChg>
        <pc:spChg chg="mod">
          <ac:chgData name="Swkratis Giannoutsos" userId="635c5988b0ac75cb" providerId="LiveId" clId="{2A7595ED-FB9C-4431-944F-C1113FEFC942}" dt="2026-09-14T12:08:07.785" v="311" actId="1076"/>
          <ac:spMkLst>
            <pc:docMk/>
            <pc:sldMk cId="0" sldId="259"/>
            <ac:spMk id="10" creationId="{00000000-0000-0000-0000-000000000000}"/>
          </ac:spMkLst>
        </pc:spChg>
        <pc:spChg chg="mod">
          <ac:chgData name="Swkratis Giannoutsos" userId="635c5988b0ac75cb" providerId="LiveId" clId="{2A7595ED-FB9C-4431-944F-C1113FEFC942}" dt="2026-09-17T07:16:23.394" v="2163" actId="20577"/>
          <ac:spMkLst>
            <pc:docMk/>
            <pc:sldMk cId="0" sldId="259"/>
            <ac:spMk id="13" creationId="{00000000-0000-0000-0000-000000000000}"/>
          </ac:spMkLst>
        </pc:spChg>
        <pc:spChg chg="mod">
          <ac:chgData name="Swkratis Giannoutsos" userId="635c5988b0ac75cb" providerId="LiveId" clId="{2A7595ED-FB9C-4431-944F-C1113FEFC942}" dt="2026-09-14T12:08:07.785" v="311" actId="1076"/>
          <ac:spMkLst>
            <pc:docMk/>
            <pc:sldMk cId="0" sldId="259"/>
            <ac:spMk id="15" creationId="{00000000-0000-0000-0000-000000000000}"/>
          </ac:spMkLst>
        </pc:spChg>
        <pc:spChg chg="mod">
          <ac:chgData name="Swkratis Giannoutsos" userId="635c5988b0ac75cb" providerId="LiveId" clId="{2A7595ED-FB9C-4431-944F-C1113FEFC942}" dt="2026-09-14T12:08:07.785" v="311" actId="1076"/>
          <ac:spMkLst>
            <pc:docMk/>
            <pc:sldMk cId="0" sldId="259"/>
            <ac:spMk id="18" creationId="{00000000-0000-0000-0000-000000000000}"/>
          </ac:spMkLst>
        </pc:spChg>
        <pc:spChg chg="mod">
          <ac:chgData name="Swkratis Giannoutsos" userId="635c5988b0ac75cb" providerId="LiveId" clId="{2A7595ED-FB9C-4431-944F-C1113FEFC942}" dt="2026-09-14T12:08:07.785" v="311" actId="1076"/>
          <ac:spMkLst>
            <pc:docMk/>
            <pc:sldMk cId="0" sldId="259"/>
            <ac:spMk id="20" creationId="{00000000-0000-0000-0000-000000000000}"/>
          </ac:spMkLst>
        </pc:spChg>
        <pc:spChg chg="mod">
          <ac:chgData name="Swkratis Giannoutsos" userId="635c5988b0ac75cb" providerId="LiveId" clId="{2A7595ED-FB9C-4431-944F-C1113FEFC942}" dt="2026-09-17T07:16:28.445" v="2172" actId="20577"/>
          <ac:spMkLst>
            <pc:docMk/>
            <pc:sldMk cId="0" sldId="259"/>
            <ac:spMk id="22" creationId="{00000000-0000-0000-0000-000000000000}"/>
          </ac:spMkLst>
        </pc:spChg>
        <pc:spChg chg="mod">
          <ac:chgData name="Swkratis Giannoutsos" userId="635c5988b0ac75cb" providerId="LiveId" clId="{2A7595ED-FB9C-4431-944F-C1113FEFC942}" dt="2026-09-14T12:08:07.785" v="311" actId="1076"/>
          <ac:spMkLst>
            <pc:docMk/>
            <pc:sldMk cId="0" sldId="259"/>
            <ac:spMk id="24" creationId="{00000000-0000-0000-0000-000000000000}"/>
          </ac:spMkLst>
        </pc:spChg>
        <pc:spChg chg="mod">
          <ac:chgData name="Swkratis Giannoutsos" userId="635c5988b0ac75cb" providerId="LiveId" clId="{2A7595ED-FB9C-4431-944F-C1113FEFC942}" dt="2026-09-14T12:08:07.785" v="311" actId="1076"/>
          <ac:spMkLst>
            <pc:docMk/>
            <pc:sldMk cId="0" sldId="259"/>
            <ac:spMk id="25" creationId="{00000000-0000-0000-0000-000000000000}"/>
          </ac:spMkLst>
        </pc:spChg>
        <pc:spChg chg="mod">
          <ac:chgData name="Swkratis Giannoutsos" userId="635c5988b0ac75cb" providerId="LiveId" clId="{2A7595ED-FB9C-4431-944F-C1113FEFC942}" dt="2026-09-14T12:08:07.785" v="311" actId="1076"/>
          <ac:spMkLst>
            <pc:docMk/>
            <pc:sldMk cId="0" sldId="259"/>
            <ac:spMk id="26" creationId="{00000000-0000-0000-0000-000000000000}"/>
          </ac:spMkLst>
        </pc:spChg>
        <pc:spChg chg="mod">
          <ac:chgData name="Swkratis Giannoutsos" userId="635c5988b0ac75cb" providerId="LiveId" clId="{2A7595ED-FB9C-4431-944F-C1113FEFC942}" dt="2026-09-17T07:16:51.031" v="2196" actId="20577"/>
          <ac:spMkLst>
            <pc:docMk/>
            <pc:sldMk cId="0" sldId="259"/>
            <ac:spMk id="28" creationId="{00000000-0000-0000-0000-000000000000}"/>
          </ac:spMkLst>
        </pc:spChg>
        <pc:spChg chg="mod">
          <ac:chgData name="Swkratis Giannoutsos" userId="635c5988b0ac75cb" providerId="LiveId" clId="{2A7595ED-FB9C-4431-944F-C1113FEFC942}" dt="2026-09-17T07:16:44.343" v="2192" actId="20577"/>
          <ac:spMkLst>
            <pc:docMk/>
            <pc:sldMk cId="0" sldId="259"/>
            <ac:spMk id="30" creationId="{00000000-0000-0000-0000-000000000000}"/>
          </ac:spMkLst>
        </pc:spChg>
        <pc:spChg chg="mod">
          <ac:chgData name="Swkratis Giannoutsos" userId="635c5988b0ac75cb" providerId="LiveId" clId="{2A7595ED-FB9C-4431-944F-C1113FEFC942}" dt="2026-09-17T07:16:33.881" v="2176" actId="20577"/>
          <ac:spMkLst>
            <pc:docMk/>
            <pc:sldMk cId="0" sldId="259"/>
            <ac:spMk id="32" creationId="{00000000-0000-0000-0000-000000000000}"/>
          </ac:spMkLst>
        </pc:spChg>
      </pc:sldChg>
      <pc:sldChg chg="modSp mod">
        <pc:chgData name="Swkratis Giannoutsos" userId="635c5988b0ac75cb" providerId="LiveId" clId="{2A7595ED-FB9C-4431-944F-C1113FEFC942}" dt="2026-09-16T11:16:28.076" v="1872" actId="20577"/>
        <pc:sldMkLst>
          <pc:docMk/>
          <pc:sldMk cId="0" sldId="260"/>
        </pc:sldMkLst>
        <pc:spChg chg="mod">
          <ac:chgData name="Swkratis Giannoutsos" userId="635c5988b0ac75cb" providerId="LiveId" clId="{2A7595ED-FB9C-4431-944F-C1113FEFC942}" dt="2026-09-16T11:15:44.301" v="1737" actId="20577"/>
          <ac:spMkLst>
            <pc:docMk/>
            <pc:sldMk cId="0" sldId="260"/>
            <ac:spMk id="13" creationId="{00000000-0000-0000-0000-000000000000}"/>
          </ac:spMkLst>
        </pc:spChg>
        <pc:spChg chg="mod">
          <ac:chgData name="Swkratis Giannoutsos" userId="635c5988b0ac75cb" providerId="LiveId" clId="{2A7595ED-FB9C-4431-944F-C1113FEFC942}" dt="2026-09-16T11:16:28.076" v="1872" actId="20577"/>
          <ac:spMkLst>
            <pc:docMk/>
            <pc:sldMk cId="0" sldId="260"/>
            <ac:spMk id="14" creationId="{00000000-0000-0000-0000-000000000000}"/>
          </ac:spMkLst>
        </pc:spChg>
      </pc:sldChg>
      <pc:sldChg chg="modSp mod ord modNotesTx">
        <pc:chgData name="Swkratis Giannoutsos" userId="635c5988b0ac75cb" providerId="LiveId" clId="{2A7595ED-FB9C-4431-944F-C1113FEFC942}" dt="2026-09-17T06:45:14.887" v="1930" actId="20577"/>
        <pc:sldMkLst>
          <pc:docMk/>
          <pc:sldMk cId="0" sldId="261"/>
        </pc:sldMkLst>
        <pc:spChg chg="mod">
          <ac:chgData name="Swkratis Giannoutsos" userId="635c5988b0ac75cb" providerId="LiveId" clId="{2A7595ED-FB9C-4431-944F-C1113FEFC942}" dt="2026-09-14T09:59:11.592" v="218" actId="255"/>
          <ac:spMkLst>
            <pc:docMk/>
            <pc:sldMk cId="0" sldId="261"/>
            <ac:spMk id="6" creationId="{00000000-0000-0000-0000-000000000000}"/>
          </ac:spMkLst>
        </pc:spChg>
        <pc:spChg chg="mod">
          <ac:chgData name="Swkratis Giannoutsos" userId="635c5988b0ac75cb" providerId="LiveId" clId="{2A7595ED-FB9C-4431-944F-C1113FEFC942}" dt="2026-09-15T07:59:56.314" v="1225" actId="20577"/>
          <ac:spMkLst>
            <pc:docMk/>
            <pc:sldMk cId="0" sldId="261"/>
            <ac:spMk id="21" creationId="{00000000-0000-0000-0000-000000000000}"/>
          </ac:spMkLst>
        </pc:spChg>
        <pc:spChg chg="mod">
          <ac:chgData name="Swkratis Giannoutsos" userId="635c5988b0ac75cb" providerId="LiveId" clId="{2A7595ED-FB9C-4431-944F-C1113FEFC942}" dt="2026-09-14T09:58:59.184" v="217" actId="255"/>
          <ac:spMkLst>
            <pc:docMk/>
            <pc:sldMk cId="0" sldId="261"/>
            <ac:spMk id="22" creationId="{00000000-0000-0000-0000-000000000000}"/>
          </ac:spMkLst>
        </pc:spChg>
      </pc:sldChg>
      <pc:sldChg chg="delSp modSp mod modNotesTx">
        <pc:chgData name="Swkratis Giannoutsos" userId="635c5988b0ac75cb" providerId="LiveId" clId="{2A7595ED-FB9C-4431-944F-C1113FEFC942}" dt="2026-09-17T07:08:34.908" v="2146" actId="20577"/>
        <pc:sldMkLst>
          <pc:docMk/>
          <pc:sldMk cId="0" sldId="262"/>
        </pc:sldMkLst>
        <pc:spChg chg="mod">
          <ac:chgData name="Swkratis Giannoutsos" userId="635c5988b0ac75cb" providerId="LiveId" clId="{2A7595ED-FB9C-4431-944F-C1113FEFC942}" dt="2026-09-16T11:18:28.337" v="1873" actId="1076"/>
          <ac:spMkLst>
            <pc:docMk/>
            <pc:sldMk cId="0" sldId="262"/>
            <ac:spMk id="5" creationId="{00000000-0000-0000-0000-000000000000}"/>
          </ac:spMkLst>
        </pc:spChg>
        <pc:spChg chg="mod">
          <ac:chgData name="Swkratis Giannoutsos" userId="635c5988b0ac75cb" providerId="LiveId" clId="{2A7595ED-FB9C-4431-944F-C1113FEFC942}" dt="2026-09-16T13:24:29.896" v="1881" actId="1076"/>
          <ac:spMkLst>
            <pc:docMk/>
            <pc:sldMk cId="0" sldId="262"/>
            <ac:spMk id="6" creationId="{00000000-0000-0000-0000-000000000000}"/>
          </ac:spMkLst>
        </pc:spChg>
      </pc:sldChg>
      <pc:sldChg chg="delSp modSp mod modNotesTx">
        <pc:chgData name="Swkratis Giannoutsos" userId="635c5988b0ac75cb" providerId="LiveId" clId="{2A7595ED-FB9C-4431-944F-C1113FEFC942}" dt="2026-09-17T07:26:54.523" v="2283" actId="20577"/>
        <pc:sldMkLst>
          <pc:docMk/>
          <pc:sldMk cId="0" sldId="263"/>
        </pc:sldMkLst>
        <pc:spChg chg="mod">
          <ac:chgData name="Swkratis Giannoutsos" userId="635c5988b0ac75cb" providerId="LiveId" clId="{2A7595ED-FB9C-4431-944F-C1113FEFC942}" dt="2026-09-16T11:00:05.236" v="1609" actId="1076"/>
          <ac:spMkLst>
            <pc:docMk/>
            <pc:sldMk cId="0" sldId="263"/>
            <ac:spMk id="5" creationId="{00000000-0000-0000-0000-000000000000}"/>
          </ac:spMkLst>
        </pc:spChg>
        <pc:spChg chg="mod">
          <ac:chgData name="Swkratis Giannoutsos" userId="635c5988b0ac75cb" providerId="LiveId" clId="{2A7595ED-FB9C-4431-944F-C1113FEFC942}" dt="2026-09-16T11:00:27.335" v="1612" actId="1076"/>
          <ac:spMkLst>
            <pc:docMk/>
            <pc:sldMk cId="0" sldId="263"/>
            <ac:spMk id="6" creationId="{00000000-0000-0000-0000-000000000000}"/>
          </ac:spMkLst>
        </pc:spChg>
        <pc:spChg chg="mod">
          <ac:chgData name="Swkratis Giannoutsos" userId="635c5988b0ac75cb" providerId="LiveId" clId="{2A7595ED-FB9C-4431-944F-C1113FEFC942}" dt="2026-09-16T11:00:27.335" v="1612" actId="1076"/>
          <ac:spMkLst>
            <pc:docMk/>
            <pc:sldMk cId="0" sldId="263"/>
            <ac:spMk id="9" creationId="{00000000-0000-0000-0000-000000000000}"/>
          </ac:spMkLst>
        </pc:spChg>
        <pc:spChg chg="mod">
          <ac:chgData name="Swkratis Giannoutsos" userId="635c5988b0ac75cb" providerId="LiveId" clId="{2A7595ED-FB9C-4431-944F-C1113FEFC942}" dt="2026-09-16T11:00:27.335" v="1612" actId="1076"/>
          <ac:spMkLst>
            <pc:docMk/>
            <pc:sldMk cId="0" sldId="263"/>
            <ac:spMk id="10" creationId="{00000000-0000-0000-0000-000000000000}"/>
          </ac:spMkLst>
        </pc:spChg>
        <pc:spChg chg="mod">
          <ac:chgData name="Swkratis Giannoutsos" userId="635c5988b0ac75cb" providerId="LiveId" clId="{2A7595ED-FB9C-4431-944F-C1113FEFC942}" dt="2026-09-16T11:00:27.335" v="1612" actId="1076"/>
          <ac:spMkLst>
            <pc:docMk/>
            <pc:sldMk cId="0" sldId="263"/>
            <ac:spMk id="12" creationId="{00000000-0000-0000-0000-000000000000}"/>
          </ac:spMkLst>
        </pc:spChg>
        <pc:spChg chg="mod">
          <ac:chgData name="Swkratis Giannoutsos" userId="635c5988b0ac75cb" providerId="LiveId" clId="{2A7595ED-FB9C-4431-944F-C1113FEFC942}" dt="2026-09-16T11:00:27.335" v="1612" actId="1076"/>
          <ac:spMkLst>
            <pc:docMk/>
            <pc:sldMk cId="0" sldId="263"/>
            <ac:spMk id="14" creationId="{00000000-0000-0000-0000-000000000000}"/>
          </ac:spMkLst>
        </pc:spChg>
        <pc:spChg chg="mod">
          <ac:chgData name="Swkratis Giannoutsos" userId="635c5988b0ac75cb" providerId="LiveId" clId="{2A7595ED-FB9C-4431-944F-C1113FEFC942}" dt="2026-09-16T11:00:27.335" v="1612" actId="1076"/>
          <ac:spMkLst>
            <pc:docMk/>
            <pc:sldMk cId="0" sldId="263"/>
            <ac:spMk id="15" creationId="{00000000-0000-0000-0000-000000000000}"/>
          </ac:spMkLst>
        </pc:spChg>
        <pc:spChg chg="mod">
          <ac:chgData name="Swkratis Giannoutsos" userId="635c5988b0ac75cb" providerId="LiveId" clId="{2A7595ED-FB9C-4431-944F-C1113FEFC942}" dt="2026-09-16T11:00:27.335" v="1612" actId="1076"/>
          <ac:spMkLst>
            <pc:docMk/>
            <pc:sldMk cId="0" sldId="263"/>
            <ac:spMk id="16" creationId="{00000000-0000-0000-0000-000000000000}"/>
          </ac:spMkLst>
        </pc:spChg>
        <pc:spChg chg="mod">
          <ac:chgData name="Swkratis Giannoutsos" userId="635c5988b0ac75cb" providerId="LiveId" clId="{2A7595ED-FB9C-4431-944F-C1113FEFC942}" dt="2026-09-16T11:00:27.335" v="1612" actId="1076"/>
          <ac:spMkLst>
            <pc:docMk/>
            <pc:sldMk cId="0" sldId="263"/>
            <ac:spMk id="19" creationId="{00000000-0000-0000-0000-000000000000}"/>
          </ac:spMkLst>
        </pc:spChg>
        <pc:spChg chg="mod">
          <ac:chgData name="Swkratis Giannoutsos" userId="635c5988b0ac75cb" providerId="LiveId" clId="{2A7595ED-FB9C-4431-944F-C1113FEFC942}" dt="2026-09-16T11:00:27.335" v="1612" actId="1076"/>
          <ac:spMkLst>
            <pc:docMk/>
            <pc:sldMk cId="0" sldId="263"/>
            <ac:spMk id="20" creationId="{00000000-0000-0000-0000-000000000000}"/>
          </ac:spMkLst>
        </pc:spChg>
        <pc:spChg chg="mod">
          <ac:chgData name="Swkratis Giannoutsos" userId="635c5988b0ac75cb" providerId="LiveId" clId="{2A7595ED-FB9C-4431-944F-C1113FEFC942}" dt="2026-09-16T11:00:27.335" v="1612" actId="1076"/>
          <ac:spMkLst>
            <pc:docMk/>
            <pc:sldMk cId="0" sldId="263"/>
            <ac:spMk id="22" creationId="{00000000-0000-0000-0000-000000000000}"/>
          </ac:spMkLst>
        </pc:spChg>
        <pc:spChg chg="mod">
          <ac:chgData name="Swkratis Giannoutsos" userId="635c5988b0ac75cb" providerId="LiveId" clId="{2A7595ED-FB9C-4431-944F-C1113FEFC942}" dt="2026-09-16T11:00:12.449" v="1610" actId="1076"/>
          <ac:spMkLst>
            <pc:docMk/>
            <pc:sldMk cId="0" sldId="263"/>
            <ac:spMk id="23" creationId="{00000000-0000-0000-0000-000000000000}"/>
          </ac:spMkLst>
        </pc:spChg>
      </pc:sldChg>
      <pc:sldChg chg="modSp mod modNotesTx">
        <pc:chgData name="Swkratis Giannoutsos" userId="635c5988b0ac75cb" providerId="LiveId" clId="{2A7595ED-FB9C-4431-944F-C1113FEFC942}" dt="2026-09-17T06:47:49.897" v="1945" actId="20577"/>
        <pc:sldMkLst>
          <pc:docMk/>
          <pc:sldMk cId="0" sldId="264"/>
        </pc:sldMkLst>
        <pc:spChg chg="mod">
          <ac:chgData name="Swkratis Giannoutsos" userId="635c5988b0ac75cb" providerId="LiveId" clId="{2A7595ED-FB9C-4431-944F-C1113FEFC942}" dt="2026-09-15T08:11:37.108" v="1240" actId="20577"/>
          <ac:spMkLst>
            <pc:docMk/>
            <pc:sldMk cId="0" sldId="264"/>
            <ac:spMk id="11" creationId="{00000000-0000-0000-0000-000000000000}"/>
          </ac:spMkLst>
        </pc:spChg>
        <pc:spChg chg="mod">
          <ac:chgData name="Swkratis Giannoutsos" userId="635c5988b0ac75cb" providerId="LiveId" clId="{2A7595ED-FB9C-4431-944F-C1113FEFC942}" dt="2026-09-15T08:11:43.251" v="1252" actId="20577"/>
          <ac:spMkLst>
            <pc:docMk/>
            <pc:sldMk cId="0" sldId="264"/>
            <ac:spMk id="16" creationId="{00000000-0000-0000-0000-000000000000}"/>
          </ac:spMkLst>
        </pc:spChg>
      </pc:sldChg>
      <pc:sldChg chg="modSp mod modNotesTx">
        <pc:chgData name="Swkratis Giannoutsos" userId="635c5988b0ac75cb" providerId="LiveId" clId="{2A7595ED-FB9C-4431-944F-C1113FEFC942}" dt="2026-09-17T07:10:35.978" v="2147" actId="20577"/>
        <pc:sldMkLst>
          <pc:docMk/>
          <pc:sldMk cId="0" sldId="265"/>
        </pc:sldMkLst>
        <pc:spChg chg="mod">
          <ac:chgData name="Swkratis Giannoutsos" userId="635c5988b0ac75cb" providerId="LiveId" clId="{2A7595ED-FB9C-4431-944F-C1113FEFC942}" dt="2026-09-16T12:08:28.064" v="1874" actId="1076"/>
          <ac:spMkLst>
            <pc:docMk/>
            <pc:sldMk cId="0" sldId="265"/>
            <ac:spMk id="5" creationId="{00000000-0000-0000-0000-000000000000}"/>
          </ac:spMkLst>
        </pc:spChg>
      </pc:sldChg>
      <pc:sldChg chg="modSp mod modNotesTx">
        <pc:chgData name="Swkratis Giannoutsos" userId="635c5988b0ac75cb" providerId="LiveId" clId="{2A7595ED-FB9C-4431-944F-C1113FEFC942}" dt="2026-09-17T09:33:32.545" v="2340" actId="20577"/>
        <pc:sldMkLst>
          <pc:docMk/>
          <pc:sldMk cId="0" sldId="266"/>
        </pc:sldMkLst>
        <pc:spChg chg="mod">
          <ac:chgData name="Swkratis Giannoutsos" userId="635c5988b0ac75cb" providerId="LiveId" clId="{2A7595ED-FB9C-4431-944F-C1113FEFC942}" dt="2026-09-16T10:47:47.826" v="1321" actId="207"/>
          <ac:spMkLst>
            <pc:docMk/>
            <pc:sldMk cId="0" sldId="266"/>
            <ac:spMk id="9" creationId="{00000000-0000-0000-0000-000000000000}"/>
          </ac:spMkLst>
        </pc:spChg>
        <pc:spChg chg="mod">
          <ac:chgData name="Swkratis Giannoutsos" userId="635c5988b0ac75cb" providerId="LiveId" clId="{2A7595ED-FB9C-4431-944F-C1113FEFC942}" dt="2026-09-15T08:16:49.200" v="1278" actId="20577"/>
          <ac:spMkLst>
            <pc:docMk/>
            <pc:sldMk cId="0" sldId="266"/>
            <ac:spMk id="10" creationId="{00000000-0000-0000-0000-000000000000}"/>
          </ac:spMkLst>
        </pc:spChg>
        <pc:spChg chg="mod">
          <ac:chgData name="Swkratis Giannoutsos" userId="635c5988b0ac75cb" providerId="LiveId" clId="{2A7595ED-FB9C-4431-944F-C1113FEFC942}" dt="2026-09-16T10:47:53.732" v="1322" actId="207"/>
          <ac:spMkLst>
            <pc:docMk/>
            <pc:sldMk cId="0" sldId="266"/>
            <ac:spMk id="11" creationId="{00000000-0000-0000-0000-000000000000}"/>
          </ac:spMkLst>
        </pc:spChg>
        <pc:spChg chg="mod">
          <ac:chgData name="Swkratis Giannoutsos" userId="635c5988b0ac75cb" providerId="LiveId" clId="{2A7595ED-FB9C-4431-944F-C1113FEFC942}" dt="2026-09-15T08:16:58.522" v="1284" actId="207"/>
          <ac:spMkLst>
            <pc:docMk/>
            <pc:sldMk cId="0" sldId="266"/>
            <ac:spMk id="12" creationId="{00000000-0000-0000-0000-000000000000}"/>
          </ac:spMkLst>
        </pc:spChg>
        <pc:spChg chg="mod">
          <ac:chgData name="Swkratis Giannoutsos" userId="635c5988b0ac75cb" providerId="LiveId" clId="{2A7595ED-FB9C-4431-944F-C1113FEFC942}" dt="2026-09-16T10:47:36.829" v="1318" actId="207"/>
          <ac:spMkLst>
            <pc:docMk/>
            <pc:sldMk cId="0" sldId="266"/>
            <ac:spMk id="17" creationId="{00000000-0000-0000-0000-000000000000}"/>
          </ac:spMkLst>
        </pc:spChg>
        <pc:spChg chg="mod">
          <ac:chgData name="Swkratis Giannoutsos" userId="635c5988b0ac75cb" providerId="LiveId" clId="{2A7595ED-FB9C-4431-944F-C1113FEFC942}" dt="2026-09-16T10:47:41" v="1319" actId="207"/>
          <ac:spMkLst>
            <pc:docMk/>
            <pc:sldMk cId="0" sldId="266"/>
            <ac:spMk id="19" creationId="{00000000-0000-0000-0000-000000000000}"/>
          </ac:spMkLst>
        </pc:spChg>
        <pc:spChg chg="mod">
          <ac:chgData name="Swkratis Giannoutsos" userId="635c5988b0ac75cb" providerId="LiveId" clId="{2A7595ED-FB9C-4431-944F-C1113FEFC942}" dt="2026-09-16T10:47:44.664" v="1320" actId="207"/>
          <ac:spMkLst>
            <pc:docMk/>
            <pc:sldMk cId="0" sldId="266"/>
            <ac:spMk id="25" creationId="{00000000-0000-0000-0000-000000000000}"/>
          </ac:spMkLst>
        </pc:spChg>
        <pc:spChg chg="mod">
          <ac:chgData name="Swkratis Giannoutsos" userId="635c5988b0ac75cb" providerId="LiveId" clId="{2A7595ED-FB9C-4431-944F-C1113FEFC942}" dt="2026-09-16T10:47:57.827" v="1323" actId="207"/>
          <ac:spMkLst>
            <pc:docMk/>
            <pc:sldMk cId="0" sldId="266"/>
            <ac:spMk id="27" creationId="{00000000-0000-0000-0000-000000000000}"/>
          </ac:spMkLst>
        </pc:spChg>
      </pc:sldChg>
      <pc:sldChg chg="modSp mod">
        <pc:chgData name="Swkratis Giannoutsos" userId="635c5988b0ac75cb" providerId="LiveId" clId="{2A7595ED-FB9C-4431-944F-C1113FEFC942}" dt="2026-09-17T09:36:04.091" v="2357" actId="20577"/>
        <pc:sldMkLst>
          <pc:docMk/>
          <pc:sldMk cId="0" sldId="267"/>
        </pc:sldMkLst>
        <pc:spChg chg="mod">
          <ac:chgData name="Swkratis Giannoutsos" userId="635c5988b0ac75cb" providerId="LiveId" clId="{2A7595ED-FB9C-4431-944F-C1113FEFC942}" dt="2026-09-17T09:36:04.091" v="2357" actId="20577"/>
          <ac:spMkLst>
            <pc:docMk/>
            <pc:sldMk cId="0" sldId="267"/>
            <ac:spMk id="7" creationId="{00000000-0000-0000-0000-000000000000}"/>
          </ac:spMkLst>
        </pc:spChg>
      </pc:sldChg>
      <pc:sldChg chg="delSp modSp add mod setBg modNotesTx">
        <pc:chgData name="Swkratis Giannoutsos" userId="635c5988b0ac75cb" providerId="LiveId" clId="{2A7595ED-FB9C-4431-944F-C1113FEFC942}" dt="2026-09-17T07:14:40.017" v="2154" actId="20577"/>
        <pc:sldMkLst>
          <pc:docMk/>
          <pc:sldMk cId="0" sldId="268"/>
        </pc:sldMkLst>
        <pc:spChg chg="mod">
          <ac:chgData name="Swkratis Giannoutsos" userId="635c5988b0ac75cb" providerId="LiveId" clId="{2A7595ED-FB9C-4431-944F-C1113FEFC942}" dt="2026-09-16T10:50:42.929" v="1334" actId="1076"/>
          <ac:spMkLst>
            <pc:docMk/>
            <pc:sldMk cId="0" sldId="268"/>
            <ac:spMk id="7" creationId="{00000000-0000-0000-0000-000000000000}"/>
          </ac:spMkLst>
        </pc:spChg>
        <pc:spChg chg="mod">
          <ac:chgData name="Swkratis Giannoutsos" userId="635c5988b0ac75cb" providerId="LiveId" clId="{2A7595ED-FB9C-4431-944F-C1113FEFC942}" dt="2026-09-16T10:50:42.929" v="1334" actId="1076"/>
          <ac:spMkLst>
            <pc:docMk/>
            <pc:sldMk cId="0" sldId="268"/>
            <ac:spMk id="8" creationId="{00000000-0000-0000-0000-000000000000}"/>
          </ac:spMkLst>
        </pc:spChg>
        <pc:spChg chg="mod">
          <ac:chgData name="Swkratis Giannoutsos" userId="635c5988b0ac75cb" providerId="LiveId" clId="{2A7595ED-FB9C-4431-944F-C1113FEFC942}" dt="2026-09-16T10:50:42.929" v="1334" actId="1076"/>
          <ac:spMkLst>
            <pc:docMk/>
            <pc:sldMk cId="0" sldId="268"/>
            <ac:spMk id="9" creationId="{00000000-0000-0000-0000-000000000000}"/>
          </ac:spMkLst>
        </pc:spChg>
        <pc:spChg chg="mod">
          <ac:chgData name="Swkratis Giannoutsos" userId="635c5988b0ac75cb" providerId="LiveId" clId="{2A7595ED-FB9C-4431-944F-C1113FEFC942}" dt="2026-09-16T10:50:42.929" v="1334" actId="1076"/>
          <ac:spMkLst>
            <pc:docMk/>
            <pc:sldMk cId="0" sldId="268"/>
            <ac:spMk id="10" creationId="{00000000-0000-0000-0000-000000000000}"/>
          </ac:spMkLst>
        </pc:spChg>
        <pc:spChg chg="mod">
          <ac:chgData name="Swkratis Giannoutsos" userId="635c5988b0ac75cb" providerId="LiveId" clId="{2A7595ED-FB9C-4431-944F-C1113FEFC942}" dt="2026-09-16T10:50:42.929" v="1334" actId="1076"/>
          <ac:spMkLst>
            <pc:docMk/>
            <pc:sldMk cId="0" sldId="268"/>
            <ac:spMk id="11" creationId="{00000000-0000-0000-0000-000000000000}"/>
          </ac:spMkLst>
        </pc:spChg>
        <pc:spChg chg="mod">
          <ac:chgData name="Swkratis Giannoutsos" userId="635c5988b0ac75cb" providerId="LiveId" clId="{2A7595ED-FB9C-4431-944F-C1113FEFC942}" dt="2026-09-16T10:50:42.929" v="1334" actId="1076"/>
          <ac:spMkLst>
            <pc:docMk/>
            <pc:sldMk cId="0" sldId="268"/>
            <ac:spMk id="12" creationId="{00000000-0000-0000-0000-000000000000}"/>
          </ac:spMkLst>
        </pc:spChg>
        <pc:spChg chg="mod">
          <ac:chgData name="Swkratis Giannoutsos" userId="635c5988b0ac75cb" providerId="LiveId" clId="{2A7595ED-FB9C-4431-944F-C1113FEFC942}" dt="2026-09-15T08:33:29.224" v="1317" actId="20577"/>
          <ac:spMkLst>
            <pc:docMk/>
            <pc:sldMk cId="0" sldId="268"/>
            <ac:spMk id="13" creationId="{00000000-0000-0000-0000-000000000000}"/>
          </ac:spMkLst>
        </pc:spChg>
        <pc:spChg chg="mod">
          <ac:chgData name="Swkratis Giannoutsos" userId="635c5988b0ac75cb" providerId="LiveId" clId="{2A7595ED-FB9C-4431-944F-C1113FEFC942}" dt="2026-09-16T10:49:31.892" v="1328" actId="20577"/>
          <ac:spMkLst>
            <pc:docMk/>
            <pc:sldMk cId="0" sldId="268"/>
            <ac:spMk id="14" creationId="{00000000-0000-0000-0000-000000000000}"/>
          </ac:spMkLst>
        </pc:spChg>
      </pc:sldChg>
      <pc:sldChg chg="addSp delSp modSp add mod">
        <pc:chgData name="Swkratis Giannoutsos" userId="635c5988b0ac75cb" providerId="LiveId" clId="{2A7595ED-FB9C-4431-944F-C1113FEFC942}" dt="2026-09-17T09:40:23.020" v="2470" actId="1076"/>
        <pc:sldMkLst>
          <pc:docMk/>
          <pc:sldMk cId="3544987491" sldId="270"/>
        </pc:sldMkLst>
        <pc:spChg chg="mod">
          <ac:chgData name="Swkratis Giannoutsos" userId="635c5988b0ac75cb" providerId="LiveId" clId="{2A7595ED-FB9C-4431-944F-C1113FEFC942}" dt="2026-09-17T09:38:24.761" v="2397" actId="122"/>
          <ac:spMkLst>
            <pc:docMk/>
            <pc:sldMk cId="3544987491" sldId="270"/>
            <ac:spMk id="5" creationId="{FA694F63-A757-F2A1-3BB2-EAEA0E1F1C66}"/>
          </ac:spMkLst>
        </pc:spChg>
        <pc:spChg chg="add mod">
          <ac:chgData name="Swkratis Giannoutsos" userId="635c5988b0ac75cb" providerId="LiveId" clId="{2A7595ED-FB9C-4431-944F-C1113FEFC942}" dt="2026-09-17T09:40:23.020" v="2470" actId="1076"/>
          <ac:spMkLst>
            <pc:docMk/>
            <pc:sldMk cId="3544987491" sldId="270"/>
            <ac:spMk id="15" creationId="{7852D628-175D-0330-C095-602EFC7AA686}"/>
          </ac:spMkLst>
        </pc:spChg>
        <pc:spChg chg="add mod">
          <ac:chgData name="Swkratis Giannoutsos" userId="635c5988b0ac75cb" providerId="LiveId" clId="{2A7595ED-FB9C-4431-944F-C1113FEFC942}" dt="2026-09-17T09:40:17.274" v="2468" actId="1076"/>
          <ac:spMkLst>
            <pc:docMk/>
            <pc:sldMk cId="3544987491" sldId="270"/>
            <ac:spMk id="17" creationId="{F9F9A7B0-7F5F-F2C3-50C2-C3D849B13450}"/>
          </ac:spMkLst>
        </pc:spChg>
        <pc:picChg chg="add mod">
          <ac:chgData name="Swkratis Giannoutsos" userId="635c5988b0ac75cb" providerId="LiveId" clId="{2A7595ED-FB9C-4431-944F-C1113FEFC942}" dt="2026-09-17T09:40:20.363" v="2469" actId="1076"/>
          <ac:picMkLst>
            <pc:docMk/>
            <pc:sldMk cId="3544987491" sldId="270"/>
            <ac:picMk id="13" creationId="{5438932D-F789-59E9-86B8-6534D772882F}"/>
          </ac:picMkLst>
        </pc:picChg>
        <pc:picChg chg="add mod">
          <ac:chgData name="Swkratis Giannoutsos" userId="635c5988b0ac75cb" providerId="LiveId" clId="{2A7595ED-FB9C-4431-944F-C1113FEFC942}" dt="2026-09-17T09:40:00.650" v="2442" actId="14100"/>
          <ac:picMkLst>
            <pc:docMk/>
            <pc:sldMk cId="3544987491" sldId="270"/>
            <ac:picMk id="19" creationId="{0808FDEA-DBF6-A2F7-F46A-F42D0DD6C492}"/>
          </ac:picMkLst>
        </pc:picChg>
      </pc:sldChg>
    </pc:docChg>
  </pc:docChgLst>
</pc:chgInfo>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col"/>
        <c:grouping val="stacked"/>
        <c:varyColors val="0"/>
        <c:ser>
          <c:idx val="0"/>
          <c:order val="0"/>
          <c:tx>
            <c:strRef>
              <c:f>Sheet1!$B$1</c:f>
              <c:strCache>
                <c:ptCount val="1"/>
                <c:pt idx="0">
                  <c:v>race</c:v>
                </c:pt>
              </c:strCache>
            </c:strRef>
          </c:tx>
          <c:spPr>
            <a:solidFill>
              <a:srgbClr val="1B1F3B"/>
            </a:solidFill>
            <a:effectLst/>
          </c:spPr>
          <c:invertIfNegative val="0"/>
          <c:cat>
            <c:strRef>
              <c:f>Sheet1!$A$2:$A$5</c:f>
              <c:strCache>
                <c:ptCount val="4"/>
                <c:pt idx="0">
                  <c:v>Depth 1</c:v>
                </c:pt>
                <c:pt idx="1">
                  <c:v>Depth 2</c:v>
                </c:pt>
                <c:pt idx="2">
                  <c:v>Depth 3</c:v>
                </c:pt>
                <c:pt idx="3">
                  <c:v>Depth 4</c:v>
                </c:pt>
              </c:strCache>
            </c:strRef>
          </c:cat>
          <c:val>
            <c:numRef>
              <c:f>Sheet1!$B$2:$B$5</c:f>
              <c:numCache>
                <c:formatCode>General</c:formatCode>
                <c:ptCount val="4"/>
                <c:pt idx="0">
                  <c:v>93.8</c:v>
                </c:pt>
                <c:pt idx="1">
                  <c:v>2.4</c:v>
                </c:pt>
                <c:pt idx="2">
                  <c:v>0</c:v>
                </c:pt>
                <c:pt idx="3">
                  <c:v>0</c:v>
                </c:pt>
              </c:numCache>
            </c:numRef>
          </c:val>
          <c:extLst>
            <c:ext xmlns:c16="http://schemas.microsoft.com/office/drawing/2014/chart" uri="{C3380CC4-5D6E-409C-BE32-E72D297353CC}">
              <c16:uniqueId val="{00000000-3D94-47C7-9429-CF5B9B7DD186}"/>
            </c:ext>
          </c:extLst>
        </c:ser>
        <c:ser>
          <c:idx val="1"/>
          <c:order val="1"/>
          <c:tx>
            <c:strRef>
              <c:f>Sheet1!$C$1</c:f>
              <c:strCache>
                <c:ptCount val="1"/>
                <c:pt idx="0">
                  <c:v>age</c:v>
                </c:pt>
              </c:strCache>
            </c:strRef>
          </c:tx>
          <c:spPr>
            <a:solidFill>
              <a:srgbClr val="E4572E"/>
            </a:solidFill>
            <a:effectLst/>
          </c:spPr>
          <c:invertIfNegative val="0"/>
          <c:cat>
            <c:strRef>
              <c:f>Sheet1!$A$2:$A$5</c:f>
              <c:strCache>
                <c:ptCount val="4"/>
                <c:pt idx="0">
                  <c:v>Depth 1</c:v>
                </c:pt>
                <c:pt idx="1">
                  <c:v>Depth 2</c:v>
                </c:pt>
                <c:pt idx="2">
                  <c:v>Depth 3</c:v>
                </c:pt>
                <c:pt idx="3">
                  <c:v>Depth 4</c:v>
                </c:pt>
              </c:strCache>
            </c:strRef>
          </c:cat>
          <c:val>
            <c:numRef>
              <c:f>Sheet1!$C$2:$C$5</c:f>
              <c:numCache>
                <c:formatCode>General</c:formatCode>
                <c:ptCount val="4"/>
                <c:pt idx="0">
                  <c:v>6.2</c:v>
                </c:pt>
                <c:pt idx="1">
                  <c:v>42.9</c:v>
                </c:pt>
                <c:pt idx="2">
                  <c:v>25.6</c:v>
                </c:pt>
                <c:pt idx="3">
                  <c:v>42.9</c:v>
                </c:pt>
              </c:numCache>
            </c:numRef>
          </c:val>
          <c:extLst>
            <c:ext xmlns:c16="http://schemas.microsoft.com/office/drawing/2014/chart" uri="{C3380CC4-5D6E-409C-BE32-E72D297353CC}">
              <c16:uniqueId val="{00000001-3D94-47C7-9429-CF5B9B7DD186}"/>
            </c:ext>
          </c:extLst>
        </c:ser>
        <c:ser>
          <c:idx val="2"/>
          <c:order val="2"/>
          <c:tx>
            <c:strRef>
              <c:f>Sheet1!$D$1</c:f>
              <c:strCache>
                <c:ptCount val="1"/>
                <c:pt idx="0">
                  <c:v>gender</c:v>
                </c:pt>
              </c:strCache>
            </c:strRef>
          </c:tx>
          <c:spPr>
            <a:solidFill>
              <a:srgbClr val="2F6FED"/>
            </a:solidFill>
            <a:effectLst/>
          </c:spPr>
          <c:invertIfNegative val="0"/>
          <c:cat>
            <c:strRef>
              <c:f>Sheet1!$A$2:$A$5</c:f>
              <c:strCache>
                <c:ptCount val="4"/>
                <c:pt idx="0">
                  <c:v>Depth 1</c:v>
                </c:pt>
                <c:pt idx="1">
                  <c:v>Depth 2</c:v>
                </c:pt>
                <c:pt idx="2">
                  <c:v>Depth 3</c:v>
                </c:pt>
                <c:pt idx="3">
                  <c:v>Depth 4</c:v>
                </c:pt>
              </c:strCache>
            </c:strRef>
          </c:cat>
          <c:val>
            <c:numRef>
              <c:f>Sheet1!$D$2:$D$5</c:f>
              <c:numCache>
                <c:formatCode>General</c:formatCode>
                <c:ptCount val="4"/>
                <c:pt idx="0">
                  <c:v>0</c:v>
                </c:pt>
                <c:pt idx="1">
                  <c:v>21.4</c:v>
                </c:pt>
                <c:pt idx="2">
                  <c:v>51.2</c:v>
                </c:pt>
                <c:pt idx="3">
                  <c:v>42.9</c:v>
                </c:pt>
              </c:numCache>
            </c:numRef>
          </c:val>
          <c:extLst>
            <c:ext xmlns:c16="http://schemas.microsoft.com/office/drawing/2014/chart" uri="{C3380CC4-5D6E-409C-BE32-E72D297353CC}">
              <c16:uniqueId val="{00000002-3D94-47C7-9429-CF5B9B7DD186}"/>
            </c:ext>
          </c:extLst>
        </c:ser>
        <c:dLbls>
          <c:showLegendKey val="0"/>
          <c:showVal val="0"/>
          <c:showCatName val="0"/>
          <c:showSerName val="0"/>
          <c:showPercent val="0"/>
          <c:showBubbleSize val="0"/>
        </c:dLbls>
        <c:gapWidth val="50"/>
        <c:overlap val="10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50" b="0" i="0" u="none" strike="noStrike">
                <a:solidFill>
                  <a:srgbClr val="6B7280"/>
                </a:solidFill>
                <a:latin typeface="Arial"/>
              </a:defRPr>
            </a:pPr>
            <a:endParaRPr lang="en-US"/>
          </a:p>
        </c:txPr>
        <c:crossAx val="2094734552"/>
        <c:crosses val="autoZero"/>
        <c:auto val="1"/>
        <c:lblAlgn val="ctr"/>
        <c:lblOffset val="100"/>
        <c:noMultiLvlLbl val="1"/>
      </c:catAx>
      <c:valAx>
        <c:axId val="2094734552"/>
        <c:scaling>
          <c:orientation val="minMax"/>
        </c:scaling>
        <c:delete val="0"/>
        <c:axPos val="l"/>
        <c:majorGridlines>
          <c:spPr>
            <a:ln w="12700" cap="flat">
              <a:solidFill>
                <a:srgbClr val="DDE1EE"/>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50" b="0" i="0" u="none" strike="noStrike">
                <a:solidFill>
                  <a:srgbClr val="6B7280"/>
                </a:solidFill>
                <a:latin typeface="Arial"/>
              </a:defRPr>
            </a:pPr>
            <a:endParaRPr lang="en-US"/>
          </a:p>
        </c:txPr>
        <c:crossAx val="2094734554"/>
        <c:crosses val="autoZero"/>
        <c:crossBetween val="between"/>
      </c:valAx>
      <c:spPr>
        <a:noFill/>
        <a:ln>
          <a:noFill/>
        </a:ln>
        <a:effectLst/>
      </c:spPr>
    </c:plotArea>
    <c:legend>
      <c:legendPos val="b"/>
      <c:overlay val="0"/>
      <c:txPr>
        <a:bodyPr/>
        <a:lstStyle/>
        <a:p>
          <a:pPr>
            <a:defRPr sz="1050">
              <a:solidFill>
                <a:srgbClr val="6B7280"/>
              </a:solidFill>
            </a:defRPr>
          </a:pPr>
          <a:endParaRPr lang="en-US"/>
        </a:p>
      </c:txPr>
    </c:legend>
    <c:plotVisOnly val="1"/>
    <c:dispBlanksAs val="span"/>
    <c:showDLblsOverMax val="1"/>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52001374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en-US" dirty="0"/>
              <a:t>-Polarization</a:t>
            </a:r>
          </a:p>
          <a:p>
            <a:pPr rtl="0"/>
            <a:r>
              <a:rPr lang="el-GR" dirty="0" err="1"/>
              <a:t>That's</a:t>
            </a:r>
            <a:r>
              <a:rPr lang="el-GR" dirty="0"/>
              <a:t> a </a:t>
            </a:r>
            <a:r>
              <a:rPr lang="el-GR" dirty="0" err="1"/>
              <a:t>problem</a:t>
            </a:r>
            <a:r>
              <a:rPr lang="el-GR" dirty="0"/>
              <a:t> </a:t>
            </a:r>
            <a:r>
              <a:rPr lang="el-GR" dirty="0" err="1"/>
              <a:t>because</a:t>
            </a:r>
            <a:r>
              <a:rPr lang="el-GR" dirty="0"/>
              <a:t> a </a:t>
            </a:r>
            <a:r>
              <a:rPr lang="el-GR" dirty="0" err="1"/>
              <a:t>single</a:t>
            </a:r>
            <a:r>
              <a:rPr lang="el-GR" dirty="0"/>
              <a:t> </a:t>
            </a:r>
            <a:r>
              <a:rPr lang="el-GR" dirty="0" err="1"/>
              <a:t>label</a:t>
            </a:r>
            <a:r>
              <a:rPr lang="el-GR" dirty="0"/>
              <a:t> </a:t>
            </a:r>
            <a:r>
              <a:rPr lang="el-GR" dirty="0" err="1"/>
              <a:t>can't</a:t>
            </a:r>
            <a:r>
              <a:rPr lang="el-GR" dirty="0"/>
              <a:t> </a:t>
            </a:r>
            <a:r>
              <a:rPr lang="el-GR" dirty="0" err="1"/>
              <a:t>represent</a:t>
            </a:r>
            <a:r>
              <a:rPr lang="el-GR" dirty="0"/>
              <a:t> </a:t>
            </a:r>
            <a:r>
              <a:rPr lang="el-GR" dirty="0" err="1"/>
              <a:t>what</a:t>
            </a:r>
            <a:r>
              <a:rPr lang="el-GR" dirty="0"/>
              <a:t> </a:t>
            </a:r>
            <a:r>
              <a:rPr lang="el-GR" dirty="0" err="1"/>
              <a:t>actually</a:t>
            </a:r>
            <a:r>
              <a:rPr lang="el-GR" dirty="0"/>
              <a:t> </a:t>
            </a:r>
            <a:r>
              <a:rPr lang="el-GR" dirty="0" err="1"/>
              <a:t>happened</a:t>
            </a:r>
            <a:r>
              <a:rPr lang="el-GR" dirty="0"/>
              <a:t>, </a:t>
            </a:r>
            <a:r>
              <a:rPr lang="el-GR" dirty="0" err="1"/>
              <a:t>whatever</a:t>
            </a:r>
            <a:r>
              <a:rPr lang="el-GR" dirty="0"/>
              <a:t> </a:t>
            </a:r>
            <a:r>
              <a:rPr lang="el-GR" dirty="0" err="1"/>
              <a:t>we</a:t>
            </a:r>
            <a:r>
              <a:rPr lang="el-GR" dirty="0"/>
              <a:t> </a:t>
            </a:r>
            <a:r>
              <a:rPr lang="el-GR" dirty="0" err="1"/>
              <a:t>pick</a:t>
            </a:r>
            <a:r>
              <a:rPr lang="el-GR" dirty="0"/>
              <a:t>, </a:t>
            </a:r>
            <a:r>
              <a:rPr lang="el-GR" dirty="0" err="1"/>
              <a:t>we're</a:t>
            </a:r>
            <a:r>
              <a:rPr lang="el-GR" dirty="0"/>
              <a:t> </a:t>
            </a:r>
            <a:r>
              <a:rPr lang="el-GR" dirty="0" err="1"/>
              <a:t>overwriting</a:t>
            </a:r>
            <a:r>
              <a:rPr lang="el-GR" dirty="0"/>
              <a:t> </a:t>
            </a:r>
            <a:r>
              <a:rPr lang="el-GR" dirty="0" err="1"/>
              <a:t>real</a:t>
            </a:r>
            <a:r>
              <a:rPr lang="el-GR" dirty="0"/>
              <a:t>, </a:t>
            </a:r>
            <a:r>
              <a:rPr lang="el-GR" dirty="0" err="1"/>
              <a:t>opposing</a:t>
            </a:r>
            <a:r>
              <a:rPr lang="el-GR" dirty="0"/>
              <a:t> </a:t>
            </a:r>
            <a:r>
              <a:rPr lang="el-GR" dirty="0" err="1"/>
              <a:t>judgments</a:t>
            </a:r>
            <a:r>
              <a:rPr lang="el-GR" dirty="0"/>
              <a:t>.</a:t>
            </a:r>
            <a:r>
              <a:rPr lang="en-US" dirty="0"/>
              <a:t> </a:t>
            </a:r>
            <a:r>
              <a:rPr lang="el-GR" dirty="0" err="1"/>
              <a:t>So</a:t>
            </a:r>
            <a:r>
              <a:rPr lang="el-GR" dirty="0"/>
              <a:t> </a:t>
            </a:r>
            <a:r>
              <a:rPr lang="el-GR" dirty="0" err="1"/>
              <a:t>that's</a:t>
            </a:r>
            <a:r>
              <a:rPr lang="el-GR" dirty="0"/>
              <a:t> </a:t>
            </a:r>
            <a:r>
              <a:rPr lang="el-GR" dirty="0" err="1"/>
              <a:t>why</a:t>
            </a:r>
            <a:r>
              <a:rPr lang="el-GR" dirty="0"/>
              <a:t> </a:t>
            </a:r>
            <a:r>
              <a:rPr lang="el-GR" dirty="0" err="1"/>
              <a:t>majority</a:t>
            </a:r>
            <a:r>
              <a:rPr lang="el-GR" dirty="0"/>
              <a:t> </a:t>
            </a:r>
            <a:r>
              <a:rPr lang="el-GR" dirty="0" err="1"/>
              <a:t>voting</a:t>
            </a:r>
            <a:r>
              <a:rPr lang="el-GR" dirty="0"/>
              <a:t> </a:t>
            </a:r>
            <a:r>
              <a:rPr lang="el-GR" dirty="0" err="1"/>
              <a:t>isn't</a:t>
            </a:r>
            <a:r>
              <a:rPr lang="el-GR" dirty="0"/>
              <a:t> </a:t>
            </a:r>
            <a:r>
              <a:rPr lang="el-GR" dirty="0" err="1"/>
              <a:t>enough</a:t>
            </a:r>
            <a:r>
              <a:rPr lang="el-GR" dirty="0"/>
              <a:t>, </a:t>
            </a:r>
            <a:r>
              <a:rPr lang="en-US" dirty="0"/>
              <a:t>because</a:t>
            </a:r>
            <a:r>
              <a:rPr lang="el-GR" dirty="0"/>
              <a:t> </a:t>
            </a:r>
            <a:r>
              <a:rPr lang="el-GR" dirty="0" err="1"/>
              <a:t>collapsing</a:t>
            </a:r>
            <a:r>
              <a:rPr lang="el-GR" dirty="0"/>
              <a:t> </a:t>
            </a:r>
            <a:r>
              <a:rPr lang="el-GR" dirty="0" err="1"/>
              <a:t>everything</a:t>
            </a:r>
            <a:r>
              <a:rPr lang="el-GR" dirty="0"/>
              <a:t> </a:t>
            </a:r>
            <a:r>
              <a:rPr lang="el-GR" dirty="0" err="1"/>
              <a:t>into</a:t>
            </a:r>
            <a:r>
              <a:rPr lang="el-GR" dirty="0"/>
              <a:t> </a:t>
            </a:r>
            <a:r>
              <a:rPr lang="el-GR" dirty="0" err="1"/>
              <a:t>one</a:t>
            </a:r>
            <a:r>
              <a:rPr lang="el-GR" dirty="0"/>
              <a:t> </a:t>
            </a:r>
            <a:r>
              <a:rPr lang="el-GR" dirty="0" err="1"/>
              <a:t>label</a:t>
            </a:r>
            <a:r>
              <a:rPr lang="el-GR" dirty="0"/>
              <a:t> </a:t>
            </a:r>
            <a:r>
              <a:rPr lang="el-GR" dirty="0" err="1"/>
              <a:t>throws</a:t>
            </a:r>
            <a:r>
              <a:rPr lang="el-GR" dirty="0"/>
              <a:t> </a:t>
            </a:r>
            <a:r>
              <a:rPr lang="el-GR" dirty="0" err="1"/>
              <a:t>away</a:t>
            </a:r>
            <a:r>
              <a:rPr lang="el-GR" dirty="0"/>
              <a:t> </a:t>
            </a:r>
            <a:r>
              <a:rPr lang="en-US" dirty="0"/>
              <a:t>too much info</a:t>
            </a:r>
            <a:r>
              <a:rPr lang="el-GR" dirty="0"/>
              <a:t>.</a:t>
            </a:r>
            <a:r>
              <a:rPr lang="en-US" dirty="0"/>
              <a:t> </a:t>
            </a:r>
            <a:r>
              <a:rPr lang="el-GR" dirty="0"/>
              <a:t>A </a:t>
            </a:r>
            <a:r>
              <a:rPr lang="el-GR" dirty="0" err="1"/>
              <a:t>better</a:t>
            </a:r>
            <a:r>
              <a:rPr lang="el-GR" dirty="0"/>
              <a:t> </a:t>
            </a:r>
            <a:r>
              <a:rPr lang="el-GR" dirty="0" err="1"/>
              <a:t>approach</a:t>
            </a:r>
            <a:r>
              <a:rPr lang="el-GR" dirty="0"/>
              <a:t> </a:t>
            </a:r>
            <a:r>
              <a:rPr lang="el-GR" dirty="0" err="1"/>
              <a:t>is</a:t>
            </a:r>
            <a:r>
              <a:rPr lang="el-GR" dirty="0"/>
              <a:t> </a:t>
            </a:r>
            <a:r>
              <a:rPr lang="el-GR" dirty="0" err="1"/>
              <a:t>explaining</a:t>
            </a:r>
            <a:r>
              <a:rPr lang="el-GR" dirty="0"/>
              <a:t> </a:t>
            </a:r>
            <a:r>
              <a:rPr lang="el-GR" dirty="0" err="1"/>
              <a:t>polarization</a:t>
            </a:r>
            <a:r>
              <a:rPr lang="el-GR" dirty="0"/>
              <a:t> </a:t>
            </a:r>
            <a:r>
              <a:rPr lang="el-GR" dirty="0" err="1"/>
              <a:t>using</a:t>
            </a:r>
            <a:r>
              <a:rPr lang="el-GR" dirty="0"/>
              <a:t> </a:t>
            </a:r>
            <a:r>
              <a:rPr lang="el-GR" dirty="0" err="1"/>
              <a:t>annotator</a:t>
            </a:r>
            <a:r>
              <a:rPr lang="el-GR" dirty="0"/>
              <a:t> </a:t>
            </a:r>
            <a:r>
              <a:rPr lang="el-GR" dirty="0" err="1"/>
              <a:t>metadata</a:t>
            </a:r>
            <a:r>
              <a:rPr lang="el-GR" dirty="0"/>
              <a:t>. </a:t>
            </a:r>
            <a:r>
              <a:rPr lang="el-GR" dirty="0" err="1"/>
              <a:t>But</a:t>
            </a:r>
            <a:r>
              <a:rPr lang="el-GR" dirty="0"/>
              <a:t> </a:t>
            </a:r>
            <a:r>
              <a:rPr lang="el-GR" dirty="0" err="1"/>
              <a:t>most</a:t>
            </a:r>
            <a:r>
              <a:rPr lang="el-GR" dirty="0"/>
              <a:t> </a:t>
            </a:r>
            <a:r>
              <a:rPr lang="el-GR" dirty="0" err="1"/>
              <a:t>existing</a:t>
            </a:r>
            <a:r>
              <a:rPr lang="el-GR" dirty="0"/>
              <a:t> </a:t>
            </a:r>
            <a:r>
              <a:rPr lang="el-GR" dirty="0" err="1"/>
              <a:t>approaches</a:t>
            </a:r>
            <a:r>
              <a:rPr lang="el-GR" dirty="0"/>
              <a:t> </a:t>
            </a:r>
            <a:r>
              <a:rPr lang="el-GR" dirty="0" err="1"/>
              <a:t>test</a:t>
            </a:r>
            <a:r>
              <a:rPr lang="el-GR" dirty="0"/>
              <a:t> </a:t>
            </a:r>
            <a:r>
              <a:rPr lang="el-GR" dirty="0" err="1"/>
              <a:t>one</a:t>
            </a:r>
            <a:r>
              <a:rPr lang="el-GR" dirty="0"/>
              <a:t> </a:t>
            </a:r>
            <a:r>
              <a:rPr lang="el-GR" dirty="0" err="1"/>
              <a:t>dimension</a:t>
            </a:r>
            <a:r>
              <a:rPr lang="el-GR" dirty="0"/>
              <a:t> </a:t>
            </a:r>
            <a:r>
              <a:rPr lang="el-GR" dirty="0" err="1"/>
              <a:t>at</a:t>
            </a:r>
            <a:r>
              <a:rPr lang="el-GR" dirty="0"/>
              <a:t> a </a:t>
            </a:r>
            <a:r>
              <a:rPr lang="el-GR" dirty="0" err="1"/>
              <a:t>time</a:t>
            </a:r>
            <a:r>
              <a:rPr lang="el-GR" dirty="0"/>
              <a:t>. And </a:t>
            </a:r>
            <a:r>
              <a:rPr lang="el-GR" dirty="0" err="1"/>
              <a:t>that's</a:t>
            </a:r>
            <a:r>
              <a:rPr lang="el-GR" dirty="0"/>
              <a:t> </a:t>
            </a:r>
            <a:r>
              <a:rPr lang="el-GR" dirty="0" err="1"/>
              <a:t>not</a:t>
            </a:r>
            <a:r>
              <a:rPr lang="el-GR" dirty="0"/>
              <a:t> </a:t>
            </a:r>
            <a:r>
              <a:rPr lang="el-GR" dirty="0" err="1"/>
              <a:t>realistic</a:t>
            </a:r>
            <a:r>
              <a:rPr lang="el-GR" dirty="0"/>
              <a:t>, </a:t>
            </a:r>
            <a:r>
              <a:rPr lang="el-GR" dirty="0" err="1"/>
              <a:t>we're</a:t>
            </a:r>
            <a:r>
              <a:rPr lang="el-GR" dirty="0"/>
              <a:t> </a:t>
            </a:r>
            <a:r>
              <a:rPr lang="el-GR" dirty="0" err="1"/>
              <a:t>not</a:t>
            </a:r>
            <a:r>
              <a:rPr lang="el-GR" dirty="0"/>
              <a:t> </a:t>
            </a:r>
            <a:r>
              <a:rPr lang="el-GR" dirty="0" err="1"/>
              <a:t>described</a:t>
            </a:r>
            <a:r>
              <a:rPr lang="el-GR" dirty="0"/>
              <a:t> </a:t>
            </a:r>
            <a:r>
              <a:rPr lang="el-GR" dirty="0" err="1"/>
              <a:t>by</a:t>
            </a:r>
            <a:r>
              <a:rPr lang="el-GR" dirty="0"/>
              <a:t> </a:t>
            </a:r>
            <a:r>
              <a:rPr lang="el-GR" dirty="0" err="1"/>
              <a:t>just</a:t>
            </a:r>
            <a:r>
              <a:rPr lang="el-GR" dirty="0"/>
              <a:t> </a:t>
            </a:r>
            <a:r>
              <a:rPr lang="el-GR" dirty="0" err="1"/>
              <a:t>our</a:t>
            </a:r>
            <a:r>
              <a:rPr lang="el-GR" dirty="0"/>
              <a:t> </a:t>
            </a:r>
            <a:r>
              <a:rPr lang="el-GR" dirty="0" err="1"/>
              <a:t>gender</a:t>
            </a:r>
            <a:r>
              <a:rPr lang="el-GR" dirty="0"/>
              <a:t>, </a:t>
            </a:r>
            <a:r>
              <a:rPr lang="el-GR" dirty="0" err="1"/>
              <a:t>or</a:t>
            </a:r>
            <a:r>
              <a:rPr lang="el-GR" dirty="0"/>
              <a:t> </a:t>
            </a:r>
            <a:r>
              <a:rPr lang="el-GR" dirty="0" err="1"/>
              <a:t>just</a:t>
            </a:r>
            <a:r>
              <a:rPr lang="el-GR" dirty="0"/>
              <a:t> </a:t>
            </a:r>
            <a:r>
              <a:rPr lang="el-GR" dirty="0" err="1"/>
              <a:t>our</a:t>
            </a:r>
            <a:r>
              <a:rPr lang="el-GR" dirty="0"/>
              <a:t> </a:t>
            </a:r>
            <a:r>
              <a:rPr lang="el-GR" dirty="0" err="1"/>
              <a:t>age</a:t>
            </a:r>
            <a:r>
              <a:rPr lang="el-GR" dirty="0"/>
              <a:t>. </a:t>
            </a:r>
            <a:r>
              <a:rPr lang="el-GR" dirty="0" err="1"/>
              <a:t>We're</a:t>
            </a:r>
            <a:r>
              <a:rPr lang="el-GR" dirty="0"/>
              <a:t> </a:t>
            </a:r>
            <a:r>
              <a:rPr lang="el-GR" dirty="0" err="1"/>
              <a:t>all</a:t>
            </a:r>
            <a:r>
              <a:rPr lang="el-GR" dirty="0"/>
              <a:t> of </a:t>
            </a:r>
            <a:r>
              <a:rPr lang="el-GR" dirty="0" err="1"/>
              <a:t>those</a:t>
            </a:r>
            <a:r>
              <a:rPr lang="el-GR" dirty="0"/>
              <a:t> </a:t>
            </a:r>
            <a:r>
              <a:rPr lang="el-GR" dirty="0" err="1"/>
              <a:t>things</a:t>
            </a:r>
            <a:r>
              <a:rPr lang="el-GR" dirty="0"/>
              <a:t> </a:t>
            </a:r>
            <a:r>
              <a:rPr lang="el-GR" dirty="0" err="1"/>
              <a:t>at</a:t>
            </a:r>
            <a:r>
              <a:rPr lang="el-GR" dirty="0"/>
              <a:t> </a:t>
            </a:r>
            <a:r>
              <a:rPr lang="el-GR" dirty="0" err="1"/>
              <a:t>once</a:t>
            </a:r>
            <a:r>
              <a:rPr lang="el-GR" dirty="0"/>
              <a:t>.</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el-GR" dirty="0" err="1"/>
              <a:t>Here's</a:t>
            </a:r>
            <a:r>
              <a:rPr lang="el-GR" dirty="0"/>
              <a:t> the </a:t>
            </a:r>
            <a:r>
              <a:rPr lang="el-GR" dirty="0" err="1"/>
              <a:t>intuition</a:t>
            </a:r>
            <a:r>
              <a:rPr lang="el-GR" dirty="0"/>
              <a:t>: </a:t>
            </a:r>
            <a:r>
              <a:rPr lang="el-GR" dirty="0" err="1"/>
              <a:t>instead</a:t>
            </a:r>
            <a:r>
              <a:rPr lang="el-GR" dirty="0"/>
              <a:t> of </a:t>
            </a:r>
            <a:r>
              <a:rPr lang="el-GR" dirty="0" err="1"/>
              <a:t>guessing</a:t>
            </a:r>
            <a:r>
              <a:rPr lang="el-GR" dirty="0"/>
              <a:t> </a:t>
            </a:r>
            <a:r>
              <a:rPr lang="el-GR" dirty="0" err="1"/>
              <a:t>which</a:t>
            </a:r>
            <a:r>
              <a:rPr lang="el-GR" dirty="0"/>
              <a:t> </a:t>
            </a:r>
            <a:r>
              <a:rPr lang="el-GR" dirty="0" err="1"/>
              <a:t>trait</a:t>
            </a:r>
            <a:r>
              <a:rPr lang="el-GR" dirty="0"/>
              <a:t> </a:t>
            </a:r>
            <a:r>
              <a:rPr lang="el-GR" dirty="0" err="1"/>
              <a:t>matters</a:t>
            </a:r>
            <a:r>
              <a:rPr lang="el-GR" dirty="0"/>
              <a:t> and </a:t>
            </a:r>
            <a:r>
              <a:rPr lang="el-GR" dirty="0" err="1"/>
              <a:t>testing</a:t>
            </a:r>
            <a:r>
              <a:rPr lang="el-GR" dirty="0"/>
              <a:t> </a:t>
            </a:r>
            <a:r>
              <a:rPr lang="el-GR" dirty="0" err="1"/>
              <a:t>it</a:t>
            </a:r>
            <a:r>
              <a:rPr lang="el-GR" dirty="0"/>
              <a:t> </a:t>
            </a:r>
            <a:r>
              <a:rPr lang="el-GR" dirty="0" err="1"/>
              <a:t>alone</a:t>
            </a:r>
            <a:r>
              <a:rPr lang="el-GR" dirty="0"/>
              <a:t>, </a:t>
            </a:r>
            <a:r>
              <a:rPr lang="el-GR" dirty="0" err="1"/>
              <a:t>we</a:t>
            </a:r>
            <a:r>
              <a:rPr lang="el-GR" dirty="0"/>
              <a:t> </a:t>
            </a:r>
            <a:r>
              <a:rPr lang="el-GR" dirty="0" err="1"/>
              <a:t>let</a:t>
            </a:r>
            <a:r>
              <a:rPr lang="el-GR" dirty="0"/>
              <a:t> the </a:t>
            </a:r>
            <a:r>
              <a:rPr lang="el-GR" dirty="0" err="1"/>
              <a:t>data</a:t>
            </a:r>
            <a:r>
              <a:rPr lang="el-GR" dirty="0"/>
              <a:t> </a:t>
            </a:r>
            <a:r>
              <a:rPr lang="el-GR" dirty="0" err="1"/>
              <a:t>tell</a:t>
            </a:r>
            <a:r>
              <a:rPr lang="el-GR" dirty="0"/>
              <a:t> </a:t>
            </a:r>
            <a:r>
              <a:rPr lang="el-GR" dirty="0" err="1"/>
              <a:t>us</a:t>
            </a:r>
            <a:r>
              <a:rPr lang="el-GR" dirty="0"/>
              <a:t>, </a:t>
            </a:r>
            <a:r>
              <a:rPr lang="el-GR" dirty="0" err="1"/>
              <a:t>automatically</a:t>
            </a:r>
            <a:r>
              <a:rPr lang="el-GR" dirty="0"/>
              <a:t>.</a:t>
            </a:r>
          </a:p>
          <a:p>
            <a:pPr rtl="0"/>
            <a:r>
              <a:rPr lang="el-GR" dirty="0" err="1"/>
              <a:t>Concretely</a:t>
            </a:r>
            <a:r>
              <a:rPr lang="el-GR" dirty="0"/>
              <a:t>, </a:t>
            </a:r>
            <a:r>
              <a:rPr lang="el-GR" dirty="0" err="1"/>
              <a:t>that</a:t>
            </a:r>
            <a:r>
              <a:rPr lang="el-GR" dirty="0"/>
              <a:t> </a:t>
            </a:r>
            <a:r>
              <a:rPr lang="el-GR" dirty="0" err="1"/>
              <a:t>means</a:t>
            </a:r>
            <a:r>
              <a:rPr lang="el-GR" dirty="0"/>
              <a:t> </a:t>
            </a:r>
            <a:r>
              <a:rPr lang="el-GR" dirty="0" err="1"/>
              <a:t>building</a:t>
            </a:r>
            <a:r>
              <a:rPr lang="el-GR" dirty="0"/>
              <a:t> </a:t>
            </a:r>
            <a:r>
              <a:rPr lang="el-GR" dirty="0" err="1"/>
              <a:t>one</a:t>
            </a:r>
            <a:r>
              <a:rPr lang="el-GR" dirty="0"/>
              <a:t> </a:t>
            </a:r>
            <a:r>
              <a:rPr lang="el-GR" dirty="0" err="1"/>
              <a:t>tree</a:t>
            </a:r>
            <a:r>
              <a:rPr lang="el-GR" dirty="0"/>
              <a:t> per </a:t>
            </a:r>
            <a:r>
              <a:rPr lang="en-US" dirty="0"/>
              <a:t>text</a:t>
            </a:r>
            <a:r>
              <a:rPr lang="el-GR" dirty="0"/>
              <a:t>, </a:t>
            </a:r>
            <a:r>
              <a:rPr lang="el-GR" dirty="0" err="1"/>
              <a:t>where</a:t>
            </a:r>
            <a:r>
              <a:rPr lang="el-GR" dirty="0"/>
              <a:t> </a:t>
            </a:r>
            <a:r>
              <a:rPr lang="el-GR" dirty="0" err="1"/>
              <a:t>each</a:t>
            </a:r>
            <a:r>
              <a:rPr lang="el-GR" dirty="0"/>
              <a:t> </a:t>
            </a:r>
            <a:r>
              <a:rPr lang="el-GR" dirty="0" err="1"/>
              <a:t>step</a:t>
            </a:r>
            <a:r>
              <a:rPr lang="el-GR" dirty="0"/>
              <a:t> </a:t>
            </a:r>
            <a:r>
              <a:rPr lang="el-GR" dirty="0" err="1"/>
              <a:t>picks</a:t>
            </a:r>
            <a:r>
              <a:rPr lang="el-GR" dirty="0"/>
              <a:t> </a:t>
            </a:r>
            <a:r>
              <a:rPr lang="el-GR" dirty="0" err="1"/>
              <a:t>whatever</a:t>
            </a:r>
            <a:r>
              <a:rPr lang="el-GR" dirty="0"/>
              <a:t> </a:t>
            </a:r>
            <a:r>
              <a:rPr lang="en-US" dirty="0"/>
              <a:t>dimension</a:t>
            </a:r>
            <a:r>
              <a:rPr lang="el-GR" dirty="0"/>
              <a:t> </a:t>
            </a:r>
            <a:r>
              <a:rPr lang="el-GR" dirty="0" err="1"/>
              <a:t>explains</a:t>
            </a:r>
            <a:r>
              <a:rPr lang="el-GR" dirty="0"/>
              <a:t> the </a:t>
            </a:r>
            <a:r>
              <a:rPr lang="el-GR" dirty="0" err="1"/>
              <a:t>mo</a:t>
            </a:r>
            <a:r>
              <a:rPr lang="en-US" dirty="0"/>
              <a:t>st the differences in opinions</a:t>
            </a:r>
            <a:r>
              <a:rPr lang="el-GR" dirty="0"/>
              <a:t>, </a:t>
            </a:r>
            <a:r>
              <a:rPr lang="el-GR" dirty="0" err="1"/>
              <a:t>then</a:t>
            </a:r>
            <a:r>
              <a:rPr lang="el-GR" dirty="0"/>
              <a:t> </a:t>
            </a:r>
            <a:r>
              <a:rPr lang="el-GR" dirty="0" err="1"/>
              <a:t>keeps</a:t>
            </a:r>
            <a:r>
              <a:rPr lang="el-GR" dirty="0"/>
              <a:t> </a:t>
            </a:r>
            <a:r>
              <a:rPr lang="el-GR" dirty="0" err="1"/>
              <a:t>going</a:t>
            </a:r>
            <a:r>
              <a:rPr lang="el-GR" dirty="0"/>
              <a:t> </a:t>
            </a:r>
            <a:r>
              <a:rPr lang="el-GR" dirty="0" err="1"/>
              <a:t>inside</a:t>
            </a:r>
            <a:r>
              <a:rPr lang="el-GR" dirty="0"/>
              <a:t> </a:t>
            </a:r>
            <a:r>
              <a:rPr lang="el-GR" dirty="0" err="1"/>
              <a:t>that</a:t>
            </a:r>
            <a:r>
              <a:rPr lang="el-GR" dirty="0"/>
              <a:t> </a:t>
            </a:r>
            <a:r>
              <a:rPr lang="el-GR" dirty="0" err="1"/>
              <a:t>group</a:t>
            </a:r>
            <a:r>
              <a:rPr lang="el-GR" dirty="0"/>
              <a:t>. </a:t>
            </a:r>
            <a:r>
              <a:rPr lang="el-GR" dirty="0" err="1"/>
              <a:t>So</a:t>
            </a:r>
            <a:r>
              <a:rPr lang="el-GR" dirty="0"/>
              <a:t> </a:t>
            </a:r>
            <a:r>
              <a:rPr lang="el-GR" dirty="0" err="1"/>
              <a:t>instead</a:t>
            </a:r>
            <a:r>
              <a:rPr lang="el-GR" dirty="0"/>
              <a:t> of </a:t>
            </a:r>
            <a:r>
              <a:rPr lang="el-GR" dirty="0" err="1"/>
              <a:t>ending</a:t>
            </a:r>
            <a:r>
              <a:rPr lang="el-GR" dirty="0"/>
              <a:t> on '</a:t>
            </a:r>
            <a:r>
              <a:rPr lang="el-GR" dirty="0" err="1"/>
              <a:t>gender</a:t>
            </a:r>
            <a:r>
              <a:rPr lang="el-GR" dirty="0"/>
              <a:t>', </a:t>
            </a:r>
            <a:r>
              <a:rPr lang="el-GR" dirty="0" err="1"/>
              <a:t>you</a:t>
            </a:r>
            <a:r>
              <a:rPr lang="el-GR" dirty="0"/>
              <a:t> </a:t>
            </a:r>
            <a:r>
              <a:rPr lang="el-GR" dirty="0" err="1"/>
              <a:t>end</a:t>
            </a:r>
            <a:r>
              <a:rPr lang="el-GR" dirty="0"/>
              <a:t> on </a:t>
            </a:r>
            <a:r>
              <a:rPr lang="el-GR" dirty="0" err="1"/>
              <a:t>something</a:t>
            </a:r>
            <a:r>
              <a:rPr lang="el-GR" dirty="0"/>
              <a:t> </a:t>
            </a:r>
            <a:r>
              <a:rPr lang="el-GR" dirty="0" err="1"/>
              <a:t>like</a:t>
            </a:r>
            <a:r>
              <a:rPr lang="el-GR" dirty="0"/>
              <a:t> '</a:t>
            </a:r>
            <a:r>
              <a:rPr lang="el-GR" dirty="0" err="1"/>
              <a:t>Asian</a:t>
            </a:r>
            <a:r>
              <a:rPr lang="el-GR" dirty="0"/>
              <a:t>, </a:t>
            </a:r>
            <a:r>
              <a:rPr lang="el-GR" dirty="0" err="1"/>
              <a:t>Millennial</a:t>
            </a:r>
            <a:r>
              <a:rPr lang="el-GR" dirty="0"/>
              <a:t>, </a:t>
            </a:r>
            <a:r>
              <a:rPr lang="el-GR" dirty="0" err="1"/>
              <a:t>man</a:t>
            </a:r>
            <a:r>
              <a:rPr lang="el-GR" dirty="0"/>
              <a:t>', a </a:t>
            </a:r>
            <a:r>
              <a:rPr lang="el-GR" dirty="0" err="1"/>
              <a:t>full</a:t>
            </a:r>
            <a:r>
              <a:rPr lang="el-GR" dirty="0"/>
              <a:t> </a:t>
            </a:r>
            <a:r>
              <a:rPr lang="el-GR" dirty="0" err="1"/>
              <a:t>identity</a:t>
            </a:r>
            <a:r>
              <a:rPr lang="el-GR" dirty="0"/>
              <a:t>, </a:t>
            </a:r>
            <a:r>
              <a:rPr lang="el-GR" dirty="0" err="1"/>
              <a:t>built</a:t>
            </a:r>
            <a:r>
              <a:rPr lang="el-GR" dirty="0"/>
              <a:t> </a:t>
            </a:r>
            <a:r>
              <a:rPr lang="el-GR" dirty="0" err="1"/>
              <a:t>step</a:t>
            </a:r>
            <a:r>
              <a:rPr lang="el-GR" dirty="0"/>
              <a:t> </a:t>
            </a:r>
            <a:r>
              <a:rPr lang="el-GR" dirty="0" err="1"/>
              <a:t>by</a:t>
            </a:r>
            <a:r>
              <a:rPr lang="el-GR" dirty="0"/>
              <a:t> </a:t>
            </a:r>
            <a:r>
              <a:rPr lang="el-GR" dirty="0" err="1"/>
              <a:t>step</a:t>
            </a:r>
            <a:r>
              <a:rPr lang="el-GR" dirty="0"/>
              <a:t>, </a:t>
            </a:r>
            <a:r>
              <a:rPr lang="el-GR" dirty="0" err="1"/>
              <a:t>not</a:t>
            </a:r>
            <a:r>
              <a:rPr lang="el-GR" dirty="0"/>
              <a:t> </a:t>
            </a:r>
            <a:r>
              <a:rPr lang="el-GR" dirty="0" err="1"/>
              <a:t>assumed</a:t>
            </a:r>
            <a:r>
              <a:rPr lang="el-GR" dirty="0"/>
              <a:t> </a:t>
            </a:r>
            <a:r>
              <a:rPr lang="el-GR" dirty="0" err="1"/>
              <a:t>upfront</a:t>
            </a:r>
            <a:r>
              <a:rPr lang="el-GR" dirty="0"/>
              <a:t>. </a:t>
            </a:r>
            <a:r>
              <a:rPr lang="el-GR" dirty="0" err="1"/>
              <a:t>Each</a:t>
            </a:r>
            <a:r>
              <a:rPr lang="el-GR" dirty="0"/>
              <a:t> </a:t>
            </a:r>
            <a:r>
              <a:rPr lang="el-GR" dirty="0" err="1"/>
              <a:t>final</a:t>
            </a:r>
            <a:r>
              <a:rPr lang="el-GR" dirty="0"/>
              <a:t> </a:t>
            </a:r>
            <a:r>
              <a:rPr lang="el-GR" dirty="0" err="1"/>
              <a:t>group</a:t>
            </a:r>
            <a:r>
              <a:rPr lang="el-GR" dirty="0"/>
              <a:t> </a:t>
            </a:r>
            <a:r>
              <a:rPr lang="el-GR" dirty="0" err="1"/>
              <a:t>then</a:t>
            </a:r>
            <a:r>
              <a:rPr lang="el-GR" dirty="0"/>
              <a:t> </a:t>
            </a:r>
            <a:r>
              <a:rPr lang="el-GR" dirty="0" err="1"/>
              <a:t>gets</a:t>
            </a:r>
            <a:r>
              <a:rPr lang="el-GR" dirty="0"/>
              <a:t> </a:t>
            </a:r>
            <a:r>
              <a:rPr lang="el-GR" dirty="0" err="1"/>
              <a:t>labeled</a:t>
            </a:r>
            <a:r>
              <a:rPr lang="el-GR" dirty="0"/>
              <a:t> </a:t>
            </a:r>
            <a:r>
              <a:rPr lang="el-GR" dirty="0" err="1"/>
              <a:t>by</a:t>
            </a:r>
            <a:r>
              <a:rPr lang="el-GR" dirty="0"/>
              <a:t> </a:t>
            </a:r>
            <a:r>
              <a:rPr lang="el-GR" dirty="0" err="1"/>
              <a:t>majority</a:t>
            </a:r>
            <a:r>
              <a:rPr lang="el-GR" dirty="0"/>
              <a:t> </a:t>
            </a:r>
            <a:r>
              <a:rPr lang="el-GR" dirty="0" err="1"/>
              <a:t>voting</a:t>
            </a:r>
            <a:r>
              <a:rPr lang="el-GR" dirty="0"/>
              <a:t>.</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latin typeface="+mn-lt"/>
                <a:ea typeface="+mn-ea"/>
                <a:cs typeface="+mn-cs"/>
              </a:rPr>
              <a:t>Let's walk through an example so the mechanism is understood.</a:t>
            </a:r>
            <a:endParaRPr lang="el-GR" sz="1200" kern="1200" dirty="0">
              <a:solidFill>
                <a:schemeClr val="tx1"/>
              </a:solidFill>
              <a:latin typeface="+mn-lt"/>
              <a:ea typeface="+mn-ea"/>
              <a:cs typeface="+mn-cs"/>
            </a:endParaRPr>
          </a:p>
          <a:p>
            <a:r>
              <a:rPr lang="en-US" sz="1200" kern="1200" dirty="0">
                <a:solidFill>
                  <a:schemeClr val="tx1"/>
                </a:solidFill>
                <a:latin typeface="+mn-lt"/>
                <a:ea typeface="+mn-ea"/>
                <a:cs typeface="+mn-cs"/>
              </a:rPr>
              <a:t>Take this sentence for example. We start with all annotators together. The dimension that best </a:t>
            </a:r>
            <a:r>
              <a:rPr lang="en-US" sz="1200" kern="1200" dirty="0" err="1">
                <a:solidFill>
                  <a:schemeClr val="tx1"/>
                </a:solidFill>
                <a:latin typeface="+mn-lt"/>
                <a:ea typeface="+mn-ea"/>
                <a:cs typeface="+mn-cs"/>
              </a:rPr>
              <a:t>seperates</a:t>
            </a:r>
            <a:r>
              <a:rPr lang="en-US" sz="1200" kern="1200" dirty="0">
                <a:solidFill>
                  <a:schemeClr val="tx1"/>
                </a:solidFill>
                <a:latin typeface="+mn-lt"/>
                <a:ea typeface="+mn-ea"/>
                <a:cs typeface="+mn-cs"/>
              </a:rPr>
              <a:t> the opinions is gender.</a:t>
            </a:r>
          </a:p>
          <a:p>
            <a:r>
              <a:rPr lang="en-US" sz="1200" kern="1200" dirty="0">
                <a:solidFill>
                  <a:schemeClr val="tx1"/>
                </a:solidFill>
                <a:latin typeface="+mn-lt"/>
                <a:ea typeface="+mn-ea"/>
                <a:cs typeface="+mn-cs"/>
              </a:rPr>
              <a:t>Here we see that Women agree with each other, on the toxic pole , so that branch stops there. Men are still polarized.</a:t>
            </a:r>
            <a:endParaRPr lang="en-US" dirty="0"/>
          </a:p>
          <a:p>
            <a:r>
              <a:rPr lang="en-US" sz="1200" kern="1200" dirty="0">
                <a:solidFill>
                  <a:schemeClr val="tx1"/>
                </a:solidFill>
                <a:latin typeface="+mn-lt"/>
                <a:ea typeface="+mn-ea"/>
                <a:cs typeface="+mn-cs"/>
              </a:rPr>
              <a:t>We see that no single dimension explained this, it took three, combined, one after another, and we couldn't have known that in advance. That's the whole idea, we don't pick a dimension upfront, we let the tree keep going until nothing's left to explain.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latin typeface="+mn-lt"/>
                <a:ea typeface="+mn-ea"/>
                <a:cs typeface="+mn-cs"/>
              </a:rPr>
              <a:t>Where we differ from previous methods. Previous methods, as already said before, test one dimension at a time, using predefined hypothesis</a:t>
            </a:r>
          </a:p>
          <a:p>
            <a:endParaRPr lang="el-GR" sz="1200" kern="1200" dirty="0">
              <a:solidFill>
                <a:schemeClr val="tx1"/>
              </a:solidFill>
              <a:latin typeface="+mn-lt"/>
              <a:ea typeface="+mn-ea"/>
              <a:cs typeface="+mn-cs"/>
            </a:endParaRPr>
          </a:p>
          <a:p>
            <a:r>
              <a:rPr lang="en-US" sz="1200" kern="1200" dirty="0">
                <a:solidFill>
                  <a:schemeClr val="tx1"/>
                </a:solidFill>
                <a:latin typeface="+mn-lt"/>
                <a:ea typeface="+mn-ea"/>
                <a:cs typeface="+mn-cs"/>
              </a:rPr>
              <a:t>We correct that by automatically searching and quantifying every dimensions at every step, following whichever explains the most of the </a:t>
            </a:r>
            <a:r>
              <a:rPr lang="en-US" sz="1200" kern="1200" dirty="0" err="1">
                <a:solidFill>
                  <a:schemeClr val="tx1"/>
                </a:solidFill>
                <a:latin typeface="+mn-lt"/>
                <a:ea typeface="+mn-ea"/>
                <a:cs typeface="+mn-cs"/>
              </a:rPr>
              <a:t>seperation</a:t>
            </a:r>
            <a:r>
              <a:rPr lang="en-US" sz="1200" kern="1200" dirty="0">
                <a:solidFill>
                  <a:schemeClr val="tx1"/>
                </a:solidFill>
                <a:latin typeface="+mn-lt"/>
                <a:ea typeface="+mn-ea"/>
                <a:cs typeface="+mn-cs"/>
              </a:rPr>
              <a:t>. At the end we produce a full explainable structure</a:t>
            </a:r>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kern="1200" dirty="0">
                <a:solidFill>
                  <a:schemeClr val="tx1"/>
                </a:solidFill>
                <a:latin typeface="+mn-lt"/>
                <a:ea typeface="+mn-ea"/>
                <a:cs typeface="+mn-cs"/>
              </a:rPr>
              <a:t>Our method can be broken down in 4 steps. Firstly, we find texts that are actually polarized enough to bother with. Secondly, pick the hyperparameters of the method, then we start building one tree per text. Thirdly, as already said we split and recurse, following whichever dimension explains the most of the divergence between the opinions. Then we remove this dimension, and repeat this inside each path that is left to study, until stopping criteria are met. Lastly, label each leaf with one pole and aggregate the results all trees.</a:t>
            </a:r>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latin typeface="+mn-lt"/>
                <a:ea typeface="+mn-ea"/>
                <a:cs typeface="+mn-cs"/>
              </a:rPr>
              <a:t>But how do we decide the split at each node? With PEG. PEG plays the same role Gini plays in a decision tree, Gini asks 'how pure are the resulting classes', PEG asks 'how separated are the resulting opinions.</a:t>
            </a:r>
          </a:p>
          <a:p>
            <a:endParaRPr lang="el-GR" sz="1200" kern="1200" dirty="0">
              <a:solidFill>
                <a:schemeClr val="tx1"/>
              </a:solidFill>
              <a:latin typeface="+mn-lt"/>
              <a:ea typeface="+mn-ea"/>
              <a:cs typeface="+mn-cs"/>
            </a:endParaRPr>
          </a:p>
          <a:p>
            <a:r>
              <a:rPr lang="en-US" sz="1200" kern="1200" dirty="0">
                <a:solidFill>
                  <a:schemeClr val="tx1"/>
                </a:solidFill>
                <a:latin typeface="+mn-lt"/>
                <a:ea typeface="+mn-ea"/>
                <a:cs typeface="+mn-cs"/>
              </a:rPr>
              <a:t>We provide three versions. </a:t>
            </a:r>
            <a:r>
              <a:rPr lang="en-US" sz="1200" kern="1200" dirty="0" err="1">
                <a:solidFill>
                  <a:schemeClr val="tx1"/>
                </a:solidFill>
                <a:latin typeface="+mn-lt"/>
                <a:ea typeface="+mn-ea"/>
                <a:cs typeface="+mn-cs"/>
              </a:rPr>
              <a:t>PEGmax</a:t>
            </a:r>
            <a:r>
              <a:rPr lang="en-US" sz="1200" kern="1200" dirty="0">
                <a:solidFill>
                  <a:schemeClr val="tx1"/>
                </a:solidFill>
                <a:latin typeface="+mn-lt"/>
                <a:ea typeface="+mn-ea"/>
                <a:cs typeface="+mn-cs"/>
              </a:rPr>
              <a:t> which is a greedy approach, </a:t>
            </a:r>
            <a:r>
              <a:rPr lang="en-US" sz="1200" kern="1200" dirty="0" err="1">
                <a:solidFill>
                  <a:schemeClr val="tx1"/>
                </a:solidFill>
                <a:latin typeface="+mn-lt"/>
                <a:ea typeface="+mn-ea"/>
                <a:cs typeface="+mn-cs"/>
              </a:rPr>
              <a:t>PEGvar</a:t>
            </a:r>
            <a:r>
              <a:rPr lang="en-US" sz="1200" kern="1200" dirty="0">
                <a:solidFill>
                  <a:schemeClr val="tx1"/>
                </a:solidFill>
                <a:latin typeface="+mn-lt"/>
                <a:ea typeface="+mn-ea"/>
                <a:cs typeface="+mn-cs"/>
              </a:rPr>
              <a:t> is more balanced and checks overall </a:t>
            </a:r>
            <a:r>
              <a:rPr lang="en-US" sz="1200" kern="1200" dirty="0" err="1">
                <a:solidFill>
                  <a:schemeClr val="tx1"/>
                </a:solidFill>
                <a:latin typeface="+mn-lt"/>
                <a:ea typeface="+mn-ea"/>
                <a:cs typeface="+mn-cs"/>
              </a:rPr>
              <a:t>behaviour</a:t>
            </a:r>
            <a:r>
              <a:rPr lang="en-US" sz="1200" kern="1200" dirty="0">
                <a:solidFill>
                  <a:schemeClr val="tx1"/>
                </a:solidFill>
                <a:latin typeface="+mn-lt"/>
                <a:ea typeface="+mn-ea"/>
                <a:cs typeface="+mn-cs"/>
              </a:rPr>
              <a:t>. PEGβ is the harmonic mean between those two. Also we introduce the normalized version of the PEG which actually produces the best recovery and the best results</a:t>
            </a:r>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latin typeface="+mn-lt"/>
                <a:ea typeface="+mn-ea"/>
                <a:cs typeface="+mn-cs"/>
              </a:rPr>
              <a:t>But we phase a big problem here. There's no dataset with known ground-truth polarization, so we can't check if we're recovering the right structure. What we do is build a synthetic one where we do know the ground truth, and used it to test recovery and pick the best-performing hyperparameters, so the results at inference are more trustworthy. Total hyperparameter combinations are 3240. We narrow it down to 800 using random grid search and we test it against 3 distribution, so we have a total of 2400 runs.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latin typeface="+mn-lt"/>
                <a:ea typeface="+mn-ea"/>
                <a:cs typeface="+mn-cs"/>
              </a:rPr>
              <a:t>We see now best-performing configuration from that search. We picked it using mean Jaccard, since we're comparing sets of dimensions, not single predictions</a:t>
            </a:r>
            <a:endParaRPr lang="el-GR" sz="1200" kern="1200" dirty="0">
              <a:solidFill>
                <a:schemeClr val="tx1"/>
              </a:solidFill>
              <a:latin typeface="+mn-lt"/>
              <a:ea typeface="+mn-ea"/>
              <a:cs typeface="+mn-cs"/>
            </a:endParaRPr>
          </a:p>
          <a:p>
            <a:r>
              <a:rPr lang="en-US" sz="1200" kern="1200" dirty="0">
                <a:solidFill>
                  <a:schemeClr val="tx1"/>
                </a:solidFill>
                <a:latin typeface="+mn-lt"/>
                <a:ea typeface="+mn-ea"/>
                <a:cs typeface="+mn-cs"/>
              </a:rPr>
              <a:t>As you can see, this configuration holds up consistently, 0.892 mean Jaccard across the three synthetic distributions. From here on, every experiment uses this exact combination, because it’s the most trustworthy.</a:t>
            </a:r>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latin typeface="+mn-lt"/>
                <a:ea typeface="+mn-ea"/>
                <a:cs typeface="+mn-cs"/>
              </a:rPr>
              <a:t>Now we move to real-world analysis. We picked DICES because it's one of the few datasets with that many annotations per text, and that density matters a lot for us, since our study expands in many dimensions.</a:t>
            </a:r>
          </a:p>
          <a:p>
            <a:endParaRPr lang="el-GR" sz="1200" kern="1200" dirty="0">
              <a:solidFill>
                <a:schemeClr val="tx1"/>
              </a:solidFill>
              <a:latin typeface="+mn-lt"/>
              <a:ea typeface="+mn-ea"/>
              <a:cs typeface="+mn-cs"/>
            </a:endParaRPr>
          </a:p>
          <a:p>
            <a:r>
              <a:rPr lang="en-US" sz="1200" kern="1200" dirty="0">
                <a:solidFill>
                  <a:schemeClr val="tx1"/>
                </a:solidFill>
                <a:latin typeface="+mn-lt"/>
                <a:ea typeface="+mn-ea"/>
                <a:cs typeface="+mn-cs"/>
              </a:rPr>
              <a:t>We used four traits here, gender, race, age, education, and tested against the Q3 bias overall rating.</a:t>
            </a:r>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el-GR" dirty="0" err="1"/>
              <a:t>Now</a:t>
            </a:r>
            <a:r>
              <a:rPr lang="el-GR" dirty="0"/>
              <a:t> </a:t>
            </a:r>
            <a:r>
              <a:rPr lang="el-GR" dirty="0" err="1"/>
              <a:t>we</a:t>
            </a:r>
            <a:r>
              <a:rPr lang="el-GR" dirty="0"/>
              <a:t> </a:t>
            </a:r>
            <a:r>
              <a:rPr lang="el-GR" dirty="0" err="1"/>
              <a:t>move</a:t>
            </a:r>
            <a:r>
              <a:rPr lang="el-GR" dirty="0"/>
              <a:t> </a:t>
            </a:r>
            <a:r>
              <a:rPr lang="el-GR" dirty="0" err="1"/>
              <a:t>to</a:t>
            </a:r>
            <a:r>
              <a:rPr lang="el-GR" dirty="0"/>
              <a:t> </a:t>
            </a:r>
            <a:r>
              <a:rPr lang="el-GR" dirty="0" err="1"/>
              <a:t>quantitative</a:t>
            </a:r>
            <a:r>
              <a:rPr lang="el-GR" dirty="0"/>
              <a:t> </a:t>
            </a:r>
            <a:r>
              <a:rPr lang="el-GR" dirty="0" err="1"/>
              <a:t>analysis</a:t>
            </a:r>
            <a:r>
              <a:rPr lang="el-GR" dirty="0"/>
              <a:t>. </a:t>
            </a:r>
            <a:r>
              <a:rPr lang="el-GR" dirty="0" err="1"/>
              <a:t>About</a:t>
            </a:r>
            <a:r>
              <a:rPr lang="el-GR" dirty="0"/>
              <a:t> 10% of </a:t>
            </a:r>
            <a:r>
              <a:rPr lang="el-GR" dirty="0" err="1"/>
              <a:t>items</a:t>
            </a:r>
            <a:r>
              <a:rPr lang="el-GR" dirty="0"/>
              <a:t> </a:t>
            </a:r>
            <a:r>
              <a:rPr lang="el-GR" dirty="0" err="1"/>
              <a:t>are</a:t>
            </a:r>
            <a:r>
              <a:rPr lang="el-GR" dirty="0"/>
              <a:t> </a:t>
            </a:r>
            <a:r>
              <a:rPr lang="el-GR" dirty="0" err="1"/>
              <a:t>polarized</a:t>
            </a:r>
            <a:r>
              <a:rPr lang="el-GR" dirty="0"/>
              <a:t> </a:t>
            </a:r>
            <a:r>
              <a:rPr lang="el-GR" dirty="0" err="1"/>
              <a:t>enough</a:t>
            </a:r>
            <a:r>
              <a:rPr lang="el-GR" dirty="0"/>
              <a:t> </a:t>
            </a:r>
            <a:r>
              <a:rPr lang="el-GR" dirty="0" err="1"/>
              <a:t>to</a:t>
            </a:r>
            <a:r>
              <a:rPr lang="el-GR" dirty="0"/>
              <a:t> </a:t>
            </a:r>
            <a:r>
              <a:rPr lang="el-GR" dirty="0" err="1"/>
              <a:t>build</a:t>
            </a:r>
            <a:r>
              <a:rPr lang="el-GR" dirty="0"/>
              <a:t> a </a:t>
            </a:r>
            <a:r>
              <a:rPr lang="el-GR" dirty="0" err="1"/>
              <a:t>tree</a:t>
            </a:r>
            <a:r>
              <a:rPr lang="el-GR" dirty="0"/>
              <a:t> on, </a:t>
            </a:r>
            <a:r>
              <a:rPr lang="el-GR" dirty="0" err="1"/>
              <a:t>that's</a:t>
            </a:r>
            <a:r>
              <a:rPr lang="el-GR" dirty="0"/>
              <a:t> </a:t>
            </a:r>
            <a:r>
              <a:rPr lang="el-GR" dirty="0" err="1"/>
              <a:t>expected</a:t>
            </a:r>
            <a:r>
              <a:rPr lang="el-GR" dirty="0"/>
              <a:t>, </a:t>
            </a:r>
            <a:r>
              <a:rPr lang="el-GR" dirty="0" err="1"/>
              <a:t>most</a:t>
            </a:r>
            <a:r>
              <a:rPr lang="el-GR" dirty="0"/>
              <a:t> </a:t>
            </a:r>
            <a:r>
              <a:rPr lang="el-GR" dirty="0" err="1"/>
              <a:t>items</a:t>
            </a:r>
            <a:r>
              <a:rPr lang="el-GR" dirty="0"/>
              <a:t> </a:t>
            </a:r>
            <a:r>
              <a:rPr lang="el-GR" dirty="0" err="1"/>
              <a:t>aren't</a:t>
            </a:r>
            <a:r>
              <a:rPr lang="el-GR" dirty="0"/>
              <a:t> </a:t>
            </a:r>
            <a:r>
              <a:rPr lang="el-GR" dirty="0" err="1"/>
              <a:t>controversial</a:t>
            </a:r>
            <a:r>
              <a:rPr lang="el-GR" dirty="0"/>
              <a:t>.</a:t>
            </a:r>
          </a:p>
          <a:p>
            <a:pPr rtl="0"/>
            <a:r>
              <a:rPr lang="el-GR" dirty="0" err="1"/>
              <a:t>Where</a:t>
            </a:r>
            <a:r>
              <a:rPr lang="el-GR" dirty="0"/>
              <a:t> the </a:t>
            </a:r>
            <a:r>
              <a:rPr lang="el-GR" dirty="0" err="1"/>
              <a:t>trees</a:t>
            </a:r>
            <a:r>
              <a:rPr lang="el-GR" dirty="0"/>
              <a:t> </a:t>
            </a:r>
            <a:r>
              <a:rPr lang="el-GR" dirty="0" err="1"/>
              <a:t>do</a:t>
            </a:r>
            <a:r>
              <a:rPr lang="el-GR" dirty="0"/>
              <a:t> </a:t>
            </a:r>
            <a:r>
              <a:rPr lang="el-GR" dirty="0" err="1"/>
              <a:t>form</a:t>
            </a:r>
            <a:r>
              <a:rPr lang="el-GR" dirty="0"/>
              <a:t>, </a:t>
            </a:r>
            <a:r>
              <a:rPr lang="el-GR" dirty="0" err="1"/>
              <a:t>race</a:t>
            </a:r>
            <a:r>
              <a:rPr lang="el-GR" dirty="0"/>
              <a:t> </a:t>
            </a:r>
            <a:r>
              <a:rPr lang="el-GR" dirty="0" err="1"/>
              <a:t>is</a:t>
            </a:r>
            <a:r>
              <a:rPr lang="el-GR" dirty="0"/>
              <a:t> </a:t>
            </a:r>
            <a:r>
              <a:rPr lang="el-GR" dirty="0" err="1"/>
              <a:t>almost</a:t>
            </a:r>
            <a:r>
              <a:rPr lang="el-GR" dirty="0"/>
              <a:t> </a:t>
            </a:r>
            <a:r>
              <a:rPr lang="el-GR" dirty="0" err="1"/>
              <a:t>always</a:t>
            </a:r>
            <a:r>
              <a:rPr lang="el-GR" dirty="0"/>
              <a:t> the </a:t>
            </a:r>
            <a:r>
              <a:rPr lang="el-GR" dirty="0" err="1"/>
              <a:t>first</a:t>
            </a:r>
            <a:r>
              <a:rPr lang="el-GR" dirty="0"/>
              <a:t> </a:t>
            </a:r>
            <a:r>
              <a:rPr lang="el-GR" dirty="0" err="1"/>
              <a:t>split</a:t>
            </a:r>
            <a:r>
              <a:rPr lang="el-GR" dirty="0"/>
              <a:t>. </a:t>
            </a:r>
            <a:r>
              <a:rPr lang="el-GR" dirty="0" err="1"/>
              <a:t>Why</a:t>
            </a:r>
            <a:r>
              <a:rPr lang="el-GR" dirty="0"/>
              <a:t> </a:t>
            </a:r>
            <a:r>
              <a:rPr lang="el-GR" dirty="0" err="1"/>
              <a:t>does</a:t>
            </a:r>
            <a:r>
              <a:rPr lang="el-GR" dirty="0"/>
              <a:t> </a:t>
            </a:r>
            <a:r>
              <a:rPr lang="el-GR" dirty="0" err="1"/>
              <a:t>that</a:t>
            </a:r>
            <a:r>
              <a:rPr lang="el-GR" dirty="0"/>
              <a:t> </a:t>
            </a:r>
            <a:r>
              <a:rPr lang="el-GR" dirty="0" err="1"/>
              <a:t>matter</a:t>
            </a:r>
            <a:r>
              <a:rPr lang="el-GR" dirty="0"/>
              <a:t>? </a:t>
            </a:r>
            <a:r>
              <a:rPr lang="el-GR" dirty="0" err="1"/>
              <a:t>It's</a:t>
            </a:r>
            <a:r>
              <a:rPr lang="el-GR" dirty="0"/>
              <a:t> </a:t>
            </a:r>
            <a:r>
              <a:rPr lang="el-GR" dirty="0" err="1"/>
              <a:t>probably</a:t>
            </a:r>
            <a:r>
              <a:rPr lang="el-GR" dirty="0"/>
              <a:t> the </a:t>
            </a:r>
            <a:r>
              <a:rPr lang="el-GR" dirty="0" err="1"/>
              <a:t>single</a:t>
            </a:r>
            <a:r>
              <a:rPr lang="el-GR" dirty="0"/>
              <a:t> </a:t>
            </a:r>
            <a:r>
              <a:rPr lang="el-GR" dirty="0" err="1"/>
              <a:t>best</a:t>
            </a:r>
            <a:r>
              <a:rPr lang="el-GR" dirty="0"/>
              <a:t> </a:t>
            </a:r>
            <a:r>
              <a:rPr lang="el-GR" dirty="0" err="1"/>
              <a:t>explanator</a:t>
            </a:r>
            <a:r>
              <a:rPr lang="el-GR" dirty="0"/>
              <a:t> </a:t>
            </a:r>
            <a:r>
              <a:rPr lang="el-GR" dirty="0" err="1"/>
              <a:t>across</a:t>
            </a:r>
            <a:r>
              <a:rPr lang="el-GR" dirty="0"/>
              <a:t> </a:t>
            </a:r>
            <a:r>
              <a:rPr lang="el-GR" dirty="0" err="1"/>
              <a:t>all</a:t>
            </a:r>
            <a:r>
              <a:rPr lang="el-GR" dirty="0"/>
              <a:t> </a:t>
            </a:r>
            <a:r>
              <a:rPr lang="el-GR" dirty="0" err="1"/>
              <a:t>texts</a:t>
            </a:r>
            <a:r>
              <a:rPr lang="el-GR" dirty="0"/>
              <a:t>, on </a:t>
            </a:r>
            <a:r>
              <a:rPr lang="el-GR" dirty="0" err="1"/>
              <a:t>average</a:t>
            </a:r>
            <a:r>
              <a:rPr lang="el-GR" dirty="0"/>
              <a:t>, </a:t>
            </a:r>
            <a:r>
              <a:rPr lang="el-GR" dirty="0" err="1"/>
              <a:t>no</a:t>
            </a:r>
            <a:r>
              <a:rPr lang="el-GR" dirty="0"/>
              <a:t> </a:t>
            </a:r>
            <a:r>
              <a:rPr lang="el-GR" dirty="0" err="1"/>
              <a:t>other</a:t>
            </a:r>
            <a:r>
              <a:rPr lang="el-GR" dirty="0"/>
              <a:t> </a:t>
            </a:r>
            <a:r>
              <a:rPr lang="el-GR" dirty="0" err="1"/>
              <a:t>trait</a:t>
            </a:r>
            <a:r>
              <a:rPr lang="el-GR" dirty="0"/>
              <a:t> </a:t>
            </a:r>
            <a:r>
              <a:rPr lang="el-GR" dirty="0" err="1"/>
              <a:t>separates</a:t>
            </a:r>
            <a:r>
              <a:rPr lang="el-GR" dirty="0"/>
              <a:t> </a:t>
            </a:r>
            <a:r>
              <a:rPr lang="el-GR" dirty="0" err="1"/>
              <a:t>opinion</a:t>
            </a:r>
            <a:r>
              <a:rPr lang="el-GR" dirty="0"/>
              <a:t> </a:t>
            </a:r>
            <a:r>
              <a:rPr lang="el-GR" dirty="0" err="1"/>
              <a:t>as</a:t>
            </a:r>
            <a:r>
              <a:rPr lang="el-GR" dirty="0"/>
              <a:t> </a:t>
            </a:r>
            <a:r>
              <a:rPr lang="el-GR" dirty="0" err="1"/>
              <a:t>reliably</a:t>
            </a:r>
            <a:r>
              <a:rPr lang="el-GR" dirty="0"/>
              <a:t>. </a:t>
            </a:r>
            <a:r>
              <a:rPr lang="el-GR" dirty="0" err="1"/>
              <a:t>But</a:t>
            </a:r>
            <a:r>
              <a:rPr lang="el-GR" dirty="0"/>
              <a:t> '</a:t>
            </a:r>
            <a:r>
              <a:rPr lang="el-GR" dirty="0" err="1"/>
              <a:t>best</a:t>
            </a:r>
            <a:r>
              <a:rPr lang="el-GR" dirty="0"/>
              <a:t> on </a:t>
            </a:r>
            <a:r>
              <a:rPr lang="el-GR" dirty="0" err="1"/>
              <a:t>average</a:t>
            </a:r>
            <a:r>
              <a:rPr lang="el-GR" dirty="0"/>
              <a:t>' </a:t>
            </a:r>
            <a:r>
              <a:rPr lang="el-GR" dirty="0" err="1"/>
              <a:t>doesn't</a:t>
            </a:r>
            <a:r>
              <a:rPr lang="el-GR" dirty="0"/>
              <a:t> </a:t>
            </a:r>
            <a:r>
              <a:rPr lang="el-GR" dirty="0" err="1"/>
              <a:t>mean</a:t>
            </a:r>
            <a:r>
              <a:rPr lang="el-GR" dirty="0"/>
              <a:t> '</a:t>
            </a:r>
            <a:r>
              <a:rPr lang="el-GR" dirty="0" err="1"/>
              <a:t>sufficient</a:t>
            </a:r>
            <a:r>
              <a:rPr lang="el-GR" dirty="0"/>
              <a:t>', </a:t>
            </a:r>
            <a:r>
              <a:rPr lang="el-GR" dirty="0" err="1"/>
              <a:t>alone</a:t>
            </a:r>
            <a:r>
              <a:rPr lang="el-GR" dirty="0"/>
              <a:t>, </a:t>
            </a:r>
            <a:r>
              <a:rPr lang="el-GR" dirty="0" err="1"/>
              <a:t>it</a:t>
            </a:r>
            <a:r>
              <a:rPr lang="el-GR" dirty="0"/>
              <a:t> </a:t>
            </a:r>
            <a:r>
              <a:rPr lang="el-GR" dirty="0" err="1"/>
              <a:t>can't</a:t>
            </a:r>
            <a:r>
              <a:rPr lang="el-GR" dirty="0"/>
              <a:t> </a:t>
            </a:r>
            <a:r>
              <a:rPr lang="el-GR" dirty="0" err="1"/>
              <a:t>explain</a:t>
            </a:r>
            <a:r>
              <a:rPr lang="el-GR" dirty="0"/>
              <a:t> </a:t>
            </a:r>
            <a:r>
              <a:rPr lang="el-GR" dirty="0" err="1"/>
              <a:t>much</a:t>
            </a:r>
            <a:r>
              <a:rPr lang="el-GR" dirty="0"/>
              <a:t>. </a:t>
            </a:r>
          </a:p>
          <a:p>
            <a:pPr rtl="0"/>
            <a:r>
              <a:rPr lang="el-GR" dirty="0" err="1"/>
              <a:t>Past</a:t>
            </a:r>
            <a:r>
              <a:rPr lang="el-GR" dirty="0"/>
              <a:t> </a:t>
            </a:r>
            <a:r>
              <a:rPr lang="el-GR" dirty="0" err="1"/>
              <a:t>that</a:t>
            </a:r>
            <a:r>
              <a:rPr lang="el-GR" dirty="0"/>
              <a:t> </a:t>
            </a:r>
            <a:r>
              <a:rPr lang="el-GR" dirty="0" err="1"/>
              <a:t>first</a:t>
            </a:r>
            <a:r>
              <a:rPr lang="el-GR" dirty="0"/>
              <a:t> </a:t>
            </a:r>
            <a:r>
              <a:rPr lang="el-GR" dirty="0" err="1"/>
              <a:t>split</a:t>
            </a:r>
            <a:r>
              <a:rPr lang="el-GR" dirty="0"/>
              <a:t>, </a:t>
            </a:r>
            <a:r>
              <a:rPr lang="el-GR" dirty="0" err="1"/>
              <a:t>race</a:t>
            </a:r>
            <a:r>
              <a:rPr lang="el-GR" dirty="0"/>
              <a:t> </a:t>
            </a:r>
            <a:r>
              <a:rPr lang="el-GR" dirty="0" err="1"/>
              <a:t>barely</a:t>
            </a:r>
            <a:r>
              <a:rPr lang="el-GR" dirty="0"/>
              <a:t> </a:t>
            </a:r>
            <a:r>
              <a:rPr lang="el-GR" dirty="0" err="1"/>
              <a:t>shows</a:t>
            </a:r>
            <a:r>
              <a:rPr lang="el-GR" dirty="0"/>
              <a:t> </a:t>
            </a:r>
            <a:r>
              <a:rPr lang="el-GR" dirty="0" err="1"/>
              <a:t>up</a:t>
            </a:r>
            <a:r>
              <a:rPr lang="el-GR" dirty="0"/>
              <a:t> </a:t>
            </a:r>
            <a:r>
              <a:rPr lang="el-GR" dirty="0" err="1"/>
              <a:t>again</a:t>
            </a:r>
            <a:r>
              <a:rPr lang="el-GR" dirty="0"/>
              <a:t>, </a:t>
            </a:r>
            <a:r>
              <a:rPr lang="el-GR" dirty="0" err="1"/>
              <a:t>gender</a:t>
            </a:r>
            <a:r>
              <a:rPr lang="el-GR" dirty="0"/>
              <a:t> and </a:t>
            </a:r>
            <a:r>
              <a:rPr lang="el-GR" dirty="0" err="1"/>
              <a:t>age</a:t>
            </a:r>
            <a:r>
              <a:rPr lang="el-GR" dirty="0"/>
              <a:t> </a:t>
            </a:r>
            <a:r>
              <a:rPr lang="el-GR" dirty="0" err="1"/>
              <a:t>take</a:t>
            </a:r>
            <a:r>
              <a:rPr lang="el-GR" dirty="0"/>
              <a:t> </a:t>
            </a:r>
            <a:r>
              <a:rPr lang="el-GR" dirty="0" err="1"/>
              <a:t>over</a:t>
            </a:r>
            <a:r>
              <a:rPr lang="el-GR" dirty="0"/>
              <a:t> </a:t>
            </a:r>
            <a:r>
              <a:rPr lang="el-GR" dirty="0" err="1"/>
              <a:t>as</a:t>
            </a:r>
            <a:r>
              <a:rPr lang="el-GR" dirty="0"/>
              <a:t> </a:t>
            </a:r>
            <a:r>
              <a:rPr lang="el-GR" dirty="0" err="1"/>
              <a:t>you</a:t>
            </a:r>
            <a:r>
              <a:rPr lang="el-GR" dirty="0"/>
              <a:t> </a:t>
            </a:r>
            <a:r>
              <a:rPr lang="el-GR" dirty="0" err="1"/>
              <a:t>go</a:t>
            </a:r>
            <a:r>
              <a:rPr lang="el-GR" dirty="0"/>
              <a:t> </a:t>
            </a:r>
            <a:r>
              <a:rPr lang="el-GR" dirty="0" err="1"/>
              <a:t>deeper</a:t>
            </a:r>
            <a:r>
              <a:rPr lang="el-GR" dirty="0"/>
              <a:t>.</a:t>
            </a:r>
          </a:p>
          <a:p>
            <a:pPr rtl="0"/>
            <a:r>
              <a:rPr lang="el-GR" dirty="0"/>
              <a:t>The </a:t>
            </a:r>
            <a:r>
              <a:rPr lang="el-GR" dirty="0" err="1"/>
              <a:t>trees</a:t>
            </a:r>
            <a:r>
              <a:rPr lang="el-GR" dirty="0"/>
              <a:t>' </a:t>
            </a:r>
            <a:r>
              <a:rPr lang="el-GR" dirty="0" err="1"/>
              <a:t>mean</a:t>
            </a:r>
            <a:r>
              <a:rPr lang="el-GR" dirty="0"/>
              <a:t> </a:t>
            </a:r>
            <a:r>
              <a:rPr lang="el-GR" dirty="0" err="1"/>
              <a:t>depth</a:t>
            </a:r>
            <a:r>
              <a:rPr lang="el-GR" dirty="0"/>
              <a:t> </a:t>
            </a:r>
            <a:r>
              <a:rPr lang="el-GR" dirty="0" err="1"/>
              <a:t>is</a:t>
            </a:r>
            <a:r>
              <a:rPr lang="el-GR" dirty="0"/>
              <a:t> 2 </a:t>
            </a:r>
            <a:r>
              <a:rPr lang="el-GR" dirty="0" err="1"/>
              <a:t>to</a:t>
            </a:r>
            <a:r>
              <a:rPr lang="el-GR" dirty="0"/>
              <a:t> 2.4, </a:t>
            </a:r>
            <a:r>
              <a:rPr lang="el-GR" dirty="0" err="1"/>
              <a:t>which</a:t>
            </a:r>
            <a:r>
              <a:rPr lang="el-GR" dirty="0"/>
              <a:t> </a:t>
            </a:r>
            <a:r>
              <a:rPr lang="el-GR" dirty="0" err="1"/>
              <a:t>motivates</a:t>
            </a:r>
            <a:r>
              <a:rPr lang="el-GR" dirty="0"/>
              <a:t> </a:t>
            </a:r>
            <a:r>
              <a:rPr lang="el-GR" dirty="0" err="1"/>
              <a:t>our</a:t>
            </a:r>
            <a:r>
              <a:rPr lang="el-GR" dirty="0"/>
              <a:t> </a:t>
            </a:r>
            <a:r>
              <a:rPr lang="el-GR" dirty="0" err="1"/>
              <a:t>case</a:t>
            </a:r>
            <a:r>
              <a:rPr lang="el-GR" dirty="0"/>
              <a:t> </a:t>
            </a:r>
            <a:r>
              <a:rPr lang="el-GR" dirty="0" err="1"/>
              <a:t>even</a:t>
            </a:r>
            <a:r>
              <a:rPr lang="el-GR" dirty="0"/>
              <a:t> </a:t>
            </a:r>
            <a:r>
              <a:rPr lang="el-GR" dirty="0" err="1"/>
              <a:t>more</a:t>
            </a:r>
            <a:r>
              <a:rPr lang="el-GR" dirty="0"/>
              <a:t>, </a:t>
            </a:r>
            <a:r>
              <a:rPr lang="el-GR" dirty="0" err="1"/>
              <a:t>we</a:t>
            </a:r>
            <a:r>
              <a:rPr lang="el-GR" dirty="0"/>
              <a:t> </a:t>
            </a:r>
            <a:r>
              <a:rPr lang="el-GR" dirty="0" err="1"/>
              <a:t>need</a:t>
            </a:r>
            <a:r>
              <a:rPr lang="el-GR" dirty="0"/>
              <a:t> </a:t>
            </a:r>
            <a:r>
              <a:rPr lang="el-GR" dirty="0" err="1"/>
              <a:t>to</a:t>
            </a:r>
            <a:r>
              <a:rPr lang="el-GR" dirty="0"/>
              <a:t> </a:t>
            </a:r>
            <a:r>
              <a:rPr lang="el-GR" dirty="0" err="1"/>
              <a:t>look</a:t>
            </a:r>
            <a:r>
              <a:rPr lang="el-GR" dirty="0"/>
              <a:t> </a:t>
            </a:r>
            <a:r>
              <a:rPr lang="el-GR" dirty="0" err="1"/>
              <a:t>at</a:t>
            </a:r>
            <a:r>
              <a:rPr lang="el-GR" dirty="0"/>
              <a:t> </a:t>
            </a:r>
            <a:r>
              <a:rPr lang="el-GR" dirty="0" err="1"/>
              <a:t>more</a:t>
            </a:r>
            <a:r>
              <a:rPr lang="el-GR" dirty="0"/>
              <a:t> </a:t>
            </a:r>
            <a:r>
              <a:rPr lang="el-GR" dirty="0" err="1"/>
              <a:t>than</a:t>
            </a:r>
            <a:r>
              <a:rPr lang="el-GR" dirty="0"/>
              <a:t> </a:t>
            </a:r>
            <a:r>
              <a:rPr lang="el-GR" dirty="0" err="1"/>
              <a:t>one</a:t>
            </a:r>
            <a:r>
              <a:rPr lang="el-GR" dirty="0"/>
              <a:t> </a:t>
            </a:r>
            <a:r>
              <a:rPr lang="el-GR" dirty="0" err="1"/>
              <a:t>dimension</a:t>
            </a:r>
            <a:r>
              <a:rPr lang="el-GR" dirty="0"/>
              <a:t> </a:t>
            </a:r>
            <a:r>
              <a:rPr lang="el-GR" dirty="0" err="1"/>
              <a:t>at</a:t>
            </a:r>
            <a:r>
              <a:rPr lang="el-GR" dirty="0"/>
              <a:t> a </a:t>
            </a:r>
            <a:r>
              <a:rPr lang="el-GR" dirty="0" err="1"/>
              <a:t>time</a:t>
            </a:r>
            <a:r>
              <a:rPr lang="el-GR" dirty="0"/>
              <a:t>.</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latin typeface="+mn-lt"/>
                <a:ea typeface="+mn-ea"/>
                <a:cs typeface="+mn-cs"/>
              </a:rPr>
              <a:t>Now we move to qualitative analysis which shows exactly why this detail is necessary. We're not just saying 'these annotators disagree', we can see exactly at which depths they diverge, and how sharply.</a:t>
            </a:r>
            <a:endParaRPr lang="el-GR" sz="1200" kern="1200" dirty="0">
              <a:solidFill>
                <a:schemeClr val="tx1"/>
              </a:solidFill>
              <a:latin typeface="+mn-lt"/>
              <a:ea typeface="+mn-ea"/>
              <a:cs typeface="+mn-cs"/>
            </a:endParaRPr>
          </a:p>
          <a:p>
            <a:r>
              <a:rPr lang="en-US" sz="1200" kern="1200" dirty="0">
                <a:solidFill>
                  <a:schemeClr val="tx1"/>
                </a:solidFill>
                <a:latin typeface="+mn-lt"/>
                <a:ea typeface="+mn-ea"/>
                <a:cs typeface="+mn-cs"/>
              </a:rPr>
              <a:t>First Item: we have fixed race and age, gender alone flips the verdict, from biased to not biased. Second Item: race alone tells you nothing, both leaves are Asian, it's age and education doing the work. Last item: no shared trait at all, two completely different identities land on opposite readings of the same response.</a:t>
            </a:r>
            <a:endParaRPr lang="el-GR" sz="1200" kern="1200" dirty="0">
              <a:solidFill>
                <a:schemeClr val="tx1"/>
              </a:solidFill>
              <a:latin typeface="+mn-lt"/>
              <a:ea typeface="+mn-ea"/>
              <a:cs typeface="+mn-cs"/>
            </a:endParaRPr>
          </a:p>
          <a:p>
            <a:r>
              <a:rPr lang="en-US" sz="1200" kern="1200" dirty="0">
                <a:solidFill>
                  <a:schemeClr val="tx1"/>
                </a:solidFill>
                <a:latin typeface="+mn-lt"/>
                <a:ea typeface="+mn-ea"/>
                <a:cs typeface="+mn-cs"/>
              </a:rPr>
              <a:t>Three items have three different depths and three different combinations of dimensions. That's the point, you can't predict this in advance, you have to let the tree uncover the structure.</a:t>
            </a:r>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l-GR" dirty="0" err="1"/>
              <a:t>To</a:t>
            </a:r>
            <a:r>
              <a:rPr lang="el-GR" dirty="0"/>
              <a:t> </a:t>
            </a:r>
            <a:r>
              <a:rPr lang="el-GR" dirty="0" err="1"/>
              <a:t>summarize</a:t>
            </a:r>
            <a:r>
              <a:rPr lang="el-GR" dirty="0"/>
              <a:t>: </a:t>
            </a:r>
            <a:r>
              <a:rPr lang="el-GR" dirty="0" err="1"/>
              <a:t>disagreement</a:t>
            </a:r>
            <a:r>
              <a:rPr lang="el-GR" dirty="0"/>
              <a:t> in </a:t>
            </a:r>
            <a:r>
              <a:rPr lang="el-GR" dirty="0" err="1"/>
              <a:t>annotation</a:t>
            </a:r>
            <a:r>
              <a:rPr lang="el-GR" dirty="0"/>
              <a:t> </a:t>
            </a:r>
            <a:r>
              <a:rPr lang="el-GR" dirty="0" err="1"/>
              <a:t>is</a:t>
            </a:r>
            <a:r>
              <a:rPr lang="el-GR" dirty="0"/>
              <a:t> </a:t>
            </a:r>
            <a:r>
              <a:rPr lang="el-GR" dirty="0" err="1"/>
              <a:t>often</a:t>
            </a:r>
            <a:r>
              <a:rPr lang="el-GR" dirty="0"/>
              <a:t> </a:t>
            </a:r>
            <a:r>
              <a:rPr lang="el-GR" dirty="0" err="1"/>
              <a:t>real</a:t>
            </a:r>
            <a:r>
              <a:rPr lang="el-GR" dirty="0"/>
              <a:t>, </a:t>
            </a:r>
            <a:r>
              <a:rPr lang="el-GR" dirty="0" err="1"/>
              <a:t>structured</a:t>
            </a:r>
            <a:r>
              <a:rPr lang="el-GR" dirty="0"/>
              <a:t> </a:t>
            </a:r>
            <a:r>
              <a:rPr lang="el-GR" dirty="0" err="1"/>
              <a:t>polarization</a:t>
            </a:r>
            <a:r>
              <a:rPr lang="el-GR" dirty="0"/>
              <a:t>, </a:t>
            </a:r>
            <a:r>
              <a:rPr lang="el-GR" dirty="0" err="1"/>
              <a:t>not</a:t>
            </a:r>
            <a:r>
              <a:rPr lang="el-GR" dirty="0"/>
              <a:t> </a:t>
            </a:r>
            <a:r>
              <a:rPr lang="el-GR" dirty="0" err="1"/>
              <a:t>noise</a:t>
            </a:r>
            <a:r>
              <a:rPr lang="el-GR" dirty="0"/>
              <a:t>, and </a:t>
            </a:r>
            <a:r>
              <a:rPr lang="el-GR" dirty="0" err="1"/>
              <a:t>neither</a:t>
            </a:r>
            <a:r>
              <a:rPr lang="el-GR" dirty="0"/>
              <a:t> </a:t>
            </a:r>
            <a:r>
              <a:rPr lang="el-GR" dirty="0" err="1"/>
              <a:t>one</a:t>
            </a:r>
            <a:r>
              <a:rPr lang="el-GR" dirty="0"/>
              <a:t> </a:t>
            </a:r>
            <a:r>
              <a:rPr lang="el-GR" dirty="0" err="1"/>
              <a:t>label</a:t>
            </a:r>
            <a:r>
              <a:rPr lang="el-GR" dirty="0"/>
              <a:t> </a:t>
            </a:r>
            <a:r>
              <a:rPr lang="el-GR" dirty="0" err="1"/>
              <a:t>nor</a:t>
            </a:r>
            <a:r>
              <a:rPr lang="el-GR" dirty="0"/>
              <a:t> </a:t>
            </a:r>
            <a:r>
              <a:rPr lang="el-GR" dirty="0" err="1"/>
              <a:t>one</a:t>
            </a:r>
            <a:r>
              <a:rPr lang="el-GR" dirty="0"/>
              <a:t> </a:t>
            </a:r>
            <a:r>
              <a:rPr lang="el-GR" dirty="0" err="1"/>
              <a:t>trait</a:t>
            </a:r>
            <a:r>
              <a:rPr lang="el-GR" dirty="0"/>
              <a:t> </a:t>
            </a:r>
            <a:r>
              <a:rPr lang="el-GR" dirty="0" err="1"/>
              <a:t>tested</a:t>
            </a:r>
            <a:r>
              <a:rPr lang="el-GR" dirty="0"/>
              <a:t> </a:t>
            </a:r>
            <a:r>
              <a:rPr lang="el-GR" dirty="0" err="1"/>
              <a:t>alone</a:t>
            </a:r>
            <a:r>
              <a:rPr lang="el-GR" dirty="0"/>
              <a:t> </a:t>
            </a:r>
            <a:r>
              <a:rPr lang="el-GR" dirty="0" err="1"/>
              <a:t>can</a:t>
            </a:r>
            <a:r>
              <a:rPr lang="el-GR" dirty="0"/>
              <a:t> </a:t>
            </a:r>
            <a:r>
              <a:rPr lang="el-GR" dirty="0" err="1"/>
              <a:t>explain</a:t>
            </a:r>
            <a:r>
              <a:rPr lang="el-GR" dirty="0"/>
              <a:t> </a:t>
            </a:r>
            <a:r>
              <a:rPr lang="el-GR" dirty="0" err="1"/>
              <a:t>it</a:t>
            </a:r>
            <a:r>
              <a:rPr lang="el-GR" dirty="0"/>
              <a:t>. </a:t>
            </a:r>
            <a:r>
              <a:rPr lang="el-GR" dirty="0" err="1"/>
              <a:t>Polarized</a:t>
            </a:r>
            <a:r>
              <a:rPr lang="el-GR" dirty="0"/>
              <a:t> </a:t>
            </a:r>
            <a:r>
              <a:rPr lang="el-GR" dirty="0" err="1"/>
              <a:t>Trees</a:t>
            </a:r>
            <a:r>
              <a:rPr lang="el-GR" dirty="0"/>
              <a:t> </a:t>
            </a:r>
            <a:r>
              <a:rPr lang="el-GR" dirty="0" err="1"/>
              <a:t>finds</a:t>
            </a:r>
            <a:r>
              <a:rPr lang="el-GR" dirty="0"/>
              <a:t> </a:t>
            </a:r>
            <a:r>
              <a:rPr lang="el-GR" dirty="0" err="1"/>
              <a:t>which</a:t>
            </a:r>
            <a:r>
              <a:rPr lang="el-GR" dirty="0"/>
              <a:t> </a:t>
            </a:r>
            <a:r>
              <a:rPr lang="el-GR" dirty="0" err="1"/>
              <a:t>traits</a:t>
            </a:r>
            <a:r>
              <a:rPr lang="el-GR" dirty="0"/>
              <a:t>, and </a:t>
            </a:r>
            <a:r>
              <a:rPr lang="el-GR" dirty="0" err="1"/>
              <a:t>which</a:t>
            </a:r>
            <a:r>
              <a:rPr lang="el-GR" dirty="0"/>
              <a:t> </a:t>
            </a:r>
            <a:r>
              <a:rPr lang="el-GR" dirty="0" err="1"/>
              <a:t>combinations</a:t>
            </a:r>
            <a:r>
              <a:rPr lang="el-GR" dirty="0"/>
              <a:t>, </a:t>
            </a:r>
            <a:r>
              <a:rPr lang="el-GR" dirty="0" err="1"/>
              <a:t>actually</a:t>
            </a:r>
            <a:r>
              <a:rPr lang="el-GR" dirty="0"/>
              <a:t> </a:t>
            </a:r>
            <a:r>
              <a:rPr lang="el-GR" dirty="0" err="1"/>
              <a:t>do</a:t>
            </a:r>
            <a:r>
              <a:rPr lang="el-GR" dirty="0"/>
              <a:t>, </a:t>
            </a:r>
            <a:r>
              <a:rPr lang="el-GR" dirty="0" err="1"/>
              <a:t>automatically</a:t>
            </a:r>
            <a:r>
              <a:rPr lang="el-GR" dirty="0"/>
              <a:t> and </a:t>
            </a:r>
            <a:r>
              <a:rPr lang="el-GR" dirty="0" err="1"/>
              <a:t>without</a:t>
            </a:r>
            <a:r>
              <a:rPr lang="el-GR" dirty="0"/>
              <a:t> </a:t>
            </a:r>
            <a:r>
              <a:rPr lang="el-GR" dirty="0" err="1"/>
              <a:t>guessing</a:t>
            </a:r>
            <a:r>
              <a:rPr lang="el-GR" dirty="0"/>
              <a:t> </a:t>
            </a:r>
            <a:r>
              <a:rPr lang="el-GR" dirty="0" err="1"/>
              <a:t>upfront</a:t>
            </a:r>
            <a:r>
              <a:rPr lang="el-GR" dirty="0"/>
              <a:t>, </a:t>
            </a:r>
            <a:r>
              <a:rPr lang="el-GR" dirty="0" err="1"/>
              <a:t>showing</a:t>
            </a:r>
            <a:r>
              <a:rPr lang="el-GR" dirty="0"/>
              <a:t> </a:t>
            </a:r>
            <a:r>
              <a:rPr lang="el-GR" dirty="0" err="1"/>
              <a:t>us</a:t>
            </a:r>
            <a:r>
              <a:rPr lang="el-GR" dirty="0"/>
              <a:t> </a:t>
            </a:r>
            <a:r>
              <a:rPr lang="el-GR" dirty="0" err="1"/>
              <a:t>exactly</a:t>
            </a:r>
            <a:r>
              <a:rPr lang="el-GR" dirty="0"/>
              <a:t> </a:t>
            </a:r>
            <a:r>
              <a:rPr lang="el-GR" dirty="0" err="1"/>
              <a:t>where</a:t>
            </a:r>
            <a:r>
              <a:rPr lang="el-GR" dirty="0"/>
              <a:t> and </a:t>
            </a:r>
            <a:r>
              <a:rPr lang="el-GR" dirty="0" err="1"/>
              <a:t>how</a:t>
            </a:r>
            <a:r>
              <a:rPr lang="el-GR" dirty="0"/>
              <a:t> </a:t>
            </a:r>
            <a:r>
              <a:rPr lang="el-GR" dirty="0" err="1"/>
              <a:t>deep</a:t>
            </a:r>
            <a:r>
              <a:rPr lang="el-GR" dirty="0"/>
              <a:t> </a:t>
            </a:r>
            <a:r>
              <a:rPr lang="el-GR" dirty="0" err="1"/>
              <a:t>that</a:t>
            </a:r>
            <a:r>
              <a:rPr lang="el-GR" dirty="0"/>
              <a:t> </a:t>
            </a:r>
            <a:r>
              <a:rPr lang="el-GR" dirty="0" err="1"/>
              <a:t>disagreement</a:t>
            </a:r>
            <a:r>
              <a:rPr lang="el-GR" dirty="0"/>
              <a:t> </a:t>
            </a:r>
            <a:r>
              <a:rPr lang="el-GR" dirty="0" err="1"/>
              <a:t>really</a:t>
            </a:r>
            <a:r>
              <a:rPr lang="el-GR" dirty="0"/>
              <a:t> </a:t>
            </a:r>
            <a:r>
              <a:rPr lang="el-GR" dirty="0" err="1"/>
              <a:t>runs</a:t>
            </a:r>
            <a:r>
              <a:rPr lang="el-GR" dirty="0"/>
              <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396FE84-C109-E977-AEF7-BBC64AB806A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487CC15-1F42-4EC8-1F09-25F3FCDD0D3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546AEB0-373C-D82E-2DB8-218A4621899F}"/>
              </a:ext>
            </a:extLst>
          </p:cNvPr>
          <p:cNvSpPr>
            <a:spLocks noGrp="1"/>
          </p:cNvSpPr>
          <p:nvPr>
            <p:ph type="body" idx="1"/>
          </p:nvPr>
        </p:nvSpPr>
        <p:spPr/>
        <p:txBody>
          <a:bodyPr/>
          <a:lstStyle/>
          <a:p>
            <a:r>
              <a:rPr lang="el-GR" dirty="0" err="1"/>
              <a:t>To</a:t>
            </a:r>
            <a:r>
              <a:rPr lang="el-GR" dirty="0"/>
              <a:t> </a:t>
            </a:r>
            <a:r>
              <a:rPr lang="el-GR" dirty="0" err="1"/>
              <a:t>summarize</a:t>
            </a:r>
            <a:r>
              <a:rPr lang="el-GR" dirty="0"/>
              <a:t>: </a:t>
            </a:r>
            <a:r>
              <a:rPr lang="el-GR" dirty="0" err="1"/>
              <a:t>disagreement</a:t>
            </a:r>
            <a:r>
              <a:rPr lang="el-GR" dirty="0"/>
              <a:t> in </a:t>
            </a:r>
            <a:r>
              <a:rPr lang="el-GR" dirty="0" err="1"/>
              <a:t>annotation</a:t>
            </a:r>
            <a:r>
              <a:rPr lang="el-GR" dirty="0"/>
              <a:t> </a:t>
            </a:r>
            <a:r>
              <a:rPr lang="el-GR" dirty="0" err="1"/>
              <a:t>is</a:t>
            </a:r>
            <a:r>
              <a:rPr lang="el-GR" dirty="0"/>
              <a:t> </a:t>
            </a:r>
            <a:r>
              <a:rPr lang="el-GR" dirty="0" err="1"/>
              <a:t>often</a:t>
            </a:r>
            <a:r>
              <a:rPr lang="el-GR" dirty="0"/>
              <a:t> </a:t>
            </a:r>
            <a:r>
              <a:rPr lang="el-GR" dirty="0" err="1"/>
              <a:t>real</a:t>
            </a:r>
            <a:r>
              <a:rPr lang="el-GR" dirty="0"/>
              <a:t>, </a:t>
            </a:r>
            <a:r>
              <a:rPr lang="el-GR" dirty="0" err="1"/>
              <a:t>structured</a:t>
            </a:r>
            <a:r>
              <a:rPr lang="el-GR" dirty="0"/>
              <a:t> </a:t>
            </a:r>
            <a:r>
              <a:rPr lang="el-GR" dirty="0" err="1"/>
              <a:t>polarization</a:t>
            </a:r>
            <a:r>
              <a:rPr lang="el-GR" dirty="0"/>
              <a:t>, </a:t>
            </a:r>
            <a:r>
              <a:rPr lang="el-GR" dirty="0" err="1"/>
              <a:t>not</a:t>
            </a:r>
            <a:r>
              <a:rPr lang="el-GR" dirty="0"/>
              <a:t> </a:t>
            </a:r>
            <a:r>
              <a:rPr lang="el-GR" dirty="0" err="1"/>
              <a:t>noise</a:t>
            </a:r>
            <a:r>
              <a:rPr lang="el-GR" dirty="0"/>
              <a:t>, and </a:t>
            </a:r>
            <a:r>
              <a:rPr lang="el-GR" dirty="0" err="1"/>
              <a:t>neither</a:t>
            </a:r>
            <a:r>
              <a:rPr lang="el-GR" dirty="0"/>
              <a:t> </a:t>
            </a:r>
            <a:r>
              <a:rPr lang="el-GR" dirty="0" err="1"/>
              <a:t>one</a:t>
            </a:r>
            <a:r>
              <a:rPr lang="el-GR" dirty="0"/>
              <a:t> </a:t>
            </a:r>
            <a:r>
              <a:rPr lang="el-GR" dirty="0" err="1"/>
              <a:t>label</a:t>
            </a:r>
            <a:r>
              <a:rPr lang="el-GR" dirty="0"/>
              <a:t> </a:t>
            </a:r>
            <a:r>
              <a:rPr lang="el-GR" dirty="0" err="1"/>
              <a:t>nor</a:t>
            </a:r>
            <a:r>
              <a:rPr lang="el-GR" dirty="0"/>
              <a:t> </a:t>
            </a:r>
            <a:r>
              <a:rPr lang="el-GR" dirty="0" err="1"/>
              <a:t>one</a:t>
            </a:r>
            <a:r>
              <a:rPr lang="el-GR" dirty="0"/>
              <a:t> </a:t>
            </a:r>
            <a:r>
              <a:rPr lang="el-GR" dirty="0" err="1"/>
              <a:t>trait</a:t>
            </a:r>
            <a:r>
              <a:rPr lang="el-GR" dirty="0"/>
              <a:t> </a:t>
            </a:r>
            <a:r>
              <a:rPr lang="el-GR" dirty="0" err="1"/>
              <a:t>tested</a:t>
            </a:r>
            <a:r>
              <a:rPr lang="el-GR" dirty="0"/>
              <a:t> </a:t>
            </a:r>
            <a:r>
              <a:rPr lang="el-GR" dirty="0" err="1"/>
              <a:t>alone</a:t>
            </a:r>
            <a:r>
              <a:rPr lang="el-GR" dirty="0"/>
              <a:t> </a:t>
            </a:r>
            <a:r>
              <a:rPr lang="el-GR" dirty="0" err="1"/>
              <a:t>can</a:t>
            </a:r>
            <a:r>
              <a:rPr lang="el-GR" dirty="0"/>
              <a:t> </a:t>
            </a:r>
            <a:r>
              <a:rPr lang="el-GR" dirty="0" err="1"/>
              <a:t>explain</a:t>
            </a:r>
            <a:r>
              <a:rPr lang="el-GR" dirty="0"/>
              <a:t> </a:t>
            </a:r>
            <a:r>
              <a:rPr lang="el-GR" dirty="0" err="1"/>
              <a:t>it</a:t>
            </a:r>
            <a:r>
              <a:rPr lang="el-GR" dirty="0"/>
              <a:t>. </a:t>
            </a:r>
            <a:r>
              <a:rPr lang="el-GR" dirty="0" err="1"/>
              <a:t>Polarized</a:t>
            </a:r>
            <a:r>
              <a:rPr lang="el-GR" dirty="0"/>
              <a:t> </a:t>
            </a:r>
            <a:r>
              <a:rPr lang="el-GR" dirty="0" err="1"/>
              <a:t>Trees</a:t>
            </a:r>
            <a:r>
              <a:rPr lang="el-GR" dirty="0"/>
              <a:t> </a:t>
            </a:r>
            <a:r>
              <a:rPr lang="el-GR" dirty="0" err="1"/>
              <a:t>finds</a:t>
            </a:r>
            <a:r>
              <a:rPr lang="el-GR" dirty="0"/>
              <a:t> </a:t>
            </a:r>
            <a:r>
              <a:rPr lang="el-GR" dirty="0" err="1"/>
              <a:t>which</a:t>
            </a:r>
            <a:r>
              <a:rPr lang="el-GR" dirty="0"/>
              <a:t> </a:t>
            </a:r>
            <a:r>
              <a:rPr lang="el-GR" dirty="0" err="1"/>
              <a:t>traits</a:t>
            </a:r>
            <a:r>
              <a:rPr lang="el-GR" dirty="0"/>
              <a:t>, and </a:t>
            </a:r>
            <a:r>
              <a:rPr lang="el-GR" dirty="0" err="1"/>
              <a:t>which</a:t>
            </a:r>
            <a:r>
              <a:rPr lang="el-GR" dirty="0"/>
              <a:t> </a:t>
            </a:r>
            <a:r>
              <a:rPr lang="el-GR" dirty="0" err="1"/>
              <a:t>combinations</a:t>
            </a:r>
            <a:r>
              <a:rPr lang="el-GR" dirty="0"/>
              <a:t>, </a:t>
            </a:r>
            <a:r>
              <a:rPr lang="el-GR" dirty="0" err="1"/>
              <a:t>actually</a:t>
            </a:r>
            <a:r>
              <a:rPr lang="el-GR" dirty="0"/>
              <a:t> </a:t>
            </a:r>
            <a:r>
              <a:rPr lang="el-GR" dirty="0" err="1"/>
              <a:t>do</a:t>
            </a:r>
            <a:r>
              <a:rPr lang="el-GR" dirty="0"/>
              <a:t>, </a:t>
            </a:r>
            <a:r>
              <a:rPr lang="el-GR" dirty="0" err="1"/>
              <a:t>automatically</a:t>
            </a:r>
            <a:r>
              <a:rPr lang="el-GR" dirty="0"/>
              <a:t> and </a:t>
            </a:r>
            <a:r>
              <a:rPr lang="el-GR" dirty="0" err="1"/>
              <a:t>without</a:t>
            </a:r>
            <a:r>
              <a:rPr lang="el-GR" dirty="0"/>
              <a:t> </a:t>
            </a:r>
            <a:r>
              <a:rPr lang="el-GR" dirty="0" err="1"/>
              <a:t>guessing</a:t>
            </a:r>
            <a:r>
              <a:rPr lang="el-GR" dirty="0"/>
              <a:t> </a:t>
            </a:r>
            <a:r>
              <a:rPr lang="el-GR" dirty="0" err="1"/>
              <a:t>upfront</a:t>
            </a:r>
            <a:r>
              <a:rPr lang="el-GR" dirty="0"/>
              <a:t>, </a:t>
            </a:r>
            <a:r>
              <a:rPr lang="el-GR" dirty="0" err="1"/>
              <a:t>showing</a:t>
            </a:r>
            <a:r>
              <a:rPr lang="el-GR" dirty="0"/>
              <a:t> </a:t>
            </a:r>
            <a:r>
              <a:rPr lang="el-GR" dirty="0" err="1"/>
              <a:t>us</a:t>
            </a:r>
            <a:r>
              <a:rPr lang="el-GR" dirty="0"/>
              <a:t> </a:t>
            </a:r>
            <a:r>
              <a:rPr lang="el-GR" dirty="0" err="1"/>
              <a:t>exactly</a:t>
            </a:r>
            <a:r>
              <a:rPr lang="el-GR" dirty="0"/>
              <a:t> </a:t>
            </a:r>
            <a:r>
              <a:rPr lang="el-GR" dirty="0" err="1"/>
              <a:t>where</a:t>
            </a:r>
            <a:r>
              <a:rPr lang="el-GR" dirty="0"/>
              <a:t> and </a:t>
            </a:r>
            <a:r>
              <a:rPr lang="el-GR" dirty="0" err="1"/>
              <a:t>how</a:t>
            </a:r>
            <a:r>
              <a:rPr lang="el-GR" dirty="0"/>
              <a:t> </a:t>
            </a:r>
            <a:r>
              <a:rPr lang="el-GR" dirty="0" err="1"/>
              <a:t>deep</a:t>
            </a:r>
            <a:r>
              <a:rPr lang="el-GR" dirty="0"/>
              <a:t> </a:t>
            </a:r>
            <a:r>
              <a:rPr lang="el-GR" dirty="0" err="1"/>
              <a:t>that</a:t>
            </a:r>
            <a:r>
              <a:rPr lang="el-GR" dirty="0"/>
              <a:t> </a:t>
            </a:r>
            <a:r>
              <a:rPr lang="el-GR" dirty="0" err="1"/>
              <a:t>disagreement</a:t>
            </a:r>
            <a:r>
              <a:rPr lang="el-GR" dirty="0"/>
              <a:t> </a:t>
            </a:r>
            <a:r>
              <a:rPr lang="el-GR" dirty="0" err="1"/>
              <a:t>really</a:t>
            </a:r>
            <a:r>
              <a:rPr lang="el-GR" dirty="0"/>
              <a:t> </a:t>
            </a:r>
            <a:r>
              <a:rPr lang="el-GR" dirty="0" err="1"/>
              <a:t>runs</a:t>
            </a:r>
            <a:r>
              <a:rPr lang="el-GR" dirty="0"/>
              <a:t>.</a:t>
            </a:r>
            <a:endParaRPr lang="en-US" dirty="0"/>
          </a:p>
        </p:txBody>
      </p:sp>
      <p:sp>
        <p:nvSpPr>
          <p:cNvPr id="4" name="Slide Number Placeholder 3">
            <a:extLst>
              <a:ext uri="{FF2B5EF4-FFF2-40B4-BE49-F238E27FC236}">
                <a16:creationId xmlns:a16="http://schemas.microsoft.com/office/drawing/2014/main" id="{66619CBA-8E36-D5C0-8FC2-B8427D8ABADD}"/>
              </a:ext>
            </a:extLst>
          </p:cNvPr>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391788494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4.xml"/><Relationship Id="rId1" Type="http://schemas.openxmlformats.org/officeDocument/2006/relationships/slideLayout" Target="../slideLayouts/slideLayout1.xml"/><Relationship Id="rId4"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B1F3B"/>
        </a:solidFill>
        <a:effectLst/>
      </p:bgPr>
    </p:bg>
    <p:spTree>
      <p:nvGrpSpPr>
        <p:cNvPr id="1" name=""/>
        <p:cNvGrpSpPr/>
        <p:nvPr/>
      </p:nvGrpSpPr>
      <p:grpSpPr>
        <a:xfrm>
          <a:off x="0" y="0"/>
          <a:ext cx="0" cy="0"/>
          <a:chOff x="0" y="0"/>
          <a:chExt cx="0" cy="0"/>
        </a:xfrm>
      </p:grpSpPr>
      <p:sp>
        <p:nvSpPr>
          <p:cNvPr id="2" name="Shape 0"/>
          <p:cNvSpPr/>
          <p:nvPr/>
        </p:nvSpPr>
        <p:spPr>
          <a:xfrm>
            <a:off x="5394960" y="1920240"/>
            <a:ext cx="777240" cy="777240"/>
          </a:xfrm>
          <a:prstGeom prst="pie">
            <a:avLst>
              <a:gd name="adj1" fmla="val 16200000"/>
              <a:gd name="adj2" fmla="val 5400000"/>
            </a:avLst>
          </a:prstGeom>
          <a:solidFill>
            <a:srgbClr val="E4572E"/>
          </a:solidFill>
          <a:ln/>
        </p:spPr>
        <p:txBody>
          <a:bodyPr/>
          <a:lstStyle/>
          <a:p>
            <a:endParaRPr lang="el-GR"/>
          </a:p>
        </p:txBody>
      </p:sp>
      <p:sp>
        <p:nvSpPr>
          <p:cNvPr id="3" name="Shape 1"/>
          <p:cNvSpPr/>
          <p:nvPr/>
        </p:nvSpPr>
        <p:spPr>
          <a:xfrm>
            <a:off x="5394960" y="1920240"/>
            <a:ext cx="777240" cy="777240"/>
          </a:xfrm>
          <a:prstGeom prst="pie">
            <a:avLst>
              <a:gd name="adj1" fmla="val 5400000"/>
              <a:gd name="adj2" fmla="val 16200000"/>
            </a:avLst>
          </a:prstGeom>
          <a:solidFill>
            <a:srgbClr val="2F6FED"/>
          </a:solidFill>
          <a:ln/>
        </p:spPr>
        <p:txBody>
          <a:bodyPr/>
          <a:lstStyle/>
          <a:p>
            <a:endParaRPr lang="el-GR"/>
          </a:p>
        </p:txBody>
      </p:sp>
      <p:sp>
        <p:nvSpPr>
          <p:cNvPr id="4" name="Text 2"/>
          <p:cNvSpPr txBox="1"/>
          <p:nvPr/>
        </p:nvSpPr>
        <p:spPr>
          <a:xfrm>
            <a:off x="822960" y="2834640"/>
            <a:ext cx="10515600" cy="1188720"/>
          </a:xfrm>
          <a:prstGeom prst="rect">
            <a:avLst/>
          </a:prstGeom>
          <a:noFill/>
          <a:ln/>
        </p:spPr>
        <p:txBody>
          <a:bodyPr wrap="square" lIns="0" tIns="0" rIns="0" bIns="0" rtlCol="0" anchor="ctr"/>
          <a:lstStyle/>
          <a:p>
            <a:pPr marL="0" indent="0" algn="ctr">
              <a:buNone/>
            </a:pPr>
            <a:r>
              <a:rPr lang="en-US" sz="4800" b="1" dirty="0">
                <a:solidFill>
                  <a:srgbClr val="FFFFFF"/>
                </a:solidFill>
                <a:latin typeface="Cambria" pitchFamily="34" charset="0"/>
                <a:ea typeface="Cambria" pitchFamily="34" charset="-122"/>
                <a:cs typeface="Cambria" pitchFamily="34" charset="-120"/>
              </a:rPr>
              <a:t>POLARIZED TREES</a:t>
            </a:r>
            <a:endParaRPr lang="en-US" sz="4800" dirty="0"/>
          </a:p>
        </p:txBody>
      </p:sp>
      <p:sp>
        <p:nvSpPr>
          <p:cNvPr id="5" name="Text 3"/>
          <p:cNvSpPr txBox="1"/>
          <p:nvPr/>
        </p:nvSpPr>
        <p:spPr>
          <a:xfrm>
            <a:off x="822960" y="3840480"/>
            <a:ext cx="10515600" cy="548640"/>
          </a:xfrm>
          <a:prstGeom prst="rect">
            <a:avLst/>
          </a:prstGeom>
          <a:noFill/>
          <a:ln/>
        </p:spPr>
        <p:txBody>
          <a:bodyPr wrap="square" lIns="0" tIns="0" rIns="0" bIns="0" rtlCol="0" anchor="ctr"/>
          <a:lstStyle/>
          <a:p>
            <a:pPr marL="0" indent="0" algn="ctr">
              <a:buNone/>
            </a:pPr>
            <a:r>
              <a:rPr lang="en-US" sz="1900" dirty="0">
                <a:solidFill>
                  <a:srgbClr val="C9CFEA"/>
                </a:solidFill>
                <a:latin typeface="Calibri" pitchFamily="34" charset="0"/>
                <a:ea typeface="Calibri" pitchFamily="34" charset="-122"/>
                <a:cs typeface="Calibri" pitchFamily="34" charset="-120"/>
              </a:rPr>
              <a:t>Discovering the Roots of Annotation Polyphony</a:t>
            </a:r>
            <a:endParaRPr lang="en-US" sz="1900" dirty="0"/>
          </a:p>
        </p:txBody>
      </p:sp>
      <p:sp>
        <p:nvSpPr>
          <p:cNvPr id="6" name="Shape 4"/>
          <p:cNvSpPr/>
          <p:nvPr/>
        </p:nvSpPr>
        <p:spPr>
          <a:xfrm>
            <a:off x="5367528" y="4572000"/>
            <a:ext cx="1463040" cy="0"/>
          </a:xfrm>
          <a:prstGeom prst="line">
            <a:avLst/>
          </a:prstGeom>
          <a:noFill/>
          <a:ln w="19050">
            <a:solidFill>
              <a:srgbClr val="3B4173"/>
            </a:solidFill>
            <a:prstDash val="solid"/>
          </a:ln>
        </p:spPr>
        <p:txBody>
          <a:bodyPr/>
          <a:lstStyle/>
          <a:p>
            <a:endParaRPr lang="el-GR"/>
          </a:p>
        </p:txBody>
      </p:sp>
      <p:sp>
        <p:nvSpPr>
          <p:cNvPr id="7" name="Text 5"/>
          <p:cNvSpPr txBox="1"/>
          <p:nvPr/>
        </p:nvSpPr>
        <p:spPr>
          <a:xfrm>
            <a:off x="822960" y="4754880"/>
            <a:ext cx="10515600" cy="365760"/>
          </a:xfrm>
          <a:prstGeom prst="rect">
            <a:avLst/>
          </a:prstGeom>
          <a:noFill/>
          <a:ln/>
        </p:spPr>
        <p:txBody>
          <a:bodyPr wrap="square" lIns="0" tIns="0" rIns="0" bIns="0" rtlCol="0" anchor="ctr"/>
          <a:lstStyle/>
          <a:p>
            <a:pPr marL="0" indent="0" algn="ctr">
              <a:buNone/>
            </a:pPr>
            <a:r>
              <a:rPr lang="en-US" sz="1300" dirty="0">
                <a:solidFill>
                  <a:srgbClr val="8B93BE"/>
                </a:solidFill>
                <a:latin typeface="Calibri" pitchFamily="34" charset="0"/>
                <a:ea typeface="Calibri" pitchFamily="34" charset="-122"/>
                <a:cs typeface="Calibri" pitchFamily="34" charset="-120"/>
              </a:rPr>
              <a:t> Method, evaluation, and findings</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1">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457200" y="457200"/>
            <a:ext cx="201168" cy="201168"/>
          </a:xfrm>
          <a:prstGeom prst="pie">
            <a:avLst>
              <a:gd name="adj1" fmla="val 16200000"/>
              <a:gd name="adj2" fmla="val 5400000"/>
            </a:avLst>
          </a:prstGeom>
          <a:solidFill>
            <a:srgbClr val="E4572E"/>
          </a:solidFill>
          <a:ln/>
        </p:spPr>
        <p:txBody>
          <a:bodyPr/>
          <a:lstStyle/>
          <a:p>
            <a:endParaRPr lang="el-GR"/>
          </a:p>
        </p:txBody>
      </p:sp>
      <p:sp>
        <p:nvSpPr>
          <p:cNvPr id="3" name="Shape 1"/>
          <p:cNvSpPr/>
          <p:nvPr/>
        </p:nvSpPr>
        <p:spPr>
          <a:xfrm>
            <a:off x="457200" y="457200"/>
            <a:ext cx="201168" cy="201168"/>
          </a:xfrm>
          <a:prstGeom prst="pie">
            <a:avLst>
              <a:gd name="adj1" fmla="val 5400000"/>
              <a:gd name="adj2" fmla="val 16200000"/>
            </a:avLst>
          </a:prstGeom>
          <a:solidFill>
            <a:srgbClr val="2F6FED"/>
          </a:solidFill>
          <a:ln/>
        </p:spPr>
        <p:txBody>
          <a:bodyPr/>
          <a:lstStyle/>
          <a:p>
            <a:endParaRPr lang="el-GR"/>
          </a:p>
        </p:txBody>
      </p:sp>
      <p:sp>
        <p:nvSpPr>
          <p:cNvPr id="4" name="Text 2"/>
          <p:cNvSpPr txBox="1"/>
          <p:nvPr/>
        </p:nvSpPr>
        <p:spPr>
          <a:xfrm>
            <a:off x="777240" y="365760"/>
            <a:ext cx="8229600" cy="320040"/>
          </a:xfrm>
          <a:prstGeom prst="rect">
            <a:avLst/>
          </a:prstGeom>
          <a:noFill/>
          <a:ln/>
        </p:spPr>
        <p:txBody>
          <a:bodyPr wrap="square" lIns="0" tIns="0" rIns="0" bIns="0" rtlCol="0" anchor="ctr"/>
          <a:lstStyle/>
          <a:p>
            <a:pPr marL="0" indent="0">
              <a:buNone/>
            </a:pPr>
            <a:r>
              <a:rPr lang="en-US" sz="1200" b="1" kern="0" spc="200" dirty="0">
                <a:solidFill>
                  <a:srgbClr val="6B7280"/>
                </a:solidFill>
                <a:latin typeface="Calibri" pitchFamily="34" charset="0"/>
                <a:ea typeface="Calibri" pitchFamily="34" charset="-122"/>
                <a:cs typeface="Calibri" pitchFamily="34" charset="-120"/>
              </a:rPr>
              <a:t>MOTIVATION</a:t>
            </a:r>
            <a:endParaRPr lang="en-US" sz="1200" dirty="0"/>
          </a:p>
        </p:txBody>
      </p:sp>
      <p:sp>
        <p:nvSpPr>
          <p:cNvPr id="5" name="Text 3"/>
          <p:cNvSpPr txBox="1"/>
          <p:nvPr/>
        </p:nvSpPr>
        <p:spPr>
          <a:xfrm>
            <a:off x="457200" y="685800"/>
            <a:ext cx="11247120" cy="868680"/>
          </a:xfrm>
          <a:prstGeom prst="rect">
            <a:avLst/>
          </a:prstGeom>
          <a:noFill/>
          <a:ln/>
        </p:spPr>
        <p:txBody>
          <a:bodyPr wrap="square" lIns="0" tIns="0" rIns="0" bIns="0" rtlCol="0" anchor="ctr"/>
          <a:lstStyle/>
          <a:p>
            <a:pPr marL="0" indent="0">
              <a:buNone/>
            </a:pPr>
            <a:r>
              <a:rPr lang="en-US" sz="3600" b="1" dirty="0">
                <a:solidFill>
                  <a:srgbClr val="1B1F3B"/>
                </a:solidFill>
                <a:latin typeface="Cambria" pitchFamily="34" charset="0"/>
                <a:ea typeface="Cambria" pitchFamily="34" charset="-122"/>
                <a:cs typeface="Cambria" pitchFamily="34" charset="-120"/>
              </a:rPr>
              <a:t>Same exchange. Opposite verdicts.</a:t>
            </a:r>
            <a:endParaRPr lang="en-US" sz="3600" dirty="0"/>
          </a:p>
        </p:txBody>
      </p:sp>
      <p:sp>
        <p:nvSpPr>
          <p:cNvPr id="7" name="Shape 5"/>
          <p:cNvSpPr/>
          <p:nvPr/>
        </p:nvSpPr>
        <p:spPr>
          <a:xfrm>
            <a:off x="457200" y="1965961"/>
            <a:ext cx="5349240" cy="1371600"/>
          </a:xfrm>
          <a:prstGeom prst="roundRect">
            <a:avLst>
              <a:gd name="adj" fmla="val 6667"/>
            </a:avLst>
          </a:prstGeom>
          <a:solidFill>
            <a:srgbClr val="E4572E"/>
          </a:solidFill>
          <a:ln/>
        </p:spPr>
        <p:txBody>
          <a:bodyPr/>
          <a:lstStyle/>
          <a:p>
            <a:endParaRPr lang="el-GR"/>
          </a:p>
        </p:txBody>
      </p:sp>
      <p:sp>
        <p:nvSpPr>
          <p:cNvPr id="8" name="Text 6"/>
          <p:cNvSpPr txBox="1"/>
          <p:nvPr/>
        </p:nvSpPr>
        <p:spPr>
          <a:xfrm>
            <a:off x="457200" y="2148841"/>
            <a:ext cx="5349240" cy="365760"/>
          </a:xfrm>
          <a:prstGeom prst="rect">
            <a:avLst/>
          </a:prstGeom>
          <a:noFill/>
          <a:ln/>
        </p:spPr>
        <p:txBody>
          <a:bodyPr wrap="square" lIns="0" tIns="0" rIns="0" bIns="0" rtlCol="0" anchor="ctr"/>
          <a:lstStyle/>
          <a:p>
            <a:pPr marL="0" indent="0" algn="ctr">
              <a:buNone/>
            </a:pPr>
            <a:r>
              <a:rPr lang="en-US" sz="1500" b="1" kern="0" spc="150" dirty="0">
                <a:solidFill>
                  <a:srgbClr val="FBD9CF"/>
                </a:solidFill>
                <a:latin typeface="Calibri" pitchFamily="34" charset="0"/>
                <a:ea typeface="Calibri" pitchFamily="34" charset="-122"/>
                <a:cs typeface="Calibri" pitchFamily="34" charset="-120"/>
              </a:rPr>
              <a:t>SOME ANNOTATORS SAY</a:t>
            </a:r>
            <a:endParaRPr lang="en-US" sz="1500" dirty="0"/>
          </a:p>
        </p:txBody>
      </p:sp>
      <p:sp>
        <p:nvSpPr>
          <p:cNvPr id="9" name="Text 7"/>
          <p:cNvSpPr txBox="1"/>
          <p:nvPr/>
        </p:nvSpPr>
        <p:spPr>
          <a:xfrm>
            <a:off x="457200" y="2468881"/>
            <a:ext cx="5349240" cy="777240"/>
          </a:xfrm>
          <a:prstGeom prst="rect">
            <a:avLst/>
          </a:prstGeom>
          <a:noFill/>
          <a:ln/>
        </p:spPr>
        <p:txBody>
          <a:bodyPr wrap="square" lIns="0" tIns="0" rIns="0" bIns="0" rtlCol="0" anchor="ctr"/>
          <a:lstStyle/>
          <a:p>
            <a:pPr marL="0" indent="0" algn="ctr">
              <a:buNone/>
            </a:pPr>
            <a:r>
              <a:rPr lang="en-US" sz="4000" b="1" dirty="0">
                <a:solidFill>
                  <a:srgbClr val="FFFFFF"/>
                </a:solidFill>
                <a:latin typeface="Cambria" pitchFamily="34" charset="0"/>
                <a:ea typeface="Cambria" pitchFamily="34" charset="-122"/>
                <a:cs typeface="Cambria" pitchFamily="34" charset="-120"/>
              </a:rPr>
              <a:t>BIASED</a:t>
            </a:r>
            <a:endParaRPr lang="en-US" sz="4000" dirty="0"/>
          </a:p>
        </p:txBody>
      </p:sp>
      <p:sp>
        <p:nvSpPr>
          <p:cNvPr id="10" name="Shape 8"/>
          <p:cNvSpPr/>
          <p:nvPr/>
        </p:nvSpPr>
        <p:spPr>
          <a:xfrm>
            <a:off x="6355080" y="1965961"/>
            <a:ext cx="5394960" cy="1371600"/>
          </a:xfrm>
          <a:prstGeom prst="roundRect">
            <a:avLst>
              <a:gd name="adj" fmla="val 6667"/>
            </a:avLst>
          </a:prstGeom>
          <a:solidFill>
            <a:srgbClr val="2F6FED"/>
          </a:solidFill>
          <a:ln/>
        </p:spPr>
        <p:txBody>
          <a:bodyPr/>
          <a:lstStyle/>
          <a:p>
            <a:endParaRPr lang="el-GR"/>
          </a:p>
        </p:txBody>
      </p:sp>
      <p:sp>
        <p:nvSpPr>
          <p:cNvPr id="11" name="Text 9"/>
          <p:cNvSpPr txBox="1"/>
          <p:nvPr/>
        </p:nvSpPr>
        <p:spPr>
          <a:xfrm>
            <a:off x="6355080" y="2148841"/>
            <a:ext cx="5394960" cy="365760"/>
          </a:xfrm>
          <a:prstGeom prst="rect">
            <a:avLst/>
          </a:prstGeom>
          <a:noFill/>
          <a:ln/>
        </p:spPr>
        <p:txBody>
          <a:bodyPr wrap="square" lIns="0" tIns="0" rIns="0" bIns="0" rtlCol="0" anchor="ctr"/>
          <a:lstStyle/>
          <a:p>
            <a:pPr marL="0" indent="0" algn="ctr">
              <a:buNone/>
            </a:pPr>
            <a:r>
              <a:rPr lang="en-US" sz="1500" b="1" kern="0" spc="150" dirty="0">
                <a:solidFill>
                  <a:srgbClr val="CFE0FB"/>
                </a:solidFill>
                <a:latin typeface="Calibri" pitchFamily="34" charset="0"/>
                <a:ea typeface="Calibri" pitchFamily="34" charset="-122"/>
                <a:cs typeface="Calibri" pitchFamily="34" charset="-120"/>
              </a:rPr>
              <a:t>OTHER ANNOTATORS SAY</a:t>
            </a:r>
            <a:endParaRPr lang="en-US" sz="1500" dirty="0"/>
          </a:p>
        </p:txBody>
      </p:sp>
      <p:sp>
        <p:nvSpPr>
          <p:cNvPr id="12" name="Text 10"/>
          <p:cNvSpPr txBox="1"/>
          <p:nvPr/>
        </p:nvSpPr>
        <p:spPr>
          <a:xfrm>
            <a:off x="6355080" y="2468881"/>
            <a:ext cx="5394960" cy="777240"/>
          </a:xfrm>
          <a:prstGeom prst="rect">
            <a:avLst/>
          </a:prstGeom>
          <a:noFill/>
          <a:ln/>
        </p:spPr>
        <p:txBody>
          <a:bodyPr wrap="square" lIns="0" tIns="0" rIns="0" bIns="0" rtlCol="0" anchor="ctr"/>
          <a:lstStyle/>
          <a:p>
            <a:pPr marL="0" indent="0" algn="ctr">
              <a:buNone/>
            </a:pPr>
            <a:r>
              <a:rPr lang="en-US" sz="4000" b="1" dirty="0">
                <a:solidFill>
                  <a:srgbClr val="FFFFFF"/>
                </a:solidFill>
                <a:latin typeface="Cambria" pitchFamily="34" charset="0"/>
                <a:ea typeface="Cambria" pitchFamily="34" charset="-122"/>
                <a:cs typeface="Cambria" pitchFamily="34" charset="-120"/>
              </a:rPr>
              <a:t>NOT BIASED</a:t>
            </a:r>
            <a:endParaRPr lang="en-US" sz="4000" dirty="0"/>
          </a:p>
        </p:txBody>
      </p:sp>
      <p:sp>
        <p:nvSpPr>
          <p:cNvPr id="13" name="Text 11"/>
          <p:cNvSpPr txBox="1"/>
          <p:nvPr/>
        </p:nvSpPr>
        <p:spPr>
          <a:xfrm>
            <a:off x="457200" y="4114800"/>
            <a:ext cx="11247120" cy="548640"/>
          </a:xfrm>
          <a:prstGeom prst="rect">
            <a:avLst/>
          </a:prstGeom>
          <a:noFill/>
          <a:ln/>
        </p:spPr>
        <p:txBody>
          <a:bodyPr wrap="square" lIns="0" tIns="0" rIns="0" bIns="0" rtlCol="0" anchor="ctr"/>
          <a:lstStyle/>
          <a:p>
            <a:pPr marL="0" indent="0">
              <a:buNone/>
            </a:pPr>
            <a:r>
              <a:rPr lang="en-US" sz="2300" b="1" dirty="0">
                <a:solidFill>
                  <a:srgbClr val="E4572E"/>
                </a:solidFill>
                <a:latin typeface="Calibri" pitchFamily="34" charset="0"/>
                <a:ea typeface="Calibri" pitchFamily="34" charset="-122"/>
                <a:cs typeface="Calibri" pitchFamily="34" charset="-120"/>
              </a:rPr>
              <a:t>✗  </a:t>
            </a:r>
            <a:r>
              <a:rPr lang="en-US" sz="2300" dirty="0">
                <a:solidFill>
                  <a:srgbClr val="1B1F3B"/>
                </a:solidFill>
                <a:latin typeface="Calibri" pitchFamily="34" charset="0"/>
                <a:ea typeface="Calibri" pitchFamily="34" charset="-122"/>
                <a:cs typeface="Calibri" pitchFamily="34" charset="-120"/>
              </a:rPr>
              <a:t>Majority vote buries the split into one label.</a:t>
            </a:r>
            <a:endParaRPr lang="en-US" sz="2300" dirty="0"/>
          </a:p>
        </p:txBody>
      </p:sp>
      <p:sp>
        <p:nvSpPr>
          <p:cNvPr id="14" name="Text 12"/>
          <p:cNvSpPr txBox="1"/>
          <p:nvPr/>
        </p:nvSpPr>
        <p:spPr>
          <a:xfrm>
            <a:off x="457200" y="4709160"/>
            <a:ext cx="11247120" cy="548640"/>
          </a:xfrm>
          <a:prstGeom prst="rect">
            <a:avLst/>
          </a:prstGeom>
          <a:noFill/>
          <a:ln/>
        </p:spPr>
        <p:txBody>
          <a:bodyPr wrap="square" lIns="0" tIns="0" rIns="0" bIns="0" rtlCol="0" anchor="ctr"/>
          <a:lstStyle/>
          <a:p>
            <a:pPr marL="0" indent="0">
              <a:buNone/>
            </a:pPr>
            <a:r>
              <a:rPr lang="en-US" sz="2300" b="1" dirty="0">
                <a:solidFill>
                  <a:srgbClr val="E4572E"/>
                </a:solidFill>
                <a:latin typeface="Calibri" pitchFamily="34" charset="0"/>
                <a:ea typeface="Calibri" pitchFamily="34" charset="-122"/>
                <a:cs typeface="Calibri" pitchFamily="34" charset="-120"/>
              </a:rPr>
              <a:t>✗  </a:t>
            </a:r>
            <a:r>
              <a:rPr lang="en-US" sz="2300" dirty="0">
                <a:solidFill>
                  <a:srgbClr val="1B1F3B"/>
                </a:solidFill>
                <a:latin typeface="Calibri" pitchFamily="34" charset="0"/>
                <a:ea typeface="Calibri" pitchFamily="34" charset="-122"/>
                <a:cs typeface="Calibri" pitchFamily="34" charset="-120"/>
              </a:rPr>
              <a:t>Testing one trait at a time dilutes it away.</a:t>
            </a:r>
            <a:endParaRPr lang="en-US" sz="2300" dirty="0"/>
          </a:p>
        </p:txBody>
      </p:sp>
      <p:sp>
        <p:nvSpPr>
          <p:cNvPr id="15" name="Shape 13"/>
          <p:cNvSpPr/>
          <p:nvPr/>
        </p:nvSpPr>
        <p:spPr>
          <a:xfrm>
            <a:off x="457200" y="5486400"/>
            <a:ext cx="11247120" cy="0"/>
          </a:xfrm>
          <a:prstGeom prst="line">
            <a:avLst/>
          </a:prstGeom>
          <a:noFill/>
          <a:ln w="12700">
            <a:solidFill>
              <a:srgbClr val="DDE1EE"/>
            </a:solidFill>
            <a:prstDash val="solid"/>
          </a:ln>
        </p:spPr>
        <p:txBody>
          <a:bodyPr/>
          <a:lstStyle/>
          <a:p>
            <a:endParaRPr lang="el-GR"/>
          </a:p>
        </p:txBody>
      </p:sp>
      <p:sp>
        <p:nvSpPr>
          <p:cNvPr id="16" name="Text 14"/>
          <p:cNvSpPr txBox="1"/>
          <p:nvPr/>
        </p:nvSpPr>
        <p:spPr>
          <a:xfrm>
            <a:off x="457200" y="5669280"/>
            <a:ext cx="11247120" cy="685800"/>
          </a:xfrm>
          <a:prstGeom prst="rect">
            <a:avLst/>
          </a:prstGeom>
          <a:noFill/>
          <a:ln/>
        </p:spPr>
        <p:txBody>
          <a:bodyPr wrap="square" lIns="0" tIns="0" rIns="0" bIns="0" rtlCol="0" anchor="ctr"/>
          <a:lstStyle/>
          <a:p>
            <a:pPr marL="0" indent="0" algn="ctr">
              <a:buNone/>
            </a:pPr>
            <a:r>
              <a:rPr lang="en-US" sz="3400" b="1" dirty="0">
                <a:solidFill>
                  <a:srgbClr val="1B1F3B"/>
                </a:solidFill>
                <a:latin typeface="Cambria" pitchFamily="34" charset="0"/>
                <a:ea typeface="Cambria" pitchFamily="34" charset="-122"/>
                <a:cs typeface="Cambria" pitchFamily="34" charset="-120"/>
              </a:rPr>
              <a:t>So what actually explains it?</a:t>
            </a:r>
            <a:endParaRPr lang="en-US" sz="3400" dirty="0"/>
          </a:p>
        </p:txBody>
      </p:sp>
      <p:sp>
        <p:nvSpPr>
          <p:cNvPr id="17" name="Text 15"/>
          <p:cNvSpPr txBox="1"/>
          <p:nvPr/>
        </p:nvSpPr>
        <p:spPr>
          <a:xfrm>
            <a:off x="11521440" y="6473952"/>
            <a:ext cx="548640" cy="274320"/>
          </a:xfrm>
          <a:prstGeom prst="rect">
            <a:avLst/>
          </a:prstGeom>
          <a:noFill/>
          <a:ln/>
        </p:spPr>
        <p:txBody>
          <a:bodyPr wrap="square" lIns="0" tIns="0" rIns="0" bIns="0" rtlCol="0" anchor="ctr"/>
          <a:lstStyle/>
          <a:p>
            <a:pPr marL="0" indent="0" algn="r">
              <a:buNone/>
            </a:pPr>
            <a:r>
              <a:rPr lang="en-US" sz="1100" dirty="0">
                <a:solidFill>
                  <a:srgbClr val="B7BCD0"/>
                </a:solidFill>
                <a:latin typeface="Calibri" pitchFamily="34" charset="0"/>
                <a:ea typeface="Calibri" pitchFamily="34" charset="-122"/>
                <a:cs typeface="Calibri" pitchFamily="34" charset="-120"/>
              </a:rPr>
              <a:t>02</a:t>
            </a:r>
            <a:endParaRPr lang="en-US" sz="1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457200" y="457200"/>
            <a:ext cx="201168" cy="201168"/>
          </a:xfrm>
          <a:prstGeom prst="pie">
            <a:avLst>
              <a:gd name="adj1" fmla="val 16200000"/>
              <a:gd name="adj2" fmla="val 5400000"/>
            </a:avLst>
          </a:prstGeom>
          <a:solidFill>
            <a:srgbClr val="E4572E"/>
          </a:solidFill>
          <a:ln/>
        </p:spPr>
        <p:txBody>
          <a:bodyPr/>
          <a:lstStyle/>
          <a:p>
            <a:endParaRPr lang="el-GR"/>
          </a:p>
        </p:txBody>
      </p:sp>
      <p:sp>
        <p:nvSpPr>
          <p:cNvPr id="3" name="Shape 1"/>
          <p:cNvSpPr/>
          <p:nvPr/>
        </p:nvSpPr>
        <p:spPr>
          <a:xfrm>
            <a:off x="457200" y="457200"/>
            <a:ext cx="201168" cy="201168"/>
          </a:xfrm>
          <a:prstGeom prst="pie">
            <a:avLst>
              <a:gd name="adj1" fmla="val 5400000"/>
              <a:gd name="adj2" fmla="val 16200000"/>
            </a:avLst>
          </a:prstGeom>
          <a:solidFill>
            <a:srgbClr val="2F6FED"/>
          </a:solidFill>
          <a:ln/>
        </p:spPr>
        <p:txBody>
          <a:bodyPr/>
          <a:lstStyle/>
          <a:p>
            <a:endParaRPr lang="el-GR"/>
          </a:p>
        </p:txBody>
      </p:sp>
      <p:sp>
        <p:nvSpPr>
          <p:cNvPr id="4" name="Text 2"/>
          <p:cNvSpPr txBox="1"/>
          <p:nvPr/>
        </p:nvSpPr>
        <p:spPr>
          <a:xfrm>
            <a:off x="777240" y="384048"/>
            <a:ext cx="7315200" cy="320040"/>
          </a:xfrm>
          <a:prstGeom prst="rect">
            <a:avLst/>
          </a:prstGeom>
          <a:noFill/>
          <a:ln/>
        </p:spPr>
        <p:txBody>
          <a:bodyPr wrap="square" lIns="0" tIns="0" rIns="0" bIns="0" rtlCol="0" anchor="ctr"/>
          <a:lstStyle/>
          <a:p>
            <a:pPr marL="0" indent="0">
              <a:buNone/>
            </a:pPr>
            <a:r>
              <a:rPr lang="en-US" sz="1100" b="1" kern="0" spc="200" dirty="0">
                <a:solidFill>
                  <a:srgbClr val="6B7280"/>
                </a:solidFill>
                <a:latin typeface="Calibri" pitchFamily="34" charset="0"/>
                <a:ea typeface="Calibri" pitchFamily="34" charset="-122"/>
                <a:cs typeface="Calibri" pitchFamily="34" charset="-120"/>
              </a:rPr>
              <a:t>OVERVIEW</a:t>
            </a:r>
            <a:endParaRPr lang="en-US" sz="1100" dirty="0"/>
          </a:p>
        </p:txBody>
      </p:sp>
      <p:sp>
        <p:nvSpPr>
          <p:cNvPr id="5" name="Text 3"/>
          <p:cNvSpPr txBox="1"/>
          <p:nvPr/>
        </p:nvSpPr>
        <p:spPr>
          <a:xfrm>
            <a:off x="457200" y="713232"/>
            <a:ext cx="11247120" cy="777240"/>
          </a:xfrm>
          <a:prstGeom prst="rect">
            <a:avLst/>
          </a:prstGeom>
          <a:noFill/>
          <a:ln/>
        </p:spPr>
        <p:txBody>
          <a:bodyPr wrap="square" lIns="0" tIns="0" rIns="0" bIns="0" rtlCol="0" anchor="ctr"/>
          <a:lstStyle/>
          <a:p>
            <a:pPr marL="0" indent="0">
              <a:buNone/>
            </a:pPr>
            <a:r>
              <a:rPr lang="en-US" sz="3600" b="1" dirty="0">
                <a:solidFill>
                  <a:srgbClr val="1B1F3B"/>
                </a:solidFill>
                <a:latin typeface="Cambria" pitchFamily="34" charset="0"/>
                <a:ea typeface="Cambria" pitchFamily="34" charset="-122"/>
                <a:cs typeface="Cambria" pitchFamily="34" charset="-120"/>
              </a:rPr>
              <a:t>What is Polarized Trees?</a:t>
            </a:r>
            <a:endParaRPr lang="en-US" sz="3600" dirty="0"/>
          </a:p>
        </p:txBody>
      </p:sp>
      <p:sp>
        <p:nvSpPr>
          <p:cNvPr id="6" name="Shape 4"/>
          <p:cNvSpPr/>
          <p:nvPr/>
        </p:nvSpPr>
        <p:spPr>
          <a:xfrm>
            <a:off x="457200" y="1783080"/>
            <a:ext cx="11247120" cy="1051560"/>
          </a:xfrm>
          <a:prstGeom prst="roundRect">
            <a:avLst>
              <a:gd name="adj" fmla="val 6957"/>
            </a:avLst>
          </a:prstGeom>
          <a:solidFill>
            <a:srgbClr val="1B1F3B"/>
          </a:solidFill>
          <a:ln/>
        </p:spPr>
        <p:txBody>
          <a:bodyPr/>
          <a:lstStyle/>
          <a:p>
            <a:endParaRPr lang="el-GR"/>
          </a:p>
        </p:txBody>
      </p:sp>
      <p:sp>
        <p:nvSpPr>
          <p:cNvPr id="7" name="Text 5"/>
          <p:cNvSpPr txBox="1"/>
          <p:nvPr/>
        </p:nvSpPr>
        <p:spPr>
          <a:xfrm>
            <a:off x="777240" y="1783080"/>
            <a:ext cx="10607040" cy="1051560"/>
          </a:xfrm>
          <a:prstGeom prst="rect">
            <a:avLst/>
          </a:prstGeom>
          <a:noFill/>
          <a:ln/>
        </p:spPr>
        <p:txBody>
          <a:bodyPr wrap="square" lIns="0" tIns="0" rIns="0" bIns="0" rtlCol="0" anchor="ctr"/>
          <a:lstStyle/>
          <a:p>
            <a:pPr marL="0" indent="0">
              <a:lnSpc>
                <a:spcPct val="120000"/>
              </a:lnSpc>
              <a:buNone/>
            </a:pPr>
            <a:r>
              <a:rPr lang="en-US" sz="1450" b="1" dirty="0">
                <a:solidFill>
                  <a:srgbClr val="F2B705"/>
                </a:solidFill>
                <a:latin typeface="Calibri" pitchFamily="34" charset="0"/>
                <a:ea typeface="Calibri" pitchFamily="34" charset="-122"/>
                <a:cs typeface="Calibri" pitchFamily="34" charset="-120"/>
              </a:rPr>
              <a:t>Briefly: </a:t>
            </a:r>
            <a:r>
              <a:rPr lang="en-US" sz="1450" dirty="0">
                <a:solidFill>
                  <a:srgbClr val="FFFFFF"/>
                </a:solidFill>
                <a:latin typeface="Calibri" pitchFamily="34" charset="0"/>
                <a:ea typeface="Calibri" pitchFamily="34" charset="-122"/>
                <a:cs typeface="Calibri" pitchFamily="34" charset="-120"/>
              </a:rPr>
              <a:t>a method that hierarchically and automatically figures out which annotator traits (gender, politics, race, age…) and their intersections explain where people diverge into different opinion clusters on the same item, and by how much — without us guessing the traits in advance.</a:t>
            </a:r>
            <a:endParaRPr lang="en-US" sz="1450" dirty="0"/>
          </a:p>
        </p:txBody>
      </p:sp>
      <p:sp>
        <p:nvSpPr>
          <p:cNvPr id="8" name="Shape 6"/>
          <p:cNvSpPr/>
          <p:nvPr/>
        </p:nvSpPr>
        <p:spPr>
          <a:xfrm>
            <a:off x="457200" y="3108960"/>
            <a:ext cx="5349240" cy="2834640"/>
          </a:xfrm>
          <a:prstGeom prst="roundRect">
            <a:avLst>
              <a:gd name="adj" fmla="val 2581"/>
            </a:avLst>
          </a:prstGeom>
          <a:solidFill>
            <a:srgbClr val="F1F3FA"/>
          </a:solidFill>
          <a:ln/>
        </p:spPr>
        <p:txBody>
          <a:bodyPr/>
          <a:lstStyle/>
          <a:p>
            <a:endParaRPr lang="el-GR"/>
          </a:p>
        </p:txBody>
      </p:sp>
      <p:sp>
        <p:nvSpPr>
          <p:cNvPr id="9" name="Shape 7"/>
          <p:cNvSpPr/>
          <p:nvPr/>
        </p:nvSpPr>
        <p:spPr>
          <a:xfrm>
            <a:off x="457200" y="3108960"/>
            <a:ext cx="5349240" cy="73152"/>
          </a:xfrm>
          <a:prstGeom prst="rect">
            <a:avLst/>
          </a:prstGeom>
          <a:solidFill>
            <a:srgbClr val="F2B705"/>
          </a:solidFill>
          <a:ln/>
        </p:spPr>
        <p:txBody>
          <a:bodyPr/>
          <a:lstStyle/>
          <a:p>
            <a:endParaRPr lang="el-GR"/>
          </a:p>
        </p:txBody>
      </p:sp>
      <p:sp>
        <p:nvSpPr>
          <p:cNvPr id="10" name="Text 8"/>
          <p:cNvSpPr txBox="1"/>
          <p:nvPr/>
        </p:nvSpPr>
        <p:spPr>
          <a:xfrm>
            <a:off x="777240" y="3337560"/>
            <a:ext cx="4754880" cy="457200"/>
          </a:xfrm>
          <a:prstGeom prst="rect">
            <a:avLst/>
          </a:prstGeom>
          <a:noFill/>
          <a:ln/>
        </p:spPr>
        <p:txBody>
          <a:bodyPr wrap="square" lIns="0" tIns="0" rIns="0" bIns="0" rtlCol="0" anchor="ctr"/>
          <a:lstStyle/>
          <a:p>
            <a:pPr marL="0" indent="0">
              <a:buNone/>
            </a:pPr>
            <a:r>
              <a:rPr lang="en-US" sz="1600" b="1" dirty="0">
                <a:solidFill>
                  <a:srgbClr val="1B1F3B"/>
                </a:solidFill>
                <a:latin typeface="Cambria" pitchFamily="34" charset="0"/>
                <a:ea typeface="Cambria" pitchFamily="34" charset="-122"/>
                <a:cs typeface="Cambria" pitchFamily="34" charset="-120"/>
              </a:rPr>
              <a:t>What we propose</a:t>
            </a:r>
            <a:endParaRPr lang="en-US" sz="1600" dirty="0"/>
          </a:p>
        </p:txBody>
      </p:sp>
      <p:sp>
        <p:nvSpPr>
          <p:cNvPr id="11" name="Text 9"/>
          <p:cNvSpPr txBox="1"/>
          <p:nvPr/>
        </p:nvSpPr>
        <p:spPr>
          <a:xfrm>
            <a:off x="777240" y="3840480"/>
            <a:ext cx="4754880" cy="1965960"/>
          </a:xfrm>
          <a:prstGeom prst="rect">
            <a:avLst/>
          </a:prstGeom>
          <a:noFill/>
          <a:ln/>
        </p:spPr>
        <p:txBody>
          <a:bodyPr wrap="square" lIns="0" tIns="0" rIns="0" bIns="0" rtlCol="0" anchor="ctr"/>
          <a:lstStyle/>
          <a:p>
            <a:pPr marL="0" indent="0">
              <a:lnSpc>
                <a:spcPct val="125000"/>
              </a:lnSpc>
              <a:buNone/>
            </a:pPr>
            <a:r>
              <a:rPr lang="en-US" sz="1300" dirty="0">
                <a:solidFill>
                  <a:srgbClr val="6B7280"/>
                </a:solidFill>
                <a:latin typeface="Calibri" pitchFamily="34" charset="0"/>
                <a:ea typeface="Calibri" pitchFamily="34" charset="-122"/>
                <a:cs typeface="Calibri" pitchFamily="34" charset="-120"/>
              </a:rPr>
              <a:t>An automatic, hierarchical framework that discovers which annotator traits — and combinations of traits — explain opposing opinion clusters, without predefining hypotheses about which traits to test.</a:t>
            </a:r>
            <a:endParaRPr lang="en-US" sz="1300" dirty="0"/>
          </a:p>
        </p:txBody>
      </p:sp>
      <p:sp>
        <p:nvSpPr>
          <p:cNvPr id="12" name="Shape 10"/>
          <p:cNvSpPr/>
          <p:nvPr/>
        </p:nvSpPr>
        <p:spPr>
          <a:xfrm>
            <a:off x="6355080" y="3108960"/>
            <a:ext cx="5394960" cy="2834640"/>
          </a:xfrm>
          <a:prstGeom prst="roundRect">
            <a:avLst>
              <a:gd name="adj" fmla="val 2581"/>
            </a:avLst>
          </a:prstGeom>
          <a:solidFill>
            <a:srgbClr val="F1F3FA"/>
          </a:solidFill>
          <a:ln/>
        </p:spPr>
        <p:txBody>
          <a:bodyPr/>
          <a:lstStyle/>
          <a:p>
            <a:endParaRPr lang="el-GR"/>
          </a:p>
        </p:txBody>
      </p:sp>
      <p:sp>
        <p:nvSpPr>
          <p:cNvPr id="13" name="Shape 11"/>
          <p:cNvSpPr/>
          <p:nvPr/>
        </p:nvSpPr>
        <p:spPr>
          <a:xfrm>
            <a:off x="6355080" y="3108960"/>
            <a:ext cx="5394960" cy="73152"/>
          </a:xfrm>
          <a:prstGeom prst="rect">
            <a:avLst/>
          </a:prstGeom>
          <a:solidFill>
            <a:srgbClr val="2F6FED"/>
          </a:solidFill>
          <a:ln/>
        </p:spPr>
        <p:txBody>
          <a:bodyPr/>
          <a:lstStyle/>
          <a:p>
            <a:endParaRPr lang="el-GR"/>
          </a:p>
        </p:txBody>
      </p:sp>
      <p:sp>
        <p:nvSpPr>
          <p:cNvPr id="14" name="Text 12"/>
          <p:cNvSpPr txBox="1"/>
          <p:nvPr/>
        </p:nvSpPr>
        <p:spPr>
          <a:xfrm>
            <a:off x="6675120" y="3337560"/>
            <a:ext cx="4846320" cy="457200"/>
          </a:xfrm>
          <a:prstGeom prst="rect">
            <a:avLst/>
          </a:prstGeom>
          <a:noFill/>
          <a:ln/>
        </p:spPr>
        <p:txBody>
          <a:bodyPr wrap="square" lIns="0" tIns="0" rIns="0" bIns="0" rtlCol="0" anchor="ctr"/>
          <a:lstStyle/>
          <a:p>
            <a:pPr marL="0" indent="0">
              <a:buNone/>
            </a:pPr>
            <a:r>
              <a:rPr lang="en-US" sz="1600" b="1" dirty="0">
                <a:solidFill>
                  <a:srgbClr val="1B1F3B"/>
                </a:solidFill>
                <a:latin typeface="Cambria" pitchFamily="34" charset="0"/>
                <a:ea typeface="Cambria" pitchFamily="34" charset="-122"/>
                <a:cs typeface="Cambria" pitchFamily="34" charset="-120"/>
              </a:rPr>
              <a:t>What it does</a:t>
            </a:r>
            <a:endParaRPr lang="en-US" sz="1600" dirty="0"/>
          </a:p>
        </p:txBody>
      </p:sp>
      <p:sp>
        <p:nvSpPr>
          <p:cNvPr id="15" name="Text 13"/>
          <p:cNvSpPr txBox="1"/>
          <p:nvPr/>
        </p:nvSpPr>
        <p:spPr>
          <a:xfrm>
            <a:off x="6675120" y="3840480"/>
            <a:ext cx="4846320" cy="1965960"/>
          </a:xfrm>
          <a:prstGeom prst="rect">
            <a:avLst/>
          </a:prstGeom>
          <a:noFill/>
          <a:ln/>
        </p:spPr>
        <p:txBody>
          <a:bodyPr wrap="square" lIns="0" tIns="0" rIns="0" bIns="0" rtlCol="0" anchor="ctr"/>
          <a:lstStyle/>
          <a:p>
            <a:pPr marL="0" indent="0">
              <a:lnSpc>
                <a:spcPct val="120000"/>
              </a:lnSpc>
              <a:buNone/>
            </a:pPr>
            <a:r>
              <a:rPr lang="en-US" sz="1250" dirty="0">
                <a:solidFill>
                  <a:srgbClr val="6B7280"/>
                </a:solidFill>
                <a:latin typeface="Calibri" pitchFamily="34" charset="0"/>
                <a:ea typeface="Calibri" pitchFamily="34" charset="-122"/>
                <a:cs typeface="Calibri" pitchFamily="34" charset="-120"/>
              </a:rPr>
              <a:t>Builds an interpretable tree per item — each node splits on the trait that best separates opposing opinions, and the process repeats on the remaining traits within each subgroup until splitting stops. This builds up multidimensional annotator identities (e.g. left-leaning AND male AND over-50) along each branch, and each leaf is then assigned a pole by majority vote.</a:t>
            </a:r>
            <a:endParaRPr lang="en-US" sz="1250" dirty="0"/>
          </a:p>
        </p:txBody>
      </p:sp>
      <p:sp>
        <p:nvSpPr>
          <p:cNvPr id="16" name="Text 14"/>
          <p:cNvSpPr txBox="1"/>
          <p:nvPr/>
        </p:nvSpPr>
        <p:spPr>
          <a:xfrm>
            <a:off x="457200" y="6126480"/>
            <a:ext cx="11247120" cy="365760"/>
          </a:xfrm>
          <a:prstGeom prst="rect">
            <a:avLst/>
          </a:prstGeom>
          <a:noFill/>
          <a:ln/>
        </p:spPr>
        <p:txBody>
          <a:bodyPr wrap="square" lIns="0" tIns="0" rIns="0" bIns="0" rtlCol="0" anchor="ctr"/>
          <a:lstStyle/>
          <a:p>
            <a:pPr marL="0" indent="0">
              <a:buNone/>
            </a:pPr>
            <a:r>
              <a:rPr lang="en-US" sz="1200" i="1" dirty="0">
                <a:solidFill>
                  <a:srgbClr val="6B7280"/>
                </a:solidFill>
                <a:latin typeface="Calibri" pitchFamily="34" charset="0"/>
                <a:ea typeface="Calibri" pitchFamily="34" charset="-122"/>
                <a:cs typeface="Calibri" pitchFamily="34" charset="-120"/>
              </a:rPr>
              <a:t>The rest of this talk covers how it works, how we validated it, and what it finds in real data.</a:t>
            </a:r>
            <a:endParaRPr lang="en-US" sz="1200" dirty="0"/>
          </a:p>
        </p:txBody>
      </p:sp>
      <p:sp>
        <p:nvSpPr>
          <p:cNvPr id="17" name="Text 15"/>
          <p:cNvSpPr txBox="1"/>
          <p:nvPr/>
        </p:nvSpPr>
        <p:spPr>
          <a:xfrm>
            <a:off x="11521440" y="6473952"/>
            <a:ext cx="548640" cy="274320"/>
          </a:xfrm>
          <a:prstGeom prst="rect">
            <a:avLst/>
          </a:prstGeom>
          <a:noFill/>
          <a:ln/>
        </p:spPr>
        <p:txBody>
          <a:bodyPr wrap="square" lIns="0" tIns="0" rIns="0" bIns="0" rtlCol="0" anchor="ctr"/>
          <a:lstStyle/>
          <a:p>
            <a:pPr marL="0" indent="0" algn="r">
              <a:buNone/>
            </a:pPr>
            <a:r>
              <a:rPr lang="en-US" sz="1000" dirty="0">
                <a:solidFill>
                  <a:srgbClr val="B7BCD0"/>
                </a:solidFill>
                <a:latin typeface="Calibri" pitchFamily="34" charset="0"/>
                <a:ea typeface="Calibri" pitchFamily="34" charset="-122"/>
                <a:cs typeface="Calibri" pitchFamily="34" charset="-120"/>
              </a:rPr>
              <a:t>03</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457200" y="457200"/>
            <a:ext cx="201168" cy="201168"/>
          </a:xfrm>
          <a:prstGeom prst="pie">
            <a:avLst>
              <a:gd name="adj1" fmla="val 16200000"/>
              <a:gd name="adj2" fmla="val 5400000"/>
            </a:avLst>
          </a:prstGeom>
          <a:solidFill>
            <a:srgbClr val="E4572E"/>
          </a:solidFill>
          <a:ln/>
        </p:spPr>
        <p:txBody>
          <a:bodyPr/>
          <a:lstStyle/>
          <a:p>
            <a:endParaRPr lang="el-GR"/>
          </a:p>
        </p:txBody>
      </p:sp>
      <p:sp>
        <p:nvSpPr>
          <p:cNvPr id="3" name="Shape 1"/>
          <p:cNvSpPr/>
          <p:nvPr/>
        </p:nvSpPr>
        <p:spPr>
          <a:xfrm>
            <a:off x="457200" y="457200"/>
            <a:ext cx="201168" cy="201168"/>
          </a:xfrm>
          <a:prstGeom prst="pie">
            <a:avLst>
              <a:gd name="adj1" fmla="val 5400000"/>
              <a:gd name="adj2" fmla="val 16200000"/>
            </a:avLst>
          </a:prstGeom>
          <a:solidFill>
            <a:srgbClr val="2F6FED"/>
          </a:solidFill>
          <a:ln/>
        </p:spPr>
        <p:txBody>
          <a:bodyPr/>
          <a:lstStyle/>
          <a:p>
            <a:endParaRPr lang="el-GR"/>
          </a:p>
        </p:txBody>
      </p:sp>
      <p:sp>
        <p:nvSpPr>
          <p:cNvPr id="4" name="Text 2"/>
          <p:cNvSpPr txBox="1"/>
          <p:nvPr/>
        </p:nvSpPr>
        <p:spPr>
          <a:xfrm>
            <a:off x="777240" y="384048"/>
            <a:ext cx="7315200" cy="320040"/>
          </a:xfrm>
          <a:prstGeom prst="rect">
            <a:avLst/>
          </a:prstGeom>
          <a:noFill/>
          <a:ln/>
        </p:spPr>
        <p:txBody>
          <a:bodyPr wrap="square" lIns="0" tIns="0" rIns="0" bIns="0" rtlCol="0" anchor="ctr"/>
          <a:lstStyle/>
          <a:p>
            <a:pPr marL="0" indent="0">
              <a:buNone/>
            </a:pPr>
            <a:r>
              <a:rPr lang="en-US" sz="1100" b="1" kern="0" spc="200" dirty="0">
                <a:solidFill>
                  <a:srgbClr val="6B7280"/>
                </a:solidFill>
                <a:latin typeface="Calibri" pitchFamily="34" charset="0"/>
                <a:ea typeface="Calibri" pitchFamily="34" charset="-122"/>
                <a:cs typeface="Calibri" pitchFamily="34" charset="-120"/>
              </a:rPr>
              <a:t>CORE IDEA</a:t>
            </a:r>
            <a:endParaRPr lang="en-US" sz="1100" dirty="0"/>
          </a:p>
        </p:txBody>
      </p:sp>
      <p:sp>
        <p:nvSpPr>
          <p:cNvPr id="5" name="Text 3"/>
          <p:cNvSpPr txBox="1"/>
          <p:nvPr/>
        </p:nvSpPr>
        <p:spPr>
          <a:xfrm>
            <a:off x="457200" y="713232"/>
            <a:ext cx="11247120" cy="777240"/>
          </a:xfrm>
          <a:prstGeom prst="rect">
            <a:avLst/>
          </a:prstGeom>
          <a:noFill/>
          <a:ln/>
        </p:spPr>
        <p:txBody>
          <a:bodyPr wrap="square" lIns="0" tIns="0" rIns="0" bIns="0" rtlCol="0" anchor="ctr"/>
          <a:lstStyle/>
          <a:p>
            <a:pPr marL="0" indent="0">
              <a:buNone/>
            </a:pPr>
            <a:r>
              <a:rPr lang="en-US" sz="3600" b="1" dirty="0">
                <a:solidFill>
                  <a:srgbClr val="1B1F3B"/>
                </a:solidFill>
                <a:latin typeface="Cambria" pitchFamily="34" charset="0"/>
                <a:ea typeface="Cambria" pitchFamily="34" charset="-122"/>
                <a:cs typeface="Cambria" pitchFamily="34" charset="-120"/>
              </a:rPr>
              <a:t>Split along the traits that divide opinion</a:t>
            </a:r>
            <a:endParaRPr lang="en-US" sz="3600" dirty="0"/>
          </a:p>
        </p:txBody>
      </p:sp>
      <p:sp>
        <p:nvSpPr>
          <p:cNvPr id="6" name="Text 4"/>
          <p:cNvSpPr txBox="1"/>
          <p:nvPr/>
        </p:nvSpPr>
        <p:spPr>
          <a:xfrm>
            <a:off x="487680" y="1257300"/>
            <a:ext cx="9144000" cy="365760"/>
          </a:xfrm>
          <a:prstGeom prst="rect">
            <a:avLst/>
          </a:prstGeom>
          <a:noFill/>
          <a:ln/>
        </p:spPr>
        <p:txBody>
          <a:bodyPr wrap="square" lIns="0" tIns="0" rIns="0" bIns="0" rtlCol="0" anchor="ctr"/>
          <a:lstStyle/>
          <a:p>
            <a:pPr marL="0" indent="0">
              <a:buNone/>
            </a:pPr>
            <a:r>
              <a:rPr lang="en-US" sz="1300" i="1" dirty="0">
                <a:solidFill>
                  <a:srgbClr val="6B7280"/>
                </a:solidFill>
                <a:latin typeface="Calibri" pitchFamily="34" charset="0"/>
                <a:ea typeface="Calibri" pitchFamily="34" charset="-122"/>
                <a:cs typeface="Calibri" pitchFamily="34" charset="-120"/>
              </a:rPr>
              <a:t>Example tree — “Women should not be allowed in leadership positions.”</a:t>
            </a:r>
            <a:endParaRPr lang="en-US" sz="1300" dirty="0"/>
          </a:p>
        </p:txBody>
      </p:sp>
      <p:sp>
        <p:nvSpPr>
          <p:cNvPr id="7" name="Shape 5"/>
          <p:cNvSpPr/>
          <p:nvPr/>
        </p:nvSpPr>
        <p:spPr>
          <a:xfrm>
            <a:off x="4434840" y="1979676"/>
            <a:ext cx="1874520" cy="640080"/>
          </a:xfrm>
          <a:prstGeom prst="roundRect">
            <a:avLst>
              <a:gd name="adj" fmla="val 8571"/>
            </a:avLst>
          </a:prstGeom>
          <a:solidFill>
            <a:srgbClr val="1B1F3B"/>
          </a:solidFill>
          <a:ln/>
        </p:spPr>
        <p:txBody>
          <a:bodyPr/>
          <a:lstStyle/>
          <a:p>
            <a:endParaRPr lang="el-GR"/>
          </a:p>
        </p:txBody>
      </p:sp>
      <p:sp>
        <p:nvSpPr>
          <p:cNvPr id="8" name="Text 6"/>
          <p:cNvSpPr txBox="1"/>
          <p:nvPr/>
        </p:nvSpPr>
        <p:spPr>
          <a:xfrm>
            <a:off x="4434840" y="1979676"/>
            <a:ext cx="1874520" cy="640080"/>
          </a:xfrm>
          <a:prstGeom prst="rect">
            <a:avLst/>
          </a:prstGeom>
          <a:noFill/>
          <a:ln/>
        </p:spPr>
        <p:txBody>
          <a:bodyPr wrap="square" lIns="0" tIns="0" rIns="0" bIns="0" rtlCol="0" anchor="ctr"/>
          <a:lstStyle/>
          <a:p>
            <a:pPr marL="0" indent="0" algn="ctr">
              <a:buNone/>
            </a:pPr>
            <a:r>
              <a:rPr lang="en-US" sz="1100" dirty="0">
                <a:solidFill>
                  <a:srgbClr val="FFFFFF"/>
                </a:solidFill>
                <a:latin typeface="Calibri" pitchFamily="34" charset="0"/>
                <a:ea typeface="Calibri" pitchFamily="34" charset="-122"/>
                <a:cs typeface="Calibri" pitchFamily="34" charset="-120"/>
              </a:rPr>
              <a:t>all annotators</a:t>
            </a:r>
            <a:endParaRPr lang="en-US" sz="1100" dirty="0"/>
          </a:p>
        </p:txBody>
      </p:sp>
      <p:sp>
        <p:nvSpPr>
          <p:cNvPr id="9" name="Shape 7"/>
          <p:cNvSpPr/>
          <p:nvPr/>
        </p:nvSpPr>
        <p:spPr>
          <a:xfrm flipH="1">
            <a:off x="2811780" y="2619756"/>
            <a:ext cx="2560320" cy="457200"/>
          </a:xfrm>
          <a:prstGeom prst="line">
            <a:avLst/>
          </a:prstGeom>
          <a:noFill/>
          <a:ln w="19050">
            <a:solidFill>
              <a:srgbClr val="DDE1EE"/>
            </a:solidFill>
            <a:prstDash val="solid"/>
          </a:ln>
        </p:spPr>
        <p:txBody>
          <a:bodyPr/>
          <a:lstStyle/>
          <a:p>
            <a:endParaRPr lang="el-GR"/>
          </a:p>
        </p:txBody>
      </p:sp>
      <p:sp>
        <p:nvSpPr>
          <p:cNvPr id="10" name="Shape 8"/>
          <p:cNvSpPr/>
          <p:nvPr/>
        </p:nvSpPr>
        <p:spPr>
          <a:xfrm>
            <a:off x="5372100" y="2619756"/>
            <a:ext cx="2011680" cy="457200"/>
          </a:xfrm>
          <a:prstGeom prst="line">
            <a:avLst/>
          </a:prstGeom>
          <a:noFill/>
          <a:ln w="19050">
            <a:solidFill>
              <a:srgbClr val="DDE1EE"/>
            </a:solidFill>
            <a:prstDash val="solid"/>
          </a:ln>
        </p:spPr>
        <p:txBody>
          <a:bodyPr/>
          <a:lstStyle/>
          <a:p>
            <a:endParaRPr lang="el-GR"/>
          </a:p>
        </p:txBody>
      </p:sp>
      <p:sp>
        <p:nvSpPr>
          <p:cNvPr id="11" name="Text 9"/>
          <p:cNvSpPr txBox="1"/>
          <p:nvPr/>
        </p:nvSpPr>
        <p:spPr>
          <a:xfrm>
            <a:off x="4366260" y="2692908"/>
            <a:ext cx="2011680" cy="274320"/>
          </a:xfrm>
          <a:prstGeom prst="rect">
            <a:avLst/>
          </a:prstGeom>
          <a:noFill/>
          <a:ln/>
        </p:spPr>
        <p:txBody>
          <a:bodyPr wrap="square" lIns="0" tIns="0" rIns="0" bIns="0" rtlCol="0" anchor="ctr"/>
          <a:lstStyle/>
          <a:p>
            <a:pPr marL="0" indent="0" algn="ctr">
              <a:buNone/>
            </a:pPr>
            <a:r>
              <a:rPr lang="en-US" sz="1050" i="1" dirty="0">
                <a:solidFill>
                  <a:srgbClr val="6B7280"/>
                </a:solidFill>
                <a:latin typeface="Calibri" pitchFamily="34" charset="0"/>
                <a:ea typeface="Calibri" pitchFamily="34" charset="-122"/>
                <a:cs typeface="Calibri" pitchFamily="34" charset="-120"/>
              </a:rPr>
              <a:t>split: gender</a:t>
            </a:r>
            <a:endParaRPr lang="en-US" sz="1050" dirty="0"/>
          </a:p>
        </p:txBody>
      </p:sp>
      <p:sp>
        <p:nvSpPr>
          <p:cNvPr id="12" name="Shape 10"/>
          <p:cNvSpPr/>
          <p:nvPr/>
        </p:nvSpPr>
        <p:spPr>
          <a:xfrm>
            <a:off x="1874520" y="3076956"/>
            <a:ext cx="1874520" cy="640080"/>
          </a:xfrm>
          <a:prstGeom prst="roundRect">
            <a:avLst>
              <a:gd name="adj" fmla="val 8571"/>
            </a:avLst>
          </a:prstGeom>
          <a:solidFill>
            <a:srgbClr val="2F6FED"/>
          </a:solidFill>
          <a:ln/>
        </p:spPr>
        <p:txBody>
          <a:bodyPr/>
          <a:lstStyle/>
          <a:p>
            <a:endParaRPr lang="el-GR"/>
          </a:p>
        </p:txBody>
      </p:sp>
      <p:sp>
        <p:nvSpPr>
          <p:cNvPr id="13" name="Text 11"/>
          <p:cNvSpPr txBox="1"/>
          <p:nvPr/>
        </p:nvSpPr>
        <p:spPr>
          <a:xfrm>
            <a:off x="1874520" y="3076956"/>
            <a:ext cx="1874520" cy="640080"/>
          </a:xfrm>
          <a:prstGeom prst="rect">
            <a:avLst/>
          </a:prstGeom>
          <a:solidFill>
            <a:schemeClr val="accent2"/>
          </a:solidFill>
          <a:ln/>
        </p:spPr>
        <p:txBody>
          <a:bodyPr wrap="square" lIns="0" tIns="0" rIns="0" bIns="0" rtlCol="0" anchor="ctr"/>
          <a:lstStyle/>
          <a:p>
            <a:pPr marL="0" indent="0" algn="ctr">
              <a:buNone/>
            </a:pPr>
            <a:r>
              <a:rPr lang="en-US" sz="1100" dirty="0">
                <a:solidFill>
                  <a:srgbClr val="FFFFFF"/>
                </a:solidFill>
                <a:latin typeface="Calibri" pitchFamily="34" charset="0"/>
                <a:ea typeface="Calibri" pitchFamily="34" charset="-122"/>
                <a:cs typeface="Calibri" pitchFamily="34" charset="-120"/>
              </a:rPr>
              <a:t>women</a:t>
            </a:r>
            <a:endParaRPr lang="en-US" sz="1100" dirty="0"/>
          </a:p>
          <a:p>
            <a:pPr marL="0" indent="0" algn="ctr">
              <a:buNone/>
            </a:pPr>
            <a:r>
              <a:rPr lang="en-US" sz="1100" dirty="0">
                <a:solidFill>
                  <a:srgbClr val="FFFFFF"/>
                </a:solidFill>
                <a:latin typeface="Calibri" pitchFamily="34" charset="0"/>
                <a:ea typeface="Calibri" pitchFamily="34" charset="-122"/>
                <a:cs typeface="Calibri" pitchFamily="34" charset="-120"/>
              </a:rPr>
              <a:t>(leaf — toxic)</a:t>
            </a:r>
            <a:endParaRPr lang="en-US" sz="1100" dirty="0"/>
          </a:p>
        </p:txBody>
      </p:sp>
      <p:sp>
        <p:nvSpPr>
          <p:cNvPr id="14" name="Shape 12"/>
          <p:cNvSpPr/>
          <p:nvPr/>
        </p:nvSpPr>
        <p:spPr>
          <a:xfrm>
            <a:off x="6446520" y="3076956"/>
            <a:ext cx="1874520" cy="640080"/>
          </a:xfrm>
          <a:prstGeom prst="roundRect">
            <a:avLst>
              <a:gd name="adj" fmla="val 8571"/>
            </a:avLst>
          </a:prstGeom>
          <a:solidFill>
            <a:srgbClr val="F1F3FA"/>
          </a:solidFill>
          <a:ln w="12700">
            <a:solidFill>
              <a:srgbClr val="DDE1EE"/>
            </a:solidFill>
            <a:prstDash val="solid"/>
          </a:ln>
        </p:spPr>
        <p:txBody>
          <a:bodyPr/>
          <a:lstStyle/>
          <a:p>
            <a:endParaRPr lang="el-GR"/>
          </a:p>
        </p:txBody>
      </p:sp>
      <p:sp>
        <p:nvSpPr>
          <p:cNvPr id="15" name="Text 13"/>
          <p:cNvSpPr txBox="1"/>
          <p:nvPr/>
        </p:nvSpPr>
        <p:spPr>
          <a:xfrm>
            <a:off x="6446520" y="3076956"/>
            <a:ext cx="1874520" cy="640080"/>
          </a:xfrm>
          <a:prstGeom prst="rect">
            <a:avLst/>
          </a:prstGeom>
          <a:noFill/>
          <a:ln/>
        </p:spPr>
        <p:txBody>
          <a:bodyPr wrap="square" lIns="0" tIns="0" rIns="0" bIns="0" rtlCol="0" anchor="ctr"/>
          <a:lstStyle/>
          <a:p>
            <a:pPr marL="0" indent="0" algn="ctr">
              <a:buNone/>
            </a:pPr>
            <a:r>
              <a:rPr lang="en-US" sz="1100" dirty="0">
                <a:solidFill>
                  <a:srgbClr val="1B1F3B"/>
                </a:solidFill>
                <a:latin typeface="Calibri" pitchFamily="34" charset="0"/>
                <a:ea typeface="Calibri" pitchFamily="34" charset="-122"/>
                <a:cs typeface="Calibri" pitchFamily="34" charset="-120"/>
              </a:rPr>
              <a:t>men</a:t>
            </a:r>
            <a:endParaRPr lang="en-US" sz="1100" dirty="0"/>
          </a:p>
          <a:p>
            <a:pPr marL="0" indent="0" algn="ctr">
              <a:buNone/>
            </a:pPr>
            <a:r>
              <a:rPr lang="en-US" sz="1100" dirty="0">
                <a:solidFill>
                  <a:srgbClr val="1B1F3B"/>
                </a:solidFill>
                <a:latin typeface="Calibri" pitchFamily="34" charset="0"/>
                <a:ea typeface="Calibri" pitchFamily="34" charset="-122"/>
                <a:cs typeface="Calibri" pitchFamily="34" charset="-120"/>
              </a:rPr>
              <a:t>(still polarized)</a:t>
            </a:r>
            <a:endParaRPr lang="en-US" sz="1100" dirty="0"/>
          </a:p>
        </p:txBody>
      </p:sp>
      <p:sp>
        <p:nvSpPr>
          <p:cNvPr id="16" name="Shape 14"/>
          <p:cNvSpPr/>
          <p:nvPr/>
        </p:nvSpPr>
        <p:spPr>
          <a:xfrm flipH="1">
            <a:off x="6195060" y="3717036"/>
            <a:ext cx="1188720" cy="365760"/>
          </a:xfrm>
          <a:prstGeom prst="line">
            <a:avLst/>
          </a:prstGeom>
          <a:noFill/>
          <a:ln w="19050">
            <a:solidFill>
              <a:srgbClr val="DDE1EE"/>
            </a:solidFill>
            <a:prstDash val="solid"/>
          </a:ln>
        </p:spPr>
        <p:txBody>
          <a:bodyPr/>
          <a:lstStyle/>
          <a:p>
            <a:endParaRPr lang="el-GR"/>
          </a:p>
        </p:txBody>
      </p:sp>
      <p:sp>
        <p:nvSpPr>
          <p:cNvPr id="17" name="Shape 15"/>
          <p:cNvSpPr/>
          <p:nvPr/>
        </p:nvSpPr>
        <p:spPr>
          <a:xfrm>
            <a:off x="7383780" y="3717036"/>
            <a:ext cx="1463040" cy="365760"/>
          </a:xfrm>
          <a:prstGeom prst="line">
            <a:avLst/>
          </a:prstGeom>
          <a:noFill/>
          <a:ln w="19050">
            <a:solidFill>
              <a:srgbClr val="DDE1EE"/>
            </a:solidFill>
            <a:prstDash val="solid"/>
          </a:ln>
        </p:spPr>
        <p:txBody>
          <a:bodyPr/>
          <a:lstStyle/>
          <a:p>
            <a:endParaRPr lang="el-GR"/>
          </a:p>
        </p:txBody>
      </p:sp>
      <p:sp>
        <p:nvSpPr>
          <p:cNvPr id="18" name="Text 16"/>
          <p:cNvSpPr txBox="1"/>
          <p:nvPr/>
        </p:nvSpPr>
        <p:spPr>
          <a:xfrm>
            <a:off x="6880860" y="3790188"/>
            <a:ext cx="2011680" cy="274320"/>
          </a:xfrm>
          <a:prstGeom prst="rect">
            <a:avLst/>
          </a:prstGeom>
          <a:noFill/>
          <a:ln/>
        </p:spPr>
        <p:txBody>
          <a:bodyPr wrap="square" lIns="0" tIns="0" rIns="0" bIns="0" rtlCol="0" anchor="ctr"/>
          <a:lstStyle/>
          <a:p>
            <a:pPr marL="0" indent="0" algn="ctr">
              <a:buNone/>
            </a:pPr>
            <a:r>
              <a:rPr lang="en-US" sz="1050" i="1" dirty="0">
                <a:solidFill>
                  <a:srgbClr val="6B7280"/>
                </a:solidFill>
                <a:latin typeface="Calibri" pitchFamily="34" charset="0"/>
                <a:ea typeface="Calibri" pitchFamily="34" charset="-122"/>
                <a:cs typeface="Calibri" pitchFamily="34" charset="-120"/>
              </a:rPr>
              <a:t>split: orientation</a:t>
            </a:r>
            <a:endParaRPr lang="en-US" sz="1050" dirty="0"/>
          </a:p>
        </p:txBody>
      </p:sp>
      <p:sp>
        <p:nvSpPr>
          <p:cNvPr id="19" name="Shape 17"/>
          <p:cNvSpPr/>
          <p:nvPr/>
        </p:nvSpPr>
        <p:spPr>
          <a:xfrm>
            <a:off x="5257800" y="4082796"/>
            <a:ext cx="1874520" cy="640080"/>
          </a:xfrm>
          <a:prstGeom prst="roundRect">
            <a:avLst>
              <a:gd name="adj" fmla="val 8571"/>
            </a:avLst>
          </a:prstGeom>
          <a:solidFill>
            <a:srgbClr val="F1F3FA"/>
          </a:solidFill>
          <a:ln w="12700">
            <a:solidFill>
              <a:srgbClr val="DDE1EE"/>
            </a:solidFill>
            <a:prstDash val="solid"/>
          </a:ln>
        </p:spPr>
        <p:txBody>
          <a:bodyPr/>
          <a:lstStyle/>
          <a:p>
            <a:endParaRPr lang="el-GR"/>
          </a:p>
        </p:txBody>
      </p:sp>
      <p:sp>
        <p:nvSpPr>
          <p:cNvPr id="20" name="Text 18"/>
          <p:cNvSpPr txBox="1"/>
          <p:nvPr/>
        </p:nvSpPr>
        <p:spPr>
          <a:xfrm>
            <a:off x="5257800" y="4082796"/>
            <a:ext cx="1874520" cy="640080"/>
          </a:xfrm>
          <a:prstGeom prst="rect">
            <a:avLst/>
          </a:prstGeom>
          <a:noFill/>
          <a:ln/>
        </p:spPr>
        <p:txBody>
          <a:bodyPr wrap="square" lIns="0" tIns="0" rIns="0" bIns="0" rtlCol="0" anchor="ctr"/>
          <a:lstStyle/>
          <a:p>
            <a:pPr marL="0" indent="0" algn="ctr">
              <a:buNone/>
            </a:pPr>
            <a:r>
              <a:rPr lang="en-US" sz="1100" dirty="0">
                <a:solidFill>
                  <a:srgbClr val="1B1F3B"/>
                </a:solidFill>
                <a:latin typeface="Calibri" pitchFamily="34" charset="0"/>
                <a:ea typeface="Calibri" pitchFamily="34" charset="-122"/>
                <a:cs typeface="Calibri" pitchFamily="34" charset="-120"/>
              </a:rPr>
              <a:t>LGBTQ+</a:t>
            </a:r>
            <a:endParaRPr lang="en-US" sz="1100" dirty="0"/>
          </a:p>
          <a:p>
            <a:pPr marL="0" indent="0" algn="ctr">
              <a:buNone/>
            </a:pPr>
            <a:r>
              <a:rPr lang="en-US" sz="1100" dirty="0">
                <a:solidFill>
                  <a:srgbClr val="1B1F3B"/>
                </a:solidFill>
                <a:latin typeface="Calibri" pitchFamily="34" charset="0"/>
                <a:ea typeface="Calibri" pitchFamily="34" charset="-122"/>
                <a:cs typeface="Calibri" pitchFamily="34" charset="-120"/>
              </a:rPr>
              <a:t>(still polarized)</a:t>
            </a:r>
            <a:endParaRPr lang="en-US" sz="1100" dirty="0"/>
          </a:p>
        </p:txBody>
      </p:sp>
      <p:sp>
        <p:nvSpPr>
          <p:cNvPr id="21" name="Shape 19"/>
          <p:cNvSpPr/>
          <p:nvPr/>
        </p:nvSpPr>
        <p:spPr>
          <a:xfrm>
            <a:off x="7909560" y="4082796"/>
            <a:ext cx="1874520" cy="640080"/>
          </a:xfrm>
          <a:prstGeom prst="roundRect">
            <a:avLst>
              <a:gd name="adj" fmla="val 8571"/>
            </a:avLst>
          </a:prstGeom>
          <a:solidFill>
            <a:srgbClr val="E4572E"/>
          </a:solidFill>
          <a:ln/>
        </p:spPr>
        <p:txBody>
          <a:bodyPr/>
          <a:lstStyle/>
          <a:p>
            <a:endParaRPr lang="el-GR"/>
          </a:p>
        </p:txBody>
      </p:sp>
      <p:sp>
        <p:nvSpPr>
          <p:cNvPr id="22" name="Text 20"/>
          <p:cNvSpPr txBox="1"/>
          <p:nvPr/>
        </p:nvSpPr>
        <p:spPr>
          <a:xfrm>
            <a:off x="7909560" y="4082796"/>
            <a:ext cx="1874520" cy="640080"/>
          </a:xfrm>
          <a:prstGeom prst="rect">
            <a:avLst/>
          </a:prstGeom>
          <a:solidFill>
            <a:schemeClr val="accent2"/>
          </a:solidFill>
          <a:ln/>
        </p:spPr>
        <p:txBody>
          <a:bodyPr wrap="square" lIns="0" tIns="0" rIns="0" bIns="0" rtlCol="0" anchor="ctr"/>
          <a:lstStyle/>
          <a:p>
            <a:pPr marL="0" indent="0" algn="ctr">
              <a:buNone/>
            </a:pPr>
            <a:r>
              <a:rPr lang="en-US" sz="1100" dirty="0">
                <a:solidFill>
                  <a:srgbClr val="FFFFFF"/>
                </a:solidFill>
                <a:latin typeface="Calibri" pitchFamily="34" charset="0"/>
                <a:ea typeface="Calibri" pitchFamily="34" charset="-122"/>
                <a:cs typeface="Calibri" pitchFamily="34" charset="-120"/>
              </a:rPr>
              <a:t>non-LGBTQ+</a:t>
            </a:r>
            <a:endParaRPr lang="en-US" sz="1100" dirty="0"/>
          </a:p>
          <a:p>
            <a:pPr marL="0" indent="0" algn="ctr">
              <a:buNone/>
            </a:pPr>
            <a:r>
              <a:rPr lang="en-US" sz="1100" dirty="0">
                <a:solidFill>
                  <a:srgbClr val="FFFFFF"/>
                </a:solidFill>
                <a:latin typeface="Calibri" pitchFamily="34" charset="0"/>
                <a:ea typeface="Calibri" pitchFamily="34" charset="-122"/>
                <a:cs typeface="Calibri" pitchFamily="34" charset="-120"/>
              </a:rPr>
              <a:t>(leaf — toxic)</a:t>
            </a:r>
            <a:endParaRPr lang="en-US" sz="1100" dirty="0"/>
          </a:p>
        </p:txBody>
      </p:sp>
      <p:sp>
        <p:nvSpPr>
          <p:cNvPr id="23" name="Shape 21"/>
          <p:cNvSpPr/>
          <p:nvPr/>
        </p:nvSpPr>
        <p:spPr>
          <a:xfrm flipH="1">
            <a:off x="4777740" y="4722876"/>
            <a:ext cx="1417320" cy="411480"/>
          </a:xfrm>
          <a:prstGeom prst="line">
            <a:avLst/>
          </a:prstGeom>
          <a:noFill/>
          <a:ln w="19050">
            <a:solidFill>
              <a:srgbClr val="DDE1EE"/>
            </a:solidFill>
            <a:prstDash val="solid"/>
          </a:ln>
        </p:spPr>
        <p:txBody>
          <a:bodyPr/>
          <a:lstStyle/>
          <a:p>
            <a:endParaRPr lang="el-GR"/>
          </a:p>
        </p:txBody>
      </p:sp>
      <p:sp>
        <p:nvSpPr>
          <p:cNvPr id="24" name="Shape 22"/>
          <p:cNvSpPr/>
          <p:nvPr/>
        </p:nvSpPr>
        <p:spPr>
          <a:xfrm>
            <a:off x="6195060" y="4722876"/>
            <a:ext cx="0" cy="411480"/>
          </a:xfrm>
          <a:prstGeom prst="line">
            <a:avLst/>
          </a:prstGeom>
          <a:noFill/>
          <a:ln w="19050">
            <a:solidFill>
              <a:srgbClr val="DDE1EE"/>
            </a:solidFill>
            <a:prstDash val="solid"/>
          </a:ln>
        </p:spPr>
        <p:txBody>
          <a:bodyPr/>
          <a:lstStyle/>
          <a:p>
            <a:endParaRPr lang="el-GR"/>
          </a:p>
        </p:txBody>
      </p:sp>
      <p:sp>
        <p:nvSpPr>
          <p:cNvPr id="25" name="Shape 23"/>
          <p:cNvSpPr/>
          <p:nvPr/>
        </p:nvSpPr>
        <p:spPr>
          <a:xfrm>
            <a:off x="6195060" y="4722876"/>
            <a:ext cx="1417320" cy="411480"/>
          </a:xfrm>
          <a:prstGeom prst="line">
            <a:avLst/>
          </a:prstGeom>
          <a:noFill/>
          <a:ln w="19050">
            <a:solidFill>
              <a:srgbClr val="DDE1EE"/>
            </a:solidFill>
            <a:prstDash val="solid"/>
          </a:ln>
        </p:spPr>
        <p:txBody>
          <a:bodyPr/>
          <a:lstStyle/>
          <a:p>
            <a:endParaRPr lang="el-GR"/>
          </a:p>
        </p:txBody>
      </p:sp>
      <p:sp>
        <p:nvSpPr>
          <p:cNvPr id="26" name="Text 24"/>
          <p:cNvSpPr txBox="1"/>
          <p:nvPr/>
        </p:nvSpPr>
        <p:spPr>
          <a:xfrm>
            <a:off x="5097780" y="4796028"/>
            <a:ext cx="2011680" cy="274320"/>
          </a:xfrm>
          <a:prstGeom prst="rect">
            <a:avLst/>
          </a:prstGeom>
          <a:noFill/>
          <a:ln/>
        </p:spPr>
        <p:txBody>
          <a:bodyPr wrap="square" lIns="0" tIns="0" rIns="0" bIns="0" rtlCol="0" anchor="ctr"/>
          <a:lstStyle/>
          <a:p>
            <a:pPr marL="0" indent="0" algn="ctr">
              <a:buNone/>
            </a:pPr>
            <a:r>
              <a:rPr lang="en-US" sz="1050" i="1" dirty="0">
                <a:solidFill>
                  <a:srgbClr val="6B7280"/>
                </a:solidFill>
                <a:latin typeface="Calibri" pitchFamily="34" charset="0"/>
                <a:ea typeface="Calibri" pitchFamily="34" charset="-122"/>
                <a:cs typeface="Calibri" pitchFamily="34" charset="-120"/>
              </a:rPr>
              <a:t>split: politics</a:t>
            </a:r>
            <a:endParaRPr lang="en-US" sz="1050" dirty="0"/>
          </a:p>
        </p:txBody>
      </p:sp>
      <p:sp>
        <p:nvSpPr>
          <p:cNvPr id="27" name="Shape 25"/>
          <p:cNvSpPr/>
          <p:nvPr/>
        </p:nvSpPr>
        <p:spPr>
          <a:xfrm>
            <a:off x="4206240" y="5134356"/>
            <a:ext cx="1143000" cy="548640"/>
          </a:xfrm>
          <a:prstGeom prst="roundRect">
            <a:avLst>
              <a:gd name="adj" fmla="val 10000"/>
            </a:avLst>
          </a:prstGeom>
          <a:solidFill>
            <a:srgbClr val="2F6FED"/>
          </a:solidFill>
          <a:ln/>
        </p:spPr>
        <p:txBody>
          <a:bodyPr/>
          <a:lstStyle/>
          <a:p>
            <a:endParaRPr lang="el-GR"/>
          </a:p>
        </p:txBody>
      </p:sp>
      <p:sp>
        <p:nvSpPr>
          <p:cNvPr id="28" name="Text 26"/>
          <p:cNvSpPr txBox="1"/>
          <p:nvPr/>
        </p:nvSpPr>
        <p:spPr>
          <a:xfrm>
            <a:off x="4206240" y="5134356"/>
            <a:ext cx="1143000" cy="548640"/>
          </a:xfrm>
          <a:prstGeom prst="rect">
            <a:avLst/>
          </a:prstGeom>
          <a:noFill/>
          <a:ln/>
        </p:spPr>
        <p:txBody>
          <a:bodyPr wrap="square" lIns="0" tIns="0" rIns="0" bIns="0" rtlCol="0" anchor="ctr"/>
          <a:lstStyle/>
          <a:p>
            <a:pPr marL="0" indent="0" algn="ctr">
              <a:buNone/>
            </a:pPr>
            <a:r>
              <a:rPr lang="en-US" sz="1100" dirty="0">
                <a:solidFill>
                  <a:srgbClr val="FFFFFF"/>
                </a:solidFill>
                <a:latin typeface="Calibri" pitchFamily="34" charset="0"/>
                <a:ea typeface="Calibri" pitchFamily="34" charset="-122"/>
                <a:cs typeface="Calibri" pitchFamily="34" charset="-120"/>
              </a:rPr>
              <a:t>Left</a:t>
            </a:r>
          </a:p>
          <a:p>
            <a:pPr algn="ctr"/>
            <a:r>
              <a:rPr lang="en-US" sz="1100" dirty="0">
                <a:solidFill>
                  <a:srgbClr val="FFFFFF"/>
                </a:solidFill>
                <a:latin typeface="Calibri" pitchFamily="34" charset="0"/>
                <a:ea typeface="Calibri" pitchFamily="34" charset="-122"/>
                <a:cs typeface="Calibri" pitchFamily="34" charset="-120"/>
              </a:rPr>
              <a:t>(leaf — civil)</a:t>
            </a:r>
            <a:endParaRPr lang="en-US" sz="1100" dirty="0"/>
          </a:p>
        </p:txBody>
      </p:sp>
      <p:sp>
        <p:nvSpPr>
          <p:cNvPr id="29" name="Shape 27"/>
          <p:cNvSpPr/>
          <p:nvPr/>
        </p:nvSpPr>
        <p:spPr>
          <a:xfrm>
            <a:off x="5623560" y="5134356"/>
            <a:ext cx="1143000" cy="548640"/>
          </a:xfrm>
          <a:prstGeom prst="roundRect">
            <a:avLst>
              <a:gd name="adj" fmla="val 10000"/>
            </a:avLst>
          </a:prstGeom>
          <a:solidFill>
            <a:srgbClr val="2F6FED"/>
          </a:solidFill>
          <a:ln/>
        </p:spPr>
        <p:txBody>
          <a:bodyPr/>
          <a:lstStyle/>
          <a:p>
            <a:endParaRPr lang="el-GR"/>
          </a:p>
        </p:txBody>
      </p:sp>
      <p:sp>
        <p:nvSpPr>
          <p:cNvPr id="30" name="Text 28"/>
          <p:cNvSpPr txBox="1"/>
          <p:nvPr/>
        </p:nvSpPr>
        <p:spPr>
          <a:xfrm>
            <a:off x="5623560" y="5134356"/>
            <a:ext cx="1143000" cy="548640"/>
          </a:xfrm>
          <a:prstGeom prst="rect">
            <a:avLst/>
          </a:prstGeom>
          <a:noFill/>
          <a:ln/>
        </p:spPr>
        <p:txBody>
          <a:bodyPr wrap="square" lIns="0" tIns="0" rIns="0" bIns="0" rtlCol="0" anchor="ctr"/>
          <a:lstStyle/>
          <a:p>
            <a:pPr marL="0" indent="0" algn="ctr">
              <a:buNone/>
            </a:pPr>
            <a:r>
              <a:rPr lang="en-US" sz="1100" dirty="0">
                <a:solidFill>
                  <a:srgbClr val="FFFFFF"/>
                </a:solidFill>
                <a:latin typeface="Calibri" pitchFamily="34" charset="0"/>
                <a:ea typeface="Calibri" pitchFamily="34" charset="-122"/>
                <a:cs typeface="Calibri" pitchFamily="34" charset="-120"/>
              </a:rPr>
              <a:t>Center</a:t>
            </a:r>
          </a:p>
          <a:p>
            <a:pPr algn="ctr"/>
            <a:r>
              <a:rPr lang="en-US" sz="1100" dirty="0">
                <a:solidFill>
                  <a:srgbClr val="FFFFFF"/>
                </a:solidFill>
                <a:latin typeface="Calibri" pitchFamily="34" charset="0"/>
                <a:ea typeface="Calibri" pitchFamily="34" charset="-122"/>
                <a:cs typeface="Calibri" pitchFamily="34" charset="-120"/>
              </a:rPr>
              <a:t>(leaf — civil)</a:t>
            </a:r>
            <a:endParaRPr lang="en-US" sz="1100" dirty="0"/>
          </a:p>
        </p:txBody>
      </p:sp>
      <p:sp>
        <p:nvSpPr>
          <p:cNvPr id="31" name="Shape 29"/>
          <p:cNvSpPr/>
          <p:nvPr/>
        </p:nvSpPr>
        <p:spPr>
          <a:xfrm>
            <a:off x="7040880" y="5134356"/>
            <a:ext cx="1143000" cy="548640"/>
          </a:xfrm>
          <a:prstGeom prst="roundRect">
            <a:avLst>
              <a:gd name="adj" fmla="val 10000"/>
            </a:avLst>
          </a:prstGeom>
          <a:solidFill>
            <a:srgbClr val="E4572E"/>
          </a:solidFill>
          <a:ln/>
        </p:spPr>
        <p:txBody>
          <a:bodyPr/>
          <a:lstStyle/>
          <a:p>
            <a:endParaRPr lang="el-GR"/>
          </a:p>
        </p:txBody>
      </p:sp>
      <p:sp>
        <p:nvSpPr>
          <p:cNvPr id="32" name="Text 30"/>
          <p:cNvSpPr txBox="1"/>
          <p:nvPr/>
        </p:nvSpPr>
        <p:spPr>
          <a:xfrm>
            <a:off x="7040880" y="5134356"/>
            <a:ext cx="1143000" cy="548640"/>
          </a:xfrm>
          <a:prstGeom prst="rect">
            <a:avLst/>
          </a:prstGeom>
          <a:solidFill>
            <a:schemeClr val="accent2"/>
          </a:solidFill>
          <a:ln/>
        </p:spPr>
        <p:txBody>
          <a:bodyPr wrap="square" lIns="0" tIns="0" rIns="0" bIns="0" rtlCol="0" anchor="ctr"/>
          <a:lstStyle/>
          <a:p>
            <a:pPr marL="0" indent="0" algn="ctr">
              <a:buNone/>
            </a:pPr>
            <a:r>
              <a:rPr lang="en-US" sz="1100" dirty="0">
                <a:solidFill>
                  <a:srgbClr val="FFFFFF"/>
                </a:solidFill>
                <a:latin typeface="Calibri" pitchFamily="34" charset="0"/>
                <a:ea typeface="Calibri" pitchFamily="34" charset="-122"/>
                <a:cs typeface="Calibri" pitchFamily="34" charset="-120"/>
              </a:rPr>
              <a:t>Right</a:t>
            </a:r>
          </a:p>
          <a:p>
            <a:pPr algn="ctr"/>
            <a:r>
              <a:rPr lang="en-US" sz="1100" dirty="0">
                <a:solidFill>
                  <a:srgbClr val="FFFFFF"/>
                </a:solidFill>
                <a:latin typeface="Calibri" pitchFamily="34" charset="0"/>
                <a:ea typeface="Calibri" pitchFamily="34" charset="-122"/>
                <a:cs typeface="Calibri" pitchFamily="34" charset="-120"/>
              </a:rPr>
              <a:t>(leaf — toxic)</a:t>
            </a:r>
            <a:endParaRPr lang="en-US" sz="1100" dirty="0"/>
          </a:p>
        </p:txBody>
      </p:sp>
      <p:sp>
        <p:nvSpPr>
          <p:cNvPr id="33" name="Text 31"/>
          <p:cNvSpPr txBox="1"/>
          <p:nvPr/>
        </p:nvSpPr>
        <p:spPr>
          <a:xfrm>
            <a:off x="457200" y="6172200"/>
            <a:ext cx="11247120" cy="457200"/>
          </a:xfrm>
          <a:prstGeom prst="rect">
            <a:avLst/>
          </a:prstGeom>
          <a:noFill/>
          <a:ln/>
        </p:spPr>
        <p:txBody>
          <a:bodyPr wrap="square" lIns="0" tIns="0" rIns="0" bIns="0" rtlCol="0" anchor="ctr"/>
          <a:lstStyle/>
          <a:p>
            <a:pPr marL="0" indent="0">
              <a:buNone/>
            </a:pPr>
            <a:r>
              <a:rPr lang="en-US" sz="1150" i="1" dirty="0">
                <a:solidFill>
                  <a:srgbClr val="6B7280"/>
                </a:solidFill>
                <a:latin typeface="Calibri" pitchFamily="34" charset="0"/>
                <a:ea typeface="Calibri" pitchFamily="34" charset="-122"/>
                <a:cs typeface="Calibri" pitchFamily="34" charset="-120"/>
              </a:rPr>
              <a:t>Each split is chosen to explain the polarization that remains; used dimensions drop out along that branch; recursion stops when no meaningful separation is left.</a:t>
            </a:r>
            <a:endParaRPr lang="en-US" sz="1150" dirty="0"/>
          </a:p>
        </p:txBody>
      </p:sp>
      <p:sp>
        <p:nvSpPr>
          <p:cNvPr id="34" name="Text 32"/>
          <p:cNvSpPr txBox="1"/>
          <p:nvPr/>
        </p:nvSpPr>
        <p:spPr>
          <a:xfrm>
            <a:off x="11521440" y="6473952"/>
            <a:ext cx="548640" cy="274320"/>
          </a:xfrm>
          <a:prstGeom prst="rect">
            <a:avLst/>
          </a:prstGeom>
          <a:noFill/>
          <a:ln/>
        </p:spPr>
        <p:txBody>
          <a:bodyPr wrap="square" lIns="0" tIns="0" rIns="0" bIns="0" rtlCol="0" anchor="ctr"/>
          <a:lstStyle/>
          <a:p>
            <a:pPr marL="0" indent="0" algn="r">
              <a:buNone/>
            </a:pPr>
            <a:r>
              <a:rPr lang="en-US" sz="1000" dirty="0">
                <a:solidFill>
                  <a:srgbClr val="B7BCD0"/>
                </a:solidFill>
                <a:latin typeface="Calibri" pitchFamily="34" charset="0"/>
                <a:ea typeface="Calibri" pitchFamily="34" charset="-122"/>
                <a:cs typeface="Calibri" pitchFamily="34" charset="-120"/>
              </a:rPr>
              <a:t>04</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457200" y="457200"/>
            <a:ext cx="201168" cy="201168"/>
          </a:xfrm>
          <a:prstGeom prst="pie">
            <a:avLst>
              <a:gd name="adj1" fmla="val 16200000"/>
              <a:gd name="adj2" fmla="val 5400000"/>
            </a:avLst>
          </a:prstGeom>
          <a:solidFill>
            <a:srgbClr val="E4572E"/>
          </a:solidFill>
          <a:ln/>
        </p:spPr>
        <p:txBody>
          <a:bodyPr/>
          <a:lstStyle/>
          <a:p>
            <a:endParaRPr lang="el-GR"/>
          </a:p>
        </p:txBody>
      </p:sp>
      <p:sp>
        <p:nvSpPr>
          <p:cNvPr id="3" name="Shape 1"/>
          <p:cNvSpPr/>
          <p:nvPr/>
        </p:nvSpPr>
        <p:spPr>
          <a:xfrm>
            <a:off x="457200" y="457200"/>
            <a:ext cx="201168" cy="201168"/>
          </a:xfrm>
          <a:prstGeom prst="pie">
            <a:avLst>
              <a:gd name="adj1" fmla="val 5400000"/>
              <a:gd name="adj2" fmla="val 16200000"/>
            </a:avLst>
          </a:prstGeom>
          <a:solidFill>
            <a:srgbClr val="2F6FED"/>
          </a:solidFill>
          <a:ln/>
        </p:spPr>
        <p:txBody>
          <a:bodyPr/>
          <a:lstStyle/>
          <a:p>
            <a:endParaRPr lang="el-GR"/>
          </a:p>
        </p:txBody>
      </p:sp>
      <p:sp>
        <p:nvSpPr>
          <p:cNvPr id="4" name="Text 2"/>
          <p:cNvSpPr txBox="1"/>
          <p:nvPr/>
        </p:nvSpPr>
        <p:spPr>
          <a:xfrm>
            <a:off x="777240" y="365760"/>
            <a:ext cx="8229600" cy="320040"/>
          </a:xfrm>
          <a:prstGeom prst="rect">
            <a:avLst/>
          </a:prstGeom>
          <a:noFill/>
          <a:ln/>
        </p:spPr>
        <p:txBody>
          <a:bodyPr wrap="square" lIns="0" tIns="0" rIns="0" bIns="0" rtlCol="0" anchor="ctr"/>
          <a:lstStyle/>
          <a:p>
            <a:pPr marL="0" indent="0">
              <a:buNone/>
            </a:pPr>
            <a:r>
              <a:rPr lang="en-US" sz="1200" b="1" kern="0" spc="200" dirty="0">
                <a:solidFill>
                  <a:srgbClr val="6B7280"/>
                </a:solidFill>
                <a:latin typeface="Calibri" pitchFamily="34" charset="0"/>
                <a:ea typeface="Calibri" pitchFamily="34" charset="-122"/>
                <a:cs typeface="Calibri" pitchFamily="34" charset="-120"/>
              </a:rPr>
              <a:t>RELATED WORK</a:t>
            </a:r>
            <a:endParaRPr lang="en-US" sz="1200" dirty="0"/>
          </a:p>
        </p:txBody>
      </p:sp>
      <p:sp>
        <p:nvSpPr>
          <p:cNvPr id="5" name="Text 3"/>
          <p:cNvSpPr txBox="1"/>
          <p:nvPr/>
        </p:nvSpPr>
        <p:spPr>
          <a:xfrm>
            <a:off x="457200" y="685800"/>
            <a:ext cx="11247120" cy="868680"/>
          </a:xfrm>
          <a:prstGeom prst="rect">
            <a:avLst/>
          </a:prstGeom>
          <a:noFill/>
          <a:ln/>
        </p:spPr>
        <p:txBody>
          <a:bodyPr wrap="square" lIns="0" tIns="0" rIns="0" bIns="0" rtlCol="0" anchor="ctr"/>
          <a:lstStyle/>
          <a:p>
            <a:pPr marL="0" indent="0">
              <a:buNone/>
            </a:pPr>
            <a:r>
              <a:rPr lang="en-US" sz="3600" b="1" dirty="0">
                <a:solidFill>
                  <a:srgbClr val="1B1F3B"/>
                </a:solidFill>
                <a:latin typeface="Cambria" pitchFamily="34" charset="0"/>
                <a:ea typeface="Cambria" pitchFamily="34" charset="-122"/>
                <a:cs typeface="Cambria" pitchFamily="34" charset="-120"/>
              </a:rPr>
              <a:t>Exactly why previous methods falls short</a:t>
            </a:r>
            <a:endParaRPr lang="en-US" sz="3600" dirty="0"/>
          </a:p>
        </p:txBody>
      </p:sp>
      <p:sp>
        <p:nvSpPr>
          <p:cNvPr id="6" name="Shape 4"/>
          <p:cNvSpPr/>
          <p:nvPr/>
        </p:nvSpPr>
        <p:spPr>
          <a:xfrm>
            <a:off x="457200" y="1783080"/>
            <a:ext cx="5349240" cy="3291840"/>
          </a:xfrm>
          <a:prstGeom prst="roundRect">
            <a:avLst>
              <a:gd name="adj" fmla="val 2222"/>
            </a:avLst>
          </a:prstGeom>
          <a:solidFill>
            <a:srgbClr val="F1F3FA"/>
          </a:solidFill>
          <a:ln/>
        </p:spPr>
        <p:txBody>
          <a:bodyPr/>
          <a:lstStyle/>
          <a:p>
            <a:endParaRPr lang="el-GR"/>
          </a:p>
        </p:txBody>
      </p:sp>
      <p:sp>
        <p:nvSpPr>
          <p:cNvPr id="7" name="Text 5"/>
          <p:cNvSpPr txBox="1"/>
          <p:nvPr/>
        </p:nvSpPr>
        <p:spPr>
          <a:xfrm>
            <a:off x="777240" y="2011680"/>
            <a:ext cx="4754880" cy="502920"/>
          </a:xfrm>
          <a:prstGeom prst="rect">
            <a:avLst/>
          </a:prstGeom>
          <a:noFill/>
          <a:ln/>
        </p:spPr>
        <p:txBody>
          <a:bodyPr wrap="square" lIns="0" tIns="0" rIns="0" bIns="0" rtlCol="0" anchor="ctr"/>
          <a:lstStyle/>
          <a:p>
            <a:pPr marL="0" indent="0">
              <a:buNone/>
            </a:pPr>
            <a:r>
              <a:rPr lang="en-US" sz="2100" b="1" dirty="0">
                <a:solidFill>
                  <a:srgbClr val="1B1F3B"/>
                </a:solidFill>
                <a:latin typeface="Cambria" pitchFamily="34" charset="0"/>
                <a:ea typeface="Cambria" pitchFamily="34" charset="-122"/>
                <a:cs typeface="Cambria" pitchFamily="34" charset="-120"/>
              </a:rPr>
              <a:t>Prior methods</a:t>
            </a:r>
            <a:endParaRPr lang="en-US" sz="2100" dirty="0"/>
          </a:p>
        </p:txBody>
      </p:sp>
      <p:sp>
        <p:nvSpPr>
          <p:cNvPr id="8" name="Text 6"/>
          <p:cNvSpPr txBox="1"/>
          <p:nvPr/>
        </p:nvSpPr>
        <p:spPr>
          <a:xfrm>
            <a:off x="777240" y="2651760"/>
            <a:ext cx="4846320" cy="2286000"/>
          </a:xfrm>
          <a:prstGeom prst="rect">
            <a:avLst/>
          </a:prstGeom>
          <a:noFill/>
          <a:ln/>
        </p:spPr>
        <p:txBody>
          <a:bodyPr wrap="square" lIns="0" tIns="0" rIns="0" bIns="0" rtlCol="0" anchor="ctr"/>
          <a:lstStyle/>
          <a:p>
            <a:pPr marL="342900" indent="-342900">
              <a:spcAft>
                <a:spcPts val="1800"/>
              </a:spcAft>
              <a:buSzPct val="100000"/>
              <a:buChar char="✗"/>
            </a:pPr>
            <a:r>
              <a:rPr lang="en-US" sz="2100" dirty="0">
                <a:solidFill>
                  <a:srgbClr val="1B1F3B"/>
                </a:solidFill>
                <a:latin typeface="Calibri" pitchFamily="34" charset="0"/>
                <a:ea typeface="Calibri" pitchFamily="34" charset="-122"/>
                <a:cs typeface="Calibri" pitchFamily="34" charset="-120"/>
              </a:rPr>
              <a:t>Combinations are not interpreted</a:t>
            </a:r>
            <a:endParaRPr lang="en-US" sz="2100" dirty="0"/>
          </a:p>
          <a:p>
            <a:pPr marL="342900" indent="-342900">
              <a:spcAft>
                <a:spcPts val="1800"/>
              </a:spcAft>
              <a:buSzPct val="100000"/>
              <a:buChar char="✗"/>
            </a:pPr>
            <a:r>
              <a:rPr lang="en-US" sz="2100" dirty="0">
                <a:solidFill>
                  <a:srgbClr val="1B1F3B"/>
                </a:solidFill>
                <a:latin typeface="Calibri" pitchFamily="34" charset="0"/>
                <a:ea typeface="Calibri" pitchFamily="34" charset="-122"/>
                <a:cs typeface="Calibri" pitchFamily="34" charset="-120"/>
              </a:rPr>
              <a:t>Not quantified, binary decision</a:t>
            </a:r>
            <a:endParaRPr lang="en-US" sz="2100" dirty="0"/>
          </a:p>
          <a:p>
            <a:pPr marL="342900" indent="-342900">
              <a:spcAft>
                <a:spcPts val="1800"/>
              </a:spcAft>
              <a:buSzPct val="100000"/>
              <a:buChar char="✗"/>
            </a:pPr>
            <a:r>
              <a:rPr lang="en-US" sz="2100" dirty="0">
                <a:solidFill>
                  <a:srgbClr val="1B1F3B"/>
                </a:solidFill>
                <a:latin typeface="Calibri" pitchFamily="34" charset="0"/>
                <a:ea typeface="Calibri" pitchFamily="34" charset="-122"/>
                <a:cs typeface="Calibri" pitchFamily="34" charset="-120"/>
              </a:rPr>
              <a:t>Need for predefined hypothesis</a:t>
            </a:r>
            <a:endParaRPr lang="en-US" sz="2100" dirty="0"/>
          </a:p>
        </p:txBody>
      </p:sp>
      <p:sp>
        <p:nvSpPr>
          <p:cNvPr id="9" name="Shape 7"/>
          <p:cNvSpPr/>
          <p:nvPr/>
        </p:nvSpPr>
        <p:spPr>
          <a:xfrm>
            <a:off x="6355080" y="1783080"/>
            <a:ext cx="5394960" cy="3291840"/>
          </a:xfrm>
          <a:prstGeom prst="roundRect">
            <a:avLst>
              <a:gd name="adj" fmla="val 2222"/>
            </a:avLst>
          </a:prstGeom>
          <a:solidFill>
            <a:srgbClr val="1B1F3B"/>
          </a:solidFill>
          <a:ln/>
        </p:spPr>
        <p:txBody>
          <a:bodyPr/>
          <a:lstStyle/>
          <a:p>
            <a:endParaRPr lang="el-GR"/>
          </a:p>
        </p:txBody>
      </p:sp>
      <p:sp>
        <p:nvSpPr>
          <p:cNvPr id="10" name="Text 8"/>
          <p:cNvSpPr txBox="1"/>
          <p:nvPr/>
        </p:nvSpPr>
        <p:spPr>
          <a:xfrm>
            <a:off x="6675120" y="2011680"/>
            <a:ext cx="4846320" cy="502920"/>
          </a:xfrm>
          <a:prstGeom prst="rect">
            <a:avLst/>
          </a:prstGeom>
          <a:noFill/>
          <a:ln/>
        </p:spPr>
        <p:txBody>
          <a:bodyPr wrap="square" lIns="0" tIns="0" rIns="0" bIns="0" rtlCol="0" anchor="ctr"/>
          <a:lstStyle/>
          <a:p>
            <a:pPr marL="0" indent="0">
              <a:buNone/>
            </a:pPr>
            <a:r>
              <a:rPr lang="en-US" sz="2100" b="1" dirty="0">
                <a:solidFill>
                  <a:srgbClr val="FFFFFF"/>
                </a:solidFill>
                <a:latin typeface="Cambria" pitchFamily="34" charset="0"/>
                <a:ea typeface="Cambria" pitchFamily="34" charset="-122"/>
                <a:cs typeface="Cambria" pitchFamily="34" charset="-120"/>
              </a:rPr>
              <a:t>Polarized Trees</a:t>
            </a:r>
            <a:endParaRPr lang="en-US" sz="2100" dirty="0"/>
          </a:p>
        </p:txBody>
      </p:sp>
      <p:sp>
        <p:nvSpPr>
          <p:cNvPr id="11" name="Text 9"/>
          <p:cNvSpPr txBox="1"/>
          <p:nvPr/>
        </p:nvSpPr>
        <p:spPr>
          <a:xfrm>
            <a:off x="6675120" y="2651760"/>
            <a:ext cx="4937760" cy="2286000"/>
          </a:xfrm>
          <a:prstGeom prst="rect">
            <a:avLst/>
          </a:prstGeom>
          <a:noFill/>
          <a:ln/>
        </p:spPr>
        <p:txBody>
          <a:bodyPr wrap="square" lIns="0" tIns="0" rIns="0" bIns="0" rtlCol="0" anchor="ctr"/>
          <a:lstStyle/>
          <a:p>
            <a:pPr marL="342900" indent="-342900">
              <a:spcAft>
                <a:spcPts val="1800"/>
              </a:spcAft>
              <a:buSzPct val="100000"/>
              <a:buChar char="✓"/>
            </a:pPr>
            <a:r>
              <a:rPr lang="en-US" sz="2100" dirty="0">
                <a:solidFill>
                  <a:srgbClr val="FFFFFF"/>
                </a:solidFill>
                <a:latin typeface="Calibri" pitchFamily="34" charset="0"/>
                <a:ea typeface="Calibri" pitchFamily="34" charset="-122"/>
                <a:cs typeface="Calibri" pitchFamily="34" charset="-120"/>
              </a:rPr>
              <a:t>Searches every available trait at every step</a:t>
            </a:r>
            <a:endParaRPr lang="en-US" sz="2100" dirty="0"/>
          </a:p>
          <a:p>
            <a:pPr marL="342900" indent="-342900">
              <a:spcAft>
                <a:spcPts val="1800"/>
              </a:spcAft>
              <a:buSzPct val="100000"/>
              <a:buChar char="✓"/>
            </a:pPr>
            <a:r>
              <a:rPr lang="en-US" sz="2100" dirty="0">
                <a:solidFill>
                  <a:srgbClr val="FFFFFF"/>
                </a:solidFill>
                <a:latin typeface="Calibri" pitchFamily="34" charset="0"/>
                <a:ea typeface="Calibri" pitchFamily="34" charset="-122"/>
                <a:cs typeface="Calibri" pitchFamily="34" charset="-120"/>
              </a:rPr>
              <a:t>Follows the trait that explains/</a:t>
            </a:r>
            <a:r>
              <a:rPr lang="en-US" sz="2100" dirty="0" err="1">
                <a:solidFill>
                  <a:srgbClr val="FFFFFF"/>
                </a:solidFill>
                <a:latin typeface="Calibri" pitchFamily="34" charset="0"/>
                <a:ea typeface="Calibri" pitchFamily="34" charset="-122"/>
                <a:cs typeface="Calibri" pitchFamily="34" charset="-120"/>
              </a:rPr>
              <a:t>seperates</a:t>
            </a:r>
            <a:r>
              <a:rPr lang="en-US" sz="2100" dirty="0">
                <a:solidFill>
                  <a:srgbClr val="FFFFFF"/>
                </a:solidFill>
                <a:latin typeface="Calibri" pitchFamily="34" charset="0"/>
                <a:ea typeface="Calibri" pitchFamily="34" charset="-122"/>
                <a:cs typeface="Calibri" pitchFamily="34" charset="-120"/>
              </a:rPr>
              <a:t> the most</a:t>
            </a:r>
            <a:endParaRPr lang="en-US" sz="2100" dirty="0"/>
          </a:p>
          <a:p>
            <a:pPr marL="342900" indent="-342900">
              <a:spcAft>
                <a:spcPts val="1800"/>
              </a:spcAft>
              <a:buSzPct val="100000"/>
              <a:buChar char="✓"/>
            </a:pPr>
            <a:r>
              <a:rPr lang="en-US" sz="2100" dirty="0">
                <a:solidFill>
                  <a:srgbClr val="FFFFFF"/>
                </a:solidFill>
                <a:latin typeface="Calibri" pitchFamily="34" charset="0"/>
                <a:ea typeface="Calibri" pitchFamily="34" charset="-122"/>
                <a:cs typeface="Calibri" pitchFamily="34" charset="-120"/>
              </a:rPr>
              <a:t>Reveals and quantifies the combinations</a:t>
            </a:r>
            <a:endParaRPr lang="en-US" sz="2100" dirty="0"/>
          </a:p>
        </p:txBody>
      </p:sp>
      <p:sp>
        <p:nvSpPr>
          <p:cNvPr id="12" name="Shape 10"/>
          <p:cNvSpPr/>
          <p:nvPr/>
        </p:nvSpPr>
        <p:spPr>
          <a:xfrm>
            <a:off x="457200" y="5349240"/>
            <a:ext cx="11292840" cy="914400"/>
          </a:xfrm>
          <a:prstGeom prst="roundRect">
            <a:avLst>
              <a:gd name="adj" fmla="val 6000"/>
            </a:avLst>
          </a:prstGeom>
          <a:solidFill>
            <a:srgbClr val="F1F3FA"/>
          </a:solidFill>
          <a:ln/>
        </p:spPr>
        <p:txBody>
          <a:bodyPr/>
          <a:lstStyle/>
          <a:p>
            <a:endParaRPr lang="el-GR"/>
          </a:p>
        </p:txBody>
      </p:sp>
      <p:sp>
        <p:nvSpPr>
          <p:cNvPr id="13" name="Text 11"/>
          <p:cNvSpPr txBox="1"/>
          <p:nvPr/>
        </p:nvSpPr>
        <p:spPr>
          <a:xfrm>
            <a:off x="777240" y="5349240"/>
            <a:ext cx="10698480" cy="914400"/>
          </a:xfrm>
          <a:prstGeom prst="rect">
            <a:avLst/>
          </a:prstGeom>
          <a:noFill/>
          <a:ln/>
        </p:spPr>
        <p:txBody>
          <a:bodyPr wrap="square" lIns="0" tIns="0" rIns="0" bIns="0" rtlCol="0" anchor="ctr"/>
          <a:lstStyle/>
          <a:p>
            <a:pPr marL="0" indent="0">
              <a:buNone/>
            </a:pPr>
            <a:r>
              <a:rPr lang="en-US" sz="1900" i="1" dirty="0">
                <a:solidFill>
                  <a:srgbClr val="1B1F3B"/>
                </a:solidFill>
                <a:latin typeface="Calibri" pitchFamily="34" charset="0"/>
                <a:ea typeface="Calibri" pitchFamily="34" charset="-122"/>
                <a:cs typeface="Calibri" pitchFamily="34" charset="-120"/>
              </a:rPr>
              <a:t>Example: Testing the gender dimension alone on the above exchange would have missed most  of the info.</a:t>
            </a:r>
            <a:endParaRPr lang="en-US" sz="1900" dirty="0"/>
          </a:p>
        </p:txBody>
      </p:sp>
      <p:sp>
        <p:nvSpPr>
          <p:cNvPr id="14" name="Text 12"/>
          <p:cNvSpPr txBox="1"/>
          <p:nvPr/>
        </p:nvSpPr>
        <p:spPr>
          <a:xfrm>
            <a:off x="11521440" y="6473952"/>
            <a:ext cx="548640" cy="274320"/>
          </a:xfrm>
          <a:prstGeom prst="rect">
            <a:avLst/>
          </a:prstGeom>
          <a:noFill/>
          <a:ln/>
        </p:spPr>
        <p:txBody>
          <a:bodyPr wrap="square" lIns="0" tIns="0" rIns="0" bIns="0" rtlCol="0" anchor="ctr"/>
          <a:lstStyle/>
          <a:p>
            <a:pPr marL="0" indent="0" algn="r">
              <a:buNone/>
            </a:pPr>
            <a:r>
              <a:rPr lang="en-US" sz="1100" dirty="0">
                <a:solidFill>
                  <a:srgbClr val="B7BCD0"/>
                </a:solidFill>
                <a:latin typeface="Calibri" pitchFamily="34" charset="0"/>
                <a:ea typeface="Calibri" pitchFamily="34" charset="-122"/>
                <a:cs typeface="Calibri" pitchFamily="34" charset="-120"/>
              </a:rPr>
              <a:t>05</a:t>
            </a:r>
            <a:endParaRPr lang="en-US" sz="11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457200" y="457200"/>
            <a:ext cx="201168" cy="201168"/>
          </a:xfrm>
          <a:prstGeom prst="pie">
            <a:avLst>
              <a:gd name="adj1" fmla="val 16200000"/>
              <a:gd name="adj2" fmla="val 5400000"/>
            </a:avLst>
          </a:prstGeom>
          <a:solidFill>
            <a:srgbClr val="E4572E"/>
          </a:solidFill>
          <a:ln/>
        </p:spPr>
        <p:txBody>
          <a:bodyPr/>
          <a:lstStyle/>
          <a:p>
            <a:endParaRPr lang="el-GR"/>
          </a:p>
        </p:txBody>
      </p:sp>
      <p:sp>
        <p:nvSpPr>
          <p:cNvPr id="3" name="Shape 1"/>
          <p:cNvSpPr/>
          <p:nvPr/>
        </p:nvSpPr>
        <p:spPr>
          <a:xfrm>
            <a:off x="457200" y="457200"/>
            <a:ext cx="201168" cy="201168"/>
          </a:xfrm>
          <a:prstGeom prst="pie">
            <a:avLst>
              <a:gd name="adj1" fmla="val 5400000"/>
              <a:gd name="adj2" fmla="val 16200000"/>
            </a:avLst>
          </a:prstGeom>
          <a:solidFill>
            <a:srgbClr val="2F6FED"/>
          </a:solidFill>
          <a:ln/>
        </p:spPr>
        <p:txBody>
          <a:bodyPr/>
          <a:lstStyle/>
          <a:p>
            <a:endParaRPr lang="el-GR"/>
          </a:p>
        </p:txBody>
      </p:sp>
      <p:sp>
        <p:nvSpPr>
          <p:cNvPr id="4" name="Text 2"/>
          <p:cNvSpPr txBox="1"/>
          <p:nvPr/>
        </p:nvSpPr>
        <p:spPr>
          <a:xfrm>
            <a:off x="777240" y="384048"/>
            <a:ext cx="7315200" cy="320040"/>
          </a:xfrm>
          <a:prstGeom prst="rect">
            <a:avLst/>
          </a:prstGeom>
          <a:noFill/>
          <a:ln/>
        </p:spPr>
        <p:txBody>
          <a:bodyPr wrap="square" lIns="0" tIns="0" rIns="0" bIns="0" rtlCol="0" anchor="ctr"/>
          <a:lstStyle/>
          <a:p>
            <a:pPr marL="0" indent="0">
              <a:buNone/>
            </a:pPr>
            <a:r>
              <a:rPr lang="en-US" sz="1100" b="1" kern="0" spc="200" dirty="0">
                <a:solidFill>
                  <a:srgbClr val="6B7280"/>
                </a:solidFill>
                <a:latin typeface="Calibri" pitchFamily="34" charset="0"/>
                <a:ea typeface="Calibri" pitchFamily="34" charset="-122"/>
                <a:cs typeface="Calibri" pitchFamily="34" charset="-120"/>
              </a:rPr>
              <a:t>METHOD</a:t>
            </a:r>
            <a:endParaRPr lang="en-US" sz="1100" dirty="0"/>
          </a:p>
        </p:txBody>
      </p:sp>
      <p:sp>
        <p:nvSpPr>
          <p:cNvPr id="5" name="Text 3"/>
          <p:cNvSpPr txBox="1"/>
          <p:nvPr/>
        </p:nvSpPr>
        <p:spPr>
          <a:xfrm>
            <a:off x="457200" y="713232"/>
            <a:ext cx="11247120" cy="777240"/>
          </a:xfrm>
          <a:prstGeom prst="rect">
            <a:avLst/>
          </a:prstGeom>
          <a:noFill/>
          <a:ln/>
        </p:spPr>
        <p:txBody>
          <a:bodyPr wrap="square" lIns="0" tIns="0" rIns="0" bIns="0" rtlCol="0" anchor="ctr"/>
          <a:lstStyle/>
          <a:p>
            <a:pPr marL="0" indent="0">
              <a:buNone/>
            </a:pPr>
            <a:r>
              <a:rPr lang="en-US" sz="3600" b="1" dirty="0">
                <a:solidFill>
                  <a:srgbClr val="1B1F3B"/>
                </a:solidFill>
                <a:latin typeface="Cambria" pitchFamily="34" charset="0"/>
                <a:ea typeface="Cambria" pitchFamily="34" charset="-122"/>
                <a:cs typeface="Cambria" pitchFamily="34" charset="-120"/>
              </a:rPr>
              <a:t>Four stages, run per text</a:t>
            </a:r>
            <a:endParaRPr lang="en-US" sz="3600" dirty="0"/>
          </a:p>
        </p:txBody>
      </p:sp>
      <p:sp>
        <p:nvSpPr>
          <p:cNvPr id="6" name="Shape 4"/>
          <p:cNvSpPr/>
          <p:nvPr/>
        </p:nvSpPr>
        <p:spPr>
          <a:xfrm>
            <a:off x="457200" y="1874520"/>
            <a:ext cx="2697480" cy="4023360"/>
          </a:xfrm>
          <a:prstGeom prst="roundRect">
            <a:avLst>
              <a:gd name="adj" fmla="val 2712"/>
            </a:avLst>
          </a:prstGeom>
          <a:solidFill>
            <a:srgbClr val="1B1F3B"/>
          </a:solidFill>
          <a:ln/>
        </p:spPr>
        <p:txBody>
          <a:bodyPr/>
          <a:lstStyle/>
          <a:p>
            <a:endParaRPr lang="el-GR"/>
          </a:p>
        </p:txBody>
      </p:sp>
      <p:sp>
        <p:nvSpPr>
          <p:cNvPr id="7" name="Text 5"/>
          <p:cNvSpPr txBox="1"/>
          <p:nvPr/>
        </p:nvSpPr>
        <p:spPr>
          <a:xfrm>
            <a:off x="685800" y="2057400"/>
            <a:ext cx="1188720" cy="640080"/>
          </a:xfrm>
          <a:prstGeom prst="rect">
            <a:avLst/>
          </a:prstGeom>
          <a:noFill/>
          <a:ln/>
        </p:spPr>
        <p:txBody>
          <a:bodyPr wrap="square" lIns="0" tIns="0" rIns="0" bIns="0" rtlCol="0" anchor="ctr"/>
          <a:lstStyle/>
          <a:p>
            <a:pPr marL="0" indent="0">
              <a:buNone/>
            </a:pPr>
            <a:r>
              <a:rPr lang="en-US" sz="3600" b="1" dirty="0">
                <a:solidFill>
                  <a:srgbClr val="4A5187"/>
                </a:solidFill>
                <a:latin typeface="Cambria" pitchFamily="34" charset="0"/>
                <a:ea typeface="Cambria" pitchFamily="34" charset="-122"/>
                <a:cs typeface="Cambria" pitchFamily="34" charset="-120"/>
              </a:rPr>
              <a:t>01</a:t>
            </a:r>
            <a:endParaRPr lang="en-US" sz="3600" dirty="0"/>
          </a:p>
        </p:txBody>
      </p:sp>
      <p:sp>
        <p:nvSpPr>
          <p:cNvPr id="8" name="Text 6"/>
          <p:cNvSpPr txBox="1"/>
          <p:nvPr/>
        </p:nvSpPr>
        <p:spPr>
          <a:xfrm>
            <a:off x="685800" y="2697480"/>
            <a:ext cx="2286000" cy="777240"/>
          </a:xfrm>
          <a:prstGeom prst="rect">
            <a:avLst/>
          </a:prstGeom>
          <a:noFill/>
          <a:ln/>
        </p:spPr>
        <p:txBody>
          <a:bodyPr wrap="square" lIns="0" tIns="0" rIns="0" bIns="0" rtlCol="0" anchor="ctr"/>
          <a:lstStyle/>
          <a:p>
            <a:pPr marL="0" indent="0">
              <a:buNone/>
            </a:pPr>
            <a:r>
              <a:rPr lang="en-US" sz="1500" b="1" dirty="0">
                <a:solidFill>
                  <a:srgbClr val="FFFFFF"/>
                </a:solidFill>
                <a:latin typeface="Cambria" pitchFamily="34" charset="0"/>
                <a:ea typeface="Cambria" pitchFamily="34" charset="-122"/>
                <a:cs typeface="Cambria" pitchFamily="34" charset="-120"/>
              </a:rPr>
              <a:t>Find polarized texts</a:t>
            </a:r>
            <a:endParaRPr lang="en-US" sz="1500" dirty="0"/>
          </a:p>
        </p:txBody>
      </p:sp>
      <p:sp>
        <p:nvSpPr>
          <p:cNvPr id="9" name="Text 7"/>
          <p:cNvSpPr txBox="1"/>
          <p:nvPr/>
        </p:nvSpPr>
        <p:spPr>
          <a:xfrm>
            <a:off x="685800" y="3474720"/>
            <a:ext cx="2286000" cy="2286000"/>
          </a:xfrm>
          <a:prstGeom prst="rect">
            <a:avLst/>
          </a:prstGeom>
          <a:noFill/>
          <a:ln/>
        </p:spPr>
        <p:txBody>
          <a:bodyPr wrap="square" lIns="0" tIns="0" rIns="0" bIns="0" rtlCol="0" anchor="ctr"/>
          <a:lstStyle/>
          <a:p>
            <a:pPr marL="0" indent="0">
              <a:lnSpc>
                <a:spcPct val="115000"/>
              </a:lnSpc>
              <a:buNone/>
            </a:pPr>
            <a:r>
              <a:rPr lang="en-US" sz="1150" dirty="0">
                <a:solidFill>
                  <a:srgbClr val="C9CFEA"/>
                </a:solidFill>
                <a:latin typeface="Calibri" pitchFamily="34" charset="0"/>
                <a:ea typeface="Calibri" pitchFamily="34" charset="-122"/>
                <a:cs typeface="Calibri" pitchFamily="34" charset="-120"/>
              </a:rPr>
              <a:t>Score each item with DFU (Distance from Unimodality). Keep items whose DFU ≥ θ — unimodal, low-disagreement items are dropped.</a:t>
            </a:r>
            <a:endParaRPr lang="en-US" sz="1150" dirty="0"/>
          </a:p>
        </p:txBody>
      </p:sp>
      <p:sp>
        <p:nvSpPr>
          <p:cNvPr id="10" name="Shape 8"/>
          <p:cNvSpPr/>
          <p:nvPr/>
        </p:nvSpPr>
        <p:spPr>
          <a:xfrm>
            <a:off x="3154680" y="3840480"/>
            <a:ext cx="137160" cy="0"/>
          </a:xfrm>
          <a:prstGeom prst="line">
            <a:avLst/>
          </a:prstGeom>
          <a:noFill/>
          <a:ln w="25400">
            <a:solidFill>
              <a:srgbClr val="DDE1EE"/>
            </a:solidFill>
            <a:prstDash val="solid"/>
          </a:ln>
        </p:spPr>
        <p:txBody>
          <a:bodyPr/>
          <a:lstStyle/>
          <a:p>
            <a:endParaRPr lang="el-GR"/>
          </a:p>
        </p:txBody>
      </p:sp>
      <p:sp>
        <p:nvSpPr>
          <p:cNvPr id="11" name="Shape 9"/>
          <p:cNvSpPr/>
          <p:nvPr/>
        </p:nvSpPr>
        <p:spPr>
          <a:xfrm>
            <a:off x="3291840" y="1874520"/>
            <a:ext cx="2697480" cy="4023360"/>
          </a:xfrm>
          <a:prstGeom prst="roundRect">
            <a:avLst>
              <a:gd name="adj" fmla="val 2712"/>
            </a:avLst>
          </a:prstGeom>
          <a:solidFill>
            <a:srgbClr val="F1F3FA"/>
          </a:solidFill>
          <a:ln/>
        </p:spPr>
        <p:txBody>
          <a:bodyPr/>
          <a:lstStyle/>
          <a:p>
            <a:endParaRPr lang="el-GR"/>
          </a:p>
        </p:txBody>
      </p:sp>
      <p:sp>
        <p:nvSpPr>
          <p:cNvPr id="12" name="Text 10"/>
          <p:cNvSpPr txBox="1"/>
          <p:nvPr/>
        </p:nvSpPr>
        <p:spPr>
          <a:xfrm>
            <a:off x="3520440" y="2057400"/>
            <a:ext cx="1188720" cy="640080"/>
          </a:xfrm>
          <a:prstGeom prst="rect">
            <a:avLst/>
          </a:prstGeom>
          <a:noFill/>
          <a:ln/>
        </p:spPr>
        <p:txBody>
          <a:bodyPr wrap="square" lIns="0" tIns="0" rIns="0" bIns="0" rtlCol="0" anchor="ctr"/>
          <a:lstStyle/>
          <a:p>
            <a:pPr marL="0" indent="0">
              <a:buNone/>
            </a:pPr>
            <a:r>
              <a:rPr lang="en-US" sz="3600" b="1" dirty="0">
                <a:solidFill>
                  <a:srgbClr val="C7CCE0"/>
                </a:solidFill>
                <a:latin typeface="Cambria" pitchFamily="34" charset="0"/>
                <a:ea typeface="Cambria" pitchFamily="34" charset="-122"/>
                <a:cs typeface="Cambria" pitchFamily="34" charset="-120"/>
              </a:rPr>
              <a:t>02</a:t>
            </a:r>
            <a:endParaRPr lang="en-US" sz="3600" dirty="0"/>
          </a:p>
        </p:txBody>
      </p:sp>
      <p:sp>
        <p:nvSpPr>
          <p:cNvPr id="13" name="Text 11"/>
          <p:cNvSpPr txBox="1"/>
          <p:nvPr/>
        </p:nvSpPr>
        <p:spPr>
          <a:xfrm>
            <a:off x="3520440" y="2697480"/>
            <a:ext cx="2286000" cy="777240"/>
          </a:xfrm>
          <a:prstGeom prst="rect">
            <a:avLst/>
          </a:prstGeom>
          <a:noFill/>
          <a:ln/>
        </p:spPr>
        <p:txBody>
          <a:bodyPr wrap="square" lIns="0" tIns="0" rIns="0" bIns="0" rtlCol="0" anchor="ctr"/>
          <a:lstStyle/>
          <a:p>
            <a:pPr marL="0" indent="0">
              <a:buNone/>
            </a:pPr>
            <a:r>
              <a:rPr lang="en-US" sz="1500" b="1" dirty="0">
                <a:solidFill>
                  <a:srgbClr val="1B1F3B"/>
                </a:solidFill>
                <a:latin typeface="Cambria" pitchFamily="34" charset="0"/>
                <a:ea typeface="Cambria" pitchFamily="34" charset="-122"/>
                <a:cs typeface="Cambria" pitchFamily="34" charset="-120"/>
              </a:rPr>
              <a:t>Build one tree per text</a:t>
            </a:r>
            <a:endParaRPr lang="en-US" sz="1500" dirty="0"/>
          </a:p>
        </p:txBody>
      </p:sp>
      <p:sp>
        <p:nvSpPr>
          <p:cNvPr id="14" name="Text 12"/>
          <p:cNvSpPr txBox="1"/>
          <p:nvPr/>
        </p:nvSpPr>
        <p:spPr>
          <a:xfrm>
            <a:off x="3520440" y="3474720"/>
            <a:ext cx="2286000" cy="2286000"/>
          </a:xfrm>
          <a:prstGeom prst="rect">
            <a:avLst/>
          </a:prstGeom>
          <a:noFill/>
          <a:ln/>
        </p:spPr>
        <p:txBody>
          <a:bodyPr wrap="square" lIns="0" tIns="0" rIns="0" bIns="0" rtlCol="0" anchor="ctr"/>
          <a:lstStyle/>
          <a:p>
            <a:pPr marL="0" indent="0">
              <a:lnSpc>
                <a:spcPct val="115000"/>
              </a:lnSpc>
              <a:buNone/>
            </a:pPr>
            <a:r>
              <a:rPr lang="en-US" sz="1150" dirty="0">
                <a:solidFill>
                  <a:srgbClr val="6B7280"/>
                </a:solidFill>
                <a:latin typeface="Calibri" pitchFamily="34" charset="0"/>
                <a:ea typeface="Calibri" pitchFamily="34" charset="-122"/>
                <a:cs typeface="Calibri" pitchFamily="34" charset="-120"/>
              </a:rPr>
              <a:t>Here we select the hyperparameters needed for our method and we proceed to building one tree per instance</a:t>
            </a:r>
            <a:endParaRPr lang="en-US" sz="1150" dirty="0"/>
          </a:p>
        </p:txBody>
      </p:sp>
      <p:sp>
        <p:nvSpPr>
          <p:cNvPr id="15" name="Shape 13"/>
          <p:cNvSpPr/>
          <p:nvPr/>
        </p:nvSpPr>
        <p:spPr>
          <a:xfrm>
            <a:off x="5989320" y="3840480"/>
            <a:ext cx="137160" cy="0"/>
          </a:xfrm>
          <a:prstGeom prst="line">
            <a:avLst/>
          </a:prstGeom>
          <a:noFill/>
          <a:ln w="25400">
            <a:solidFill>
              <a:srgbClr val="DDE1EE"/>
            </a:solidFill>
            <a:prstDash val="solid"/>
          </a:ln>
        </p:spPr>
        <p:txBody>
          <a:bodyPr/>
          <a:lstStyle/>
          <a:p>
            <a:endParaRPr lang="el-GR"/>
          </a:p>
        </p:txBody>
      </p:sp>
      <p:sp>
        <p:nvSpPr>
          <p:cNvPr id="16" name="Shape 14"/>
          <p:cNvSpPr/>
          <p:nvPr/>
        </p:nvSpPr>
        <p:spPr>
          <a:xfrm>
            <a:off x="6126480" y="1874520"/>
            <a:ext cx="2697480" cy="4023360"/>
          </a:xfrm>
          <a:prstGeom prst="roundRect">
            <a:avLst>
              <a:gd name="adj" fmla="val 2712"/>
            </a:avLst>
          </a:prstGeom>
          <a:solidFill>
            <a:srgbClr val="1B1F3B"/>
          </a:solidFill>
          <a:ln/>
        </p:spPr>
        <p:txBody>
          <a:bodyPr/>
          <a:lstStyle/>
          <a:p>
            <a:endParaRPr lang="el-GR"/>
          </a:p>
        </p:txBody>
      </p:sp>
      <p:sp>
        <p:nvSpPr>
          <p:cNvPr id="17" name="Text 15"/>
          <p:cNvSpPr txBox="1"/>
          <p:nvPr/>
        </p:nvSpPr>
        <p:spPr>
          <a:xfrm>
            <a:off x="6355080" y="2057400"/>
            <a:ext cx="1188720" cy="640080"/>
          </a:xfrm>
          <a:prstGeom prst="rect">
            <a:avLst/>
          </a:prstGeom>
          <a:noFill/>
          <a:ln/>
        </p:spPr>
        <p:txBody>
          <a:bodyPr wrap="square" lIns="0" tIns="0" rIns="0" bIns="0" rtlCol="0" anchor="ctr"/>
          <a:lstStyle/>
          <a:p>
            <a:pPr marL="0" indent="0">
              <a:buNone/>
            </a:pPr>
            <a:r>
              <a:rPr lang="en-US" sz="3600" b="1" dirty="0">
                <a:solidFill>
                  <a:srgbClr val="4A5187"/>
                </a:solidFill>
                <a:latin typeface="Cambria" pitchFamily="34" charset="0"/>
                <a:ea typeface="Cambria" pitchFamily="34" charset="-122"/>
                <a:cs typeface="Cambria" pitchFamily="34" charset="-120"/>
              </a:rPr>
              <a:t>03</a:t>
            </a:r>
            <a:endParaRPr lang="en-US" sz="3600" dirty="0"/>
          </a:p>
        </p:txBody>
      </p:sp>
      <p:sp>
        <p:nvSpPr>
          <p:cNvPr id="18" name="Text 16"/>
          <p:cNvSpPr txBox="1"/>
          <p:nvPr/>
        </p:nvSpPr>
        <p:spPr>
          <a:xfrm>
            <a:off x="6355080" y="2697480"/>
            <a:ext cx="2286000" cy="777240"/>
          </a:xfrm>
          <a:prstGeom prst="rect">
            <a:avLst/>
          </a:prstGeom>
          <a:noFill/>
          <a:ln/>
        </p:spPr>
        <p:txBody>
          <a:bodyPr wrap="square" lIns="0" tIns="0" rIns="0" bIns="0" rtlCol="0" anchor="ctr"/>
          <a:lstStyle/>
          <a:p>
            <a:pPr marL="0" indent="0">
              <a:buNone/>
            </a:pPr>
            <a:r>
              <a:rPr lang="en-US" sz="1500" b="1" dirty="0">
                <a:solidFill>
                  <a:srgbClr val="FFFFFF"/>
                </a:solidFill>
                <a:latin typeface="Cambria" pitchFamily="34" charset="0"/>
                <a:ea typeface="Cambria" pitchFamily="34" charset="-122"/>
                <a:cs typeface="Cambria" pitchFamily="34" charset="-120"/>
              </a:rPr>
              <a:t>Split &amp; recurse</a:t>
            </a:r>
            <a:endParaRPr lang="en-US" sz="1500" dirty="0"/>
          </a:p>
        </p:txBody>
      </p:sp>
      <p:sp>
        <p:nvSpPr>
          <p:cNvPr id="19" name="Text 17"/>
          <p:cNvSpPr txBox="1"/>
          <p:nvPr/>
        </p:nvSpPr>
        <p:spPr>
          <a:xfrm>
            <a:off x="6355080" y="3474720"/>
            <a:ext cx="2286000" cy="2286000"/>
          </a:xfrm>
          <a:prstGeom prst="rect">
            <a:avLst/>
          </a:prstGeom>
          <a:noFill/>
          <a:ln/>
        </p:spPr>
        <p:txBody>
          <a:bodyPr wrap="square" lIns="0" tIns="0" rIns="0" bIns="0" rtlCol="0" anchor="ctr"/>
          <a:lstStyle/>
          <a:p>
            <a:pPr marL="0" indent="0">
              <a:lnSpc>
                <a:spcPct val="115000"/>
              </a:lnSpc>
              <a:buNone/>
            </a:pPr>
            <a:r>
              <a:rPr lang="en-US" sz="1150" dirty="0">
                <a:solidFill>
                  <a:srgbClr val="C9CFEA"/>
                </a:solidFill>
                <a:latin typeface="Calibri" pitchFamily="34" charset="0"/>
                <a:ea typeface="Calibri" pitchFamily="34" charset="-122"/>
                <a:cs typeface="Calibri" pitchFamily="34" charset="-120"/>
              </a:rPr>
              <a:t>Partition by that dimension, remove it from that branch, repeat inside each subgroup until size / depth / gain stopping rules trigger.</a:t>
            </a:r>
            <a:endParaRPr lang="en-US" sz="1150" dirty="0"/>
          </a:p>
        </p:txBody>
      </p:sp>
      <p:sp>
        <p:nvSpPr>
          <p:cNvPr id="20" name="Shape 18"/>
          <p:cNvSpPr/>
          <p:nvPr/>
        </p:nvSpPr>
        <p:spPr>
          <a:xfrm>
            <a:off x="8823960" y="3840480"/>
            <a:ext cx="137160" cy="0"/>
          </a:xfrm>
          <a:prstGeom prst="line">
            <a:avLst/>
          </a:prstGeom>
          <a:noFill/>
          <a:ln w="25400">
            <a:solidFill>
              <a:srgbClr val="DDE1EE"/>
            </a:solidFill>
            <a:prstDash val="solid"/>
          </a:ln>
        </p:spPr>
        <p:txBody>
          <a:bodyPr/>
          <a:lstStyle/>
          <a:p>
            <a:endParaRPr lang="el-GR"/>
          </a:p>
        </p:txBody>
      </p:sp>
      <p:sp>
        <p:nvSpPr>
          <p:cNvPr id="21" name="Shape 19"/>
          <p:cNvSpPr/>
          <p:nvPr/>
        </p:nvSpPr>
        <p:spPr>
          <a:xfrm>
            <a:off x="8961120" y="1874520"/>
            <a:ext cx="2697480" cy="4023360"/>
          </a:xfrm>
          <a:prstGeom prst="roundRect">
            <a:avLst>
              <a:gd name="adj" fmla="val 2712"/>
            </a:avLst>
          </a:prstGeom>
          <a:solidFill>
            <a:srgbClr val="F1F3FA"/>
          </a:solidFill>
          <a:ln/>
        </p:spPr>
        <p:txBody>
          <a:bodyPr/>
          <a:lstStyle/>
          <a:p>
            <a:endParaRPr lang="el-GR"/>
          </a:p>
        </p:txBody>
      </p:sp>
      <p:sp>
        <p:nvSpPr>
          <p:cNvPr id="22" name="Text 20"/>
          <p:cNvSpPr txBox="1"/>
          <p:nvPr/>
        </p:nvSpPr>
        <p:spPr>
          <a:xfrm>
            <a:off x="9189720" y="2057400"/>
            <a:ext cx="1188720" cy="640080"/>
          </a:xfrm>
          <a:prstGeom prst="rect">
            <a:avLst/>
          </a:prstGeom>
          <a:noFill/>
          <a:ln/>
        </p:spPr>
        <p:txBody>
          <a:bodyPr wrap="square" lIns="0" tIns="0" rIns="0" bIns="0" rtlCol="0" anchor="ctr"/>
          <a:lstStyle/>
          <a:p>
            <a:pPr marL="0" indent="0">
              <a:buNone/>
            </a:pPr>
            <a:r>
              <a:rPr lang="en-US" sz="3600" b="1" dirty="0">
                <a:solidFill>
                  <a:srgbClr val="C7CCE0"/>
                </a:solidFill>
                <a:latin typeface="Cambria" pitchFamily="34" charset="0"/>
                <a:ea typeface="Cambria" pitchFamily="34" charset="-122"/>
                <a:cs typeface="Cambria" pitchFamily="34" charset="-120"/>
              </a:rPr>
              <a:t>04</a:t>
            </a:r>
            <a:endParaRPr lang="en-US" sz="3600" dirty="0"/>
          </a:p>
        </p:txBody>
      </p:sp>
      <p:sp>
        <p:nvSpPr>
          <p:cNvPr id="23" name="Text 21"/>
          <p:cNvSpPr txBox="1"/>
          <p:nvPr/>
        </p:nvSpPr>
        <p:spPr>
          <a:xfrm>
            <a:off x="9189720" y="2697480"/>
            <a:ext cx="2286000" cy="777240"/>
          </a:xfrm>
          <a:prstGeom prst="rect">
            <a:avLst/>
          </a:prstGeom>
          <a:noFill/>
          <a:ln/>
        </p:spPr>
        <p:txBody>
          <a:bodyPr wrap="square" lIns="0" tIns="0" rIns="0" bIns="0" rtlCol="0" anchor="ctr"/>
          <a:lstStyle/>
          <a:p>
            <a:pPr marL="0" indent="0">
              <a:buNone/>
            </a:pPr>
            <a:r>
              <a:rPr lang="en-US" sz="1500" b="1" dirty="0">
                <a:solidFill>
                  <a:srgbClr val="1B1F3B"/>
                </a:solidFill>
                <a:latin typeface="Cambria" pitchFamily="34" charset="0"/>
                <a:ea typeface="Cambria" pitchFamily="34" charset="-122"/>
                <a:cs typeface="Cambria" pitchFamily="34" charset="-120"/>
              </a:rPr>
              <a:t>Label &amp; aggregate</a:t>
            </a:r>
            <a:endParaRPr lang="en-US" sz="1500" dirty="0"/>
          </a:p>
        </p:txBody>
      </p:sp>
      <p:sp>
        <p:nvSpPr>
          <p:cNvPr id="24" name="Text 22"/>
          <p:cNvSpPr txBox="1"/>
          <p:nvPr/>
        </p:nvSpPr>
        <p:spPr>
          <a:xfrm>
            <a:off x="9189720" y="3474720"/>
            <a:ext cx="2286000" cy="2286000"/>
          </a:xfrm>
          <a:prstGeom prst="rect">
            <a:avLst/>
          </a:prstGeom>
          <a:noFill/>
          <a:ln/>
        </p:spPr>
        <p:txBody>
          <a:bodyPr wrap="square" lIns="0" tIns="0" rIns="0" bIns="0" rtlCol="0" anchor="ctr"/>
          <a:lstStyle/>
          <a:p>
            <a:pPr marL="0" indent="0">
              <a:lnSpc>
                <a:spcPct val="115000"/>
              </a:lnSpc>
              <a:buNone/>
            </a:pPr>
            <a:r>
              <a:rPr lang="en-US" sz="1150" dirty="0">
                <a:solidFill>
                  <a:srgbClr val="6B7280"/>
                </a:solidFill>
                <a:latin typeface="Calibri" pitchFamily="34" charset="0"/>
                <a:ea typeface="Calibri" pitchFamily="34" charset="-122"/>
                <a:cs typeface="Calibri" pitchFamily="34" charset="-120"/>
              </a:rPr>
              <a:t>Leaves get a toxic/civil pole by majority vote. Across all trees: Dimension Frequency, Pole Consistency, and mean PEG per subgroup.</a:t>
            </a:r>
            <a:endParaRPr lang="en-US" sz="1150" dirty="0"/>
          </a:p>
        </p:txBody>
      </p:sp>
      <p:sp>
        <p:nvSpPr>
          <p:cNvPr id="25" name="Text 23"/>
          <p:cNvSpPr txBox="1"/>
          <p:nvPr/>
        </p:nvSpPr>
        <p:spPr>
          <a:xfrm>
            <a:off x="11521440" y="6473952"/>
            <a:ext cx="548640" cy="274320"/>
          </a:xfrm>
          <a:prstGeom prst="rect">
            <a:avLst/>
          </a:prstGeom>
          <a:noFill/>
          <a:ln/>
        </p:spPr>
        <p:txBody>
          <a:bodyPr wrap="square" lIns="0" tIns="0" rIns="0" bIns="0" rtlCol="0" anchor="ctr"/>
          <a:lstStyle/>
          <a:p>
            <a:pPr marL="0" indent="0" algn="r">
              <a:buNone/>
            </a:pPr>
            <a:r>
              <a:rPr lang="en-US" sz="1000" dirty="0">
                <a:solidFill>
                  <a:srgbClr val="B7BCD0"/>
                </a:solidFill>
                <a:latin typeface="Calibri" pitchFamily="34" charset="0"/>
                <a:ea typeface="Calibri" pitchFamily="34" charset="-122"/>
                <a:cs typeface="Calibri" pitchFamily="34" charset="-120"/>
              </a:rPr>
              <a:t>06</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457200" y="457200"/>
            <a:ext cx="201168" cy="201168"/>
          </a:xfrm>
          <a:prstGeom prst="pie">
            <a:avLst>
              <a:gd name="adj1" fmla="val 16200000"/>
              <a:gd name="adj2" fmla="val 5400000"/>
            </a:avLst>
          </a:prstGeom>
          <a:solidFill>
            <a:srgbClr val="E4572E"/>
          </a:solidFill>
          <a:ln/>
        </p:spPr>
        <p:txBody>
          <a:bodyPr/>
          <a:lstStyle/>
          <a:p>
            <a:endParaRPr lang="el-GR"/>
          </a:p>
        </p:txBody>
      </p:sp>
      <p:sp>
        <p:nvSpPr>
          <p:cNvPr id="3" name="Shape 1"/>
          <p:cNvSpPr/>
          <p:nvPr/>
        </p:nvSpPr>
        <p:spPr>
          <a:xfrm>
            <a:off x="457200" y="457200"/>
            <a:ext cx="201168" cy="201168"/>
          </a:xfrm>
          <a:prstGeom prst="pie">
            <a:avLst>
              <a:gd name="adj1" fmla="val 5400000"/>
              <a:gd name="adj2" fmla="val 16200000"/>
            </a:avLst>
          </a:prstGeom>
          <a:solidFill>
            <a:srgbClr val="2F6FED"/>
          </a:solidFill>
          <a:ln/>
        </p:spPr>
        <p:txBody>
          <a:bodyPr/>
          <a:lstStyle/>
          <a:p>
            <a:endParaRPr lang="el-GR"/>
          </a:p>
        </p:txBody>
      </p:sp>
      <p:sp>
        <p:nvSpPr>
          <p:cNvPr id="4" name="Text 2"/>
          <p:cNvSpPr txBox="1"/>
          <p:nvPr/>
        </p:nvSpPr>
        <p:spPr>
          <a:xfrm>
            <a:off x="777240" y="384048"/>
            <a:ext cx="7315200" cy="320040"/>
          </a:xfrm>
          <a:prstGeom prst="rect">
            <a:avLst/>
          </a:prstGeom>
          <a:noFill/>
          <a:ln/>
        </p:spPr>
        <p:txBody>
          <a:bodyPr wrap="square" lIns="0" tIns="0" rIns="0" bIns="0" rtlCol="0" anchor="ctr"/>
          <a:lstStyle/>
          <a:p>
            <a:pPr marL="0" indent="0">
              <a:buNone/>
            </a:pPr>
            <a:r>
              <a:rPr lang="en-US" sz="1100" b="1" kern="0" spc="200" dirty="0">
                <a:solidFill>
                  <a:srgbClr val="6B7280"/>
                </a:solidFill>
                <a:latin typeface="Calibri" pitchFamily="34" charset="0"/>
                <a:ea typeface="Calibri" pitchFamily="34" charset="-122"/>
                <a:cs typeface="Calibri" pitchFamily="34" charset="-120"/>
              </a:rPr>
              <a:t>SPLITTING CRITERION</a:t>
            </a:r>
            <a:endParaRPr lang="en-US" sz="1100" dirty="0"/>
          </a:p>
        </p:txBody>
      </p:sp>
      <p:sp>
        <p:nvSpPr>
          <p:cNvPr id="5" name="Text 3"/>
          <p:cNvSpPr txBox="1"/>
          <p:nvPr/>
        </p:nvSpPr>
        <p:spPr>
          <a:xfrm>
            <a:off x="457200" y="713232"/>
            <a:ext cx="11247120" cy="777240"/>
          </a:xfrm>
          <a:prstGeom prst="rect">
            <a:avLst/>
          </a:prstGeom>
          <a:noFill/>
          <a:ln/>
        </p:spPr>
        <p:txBody>
          <a:bodyPr wrap="square" lIns="0" tIns="0" rIns="0" bIns="0" rtlCol="0" anchor="ctr"/>
          <a:lstStyle/>
          <a:p>
            <a:pPr marL="0" indent="0">
              <a:buNone/>
            </a:pPr>
            <a:r>
              <a:rPr lang="en-US" sz="3600" b="1" dirty="0">
                <a:solidFill>
                  <a:srgbClr val="1B1F3B"/>
                </a:solidFill>
                <a:latin typeface="Cambria" pitchFamily="34" charset="0"/>
                <a:ea typeface="Cambria" pitchFamily="34" charset="-122"/>
                <a:cs typeface="Cambria" pitchFamily="34" charset="-120"/>
              </a:rPr>
              <a:t>Polarization Explanation Gain (PEG)</a:t>
            </a:r>
            <a:endParaRPr lang="en-US" sz="3600" dirty="0"/>
          </a:p>
        </p:txBody>
      </p:sp>
      <p:sp>
        <p:nvSpPr>
          <p:cNvPr id="6" name="Text 4"/>
          <p:cNvSpPr txBox="1"/>
          <p:nvPr/>
        </p:nvSpPr>
        <p:spPr>
          <a:xfrm>
            <a:off x="457200" y="1691640"/>
            <a:ext cx="11247120" cy="365760"/>
          </a:xfrm>
          <a:prstGeom prst="rect">
            <a:avLst/>
          </a:prstGeom>
          <a:noFill/>
          <a:ln/>
        </p:spPr>
        <p:txBody>
          <a:bodyPr wrap="square" lIns="0" tIns="0" rIns="0" bIns="0" rtlCol="0" anchor="ctr"/>
          <a:lstStyle/>
          <a:p>
            <a:pPr marL="0" indent="0">
              <a:buNone/>
            </a:pPr>
            <a:r>
              <a:rPr lang="en-US" sz="1600" dirty="0">
                <a:solidFill>
                  <a:srgbClr val="6B7280"/>
                </a:solidFill>
                <a:latin typeface="Calibri" pitchFamily="34" charset="0"/>
                <a:ea typeface="Calibri" pitchFamily="34" charset="-122"/>
                <a:cs typeface="Calibri" pitchFamily="34" charset="-120"/>
              </a:rPr>
              <a:t>For a candidate dimension, PEG asks: how polarized are the resulting subgroups?</a:t>
            </a:r>
            <a:endParaRPr lang="en-US" sz="1600" dirty="0"/>
          </a:p>
        </p:txBody>
      </p:sp>
      <p:sp>
        <p:nvSpPr>
          <p:cNvPr id="7" name="Shape 5"/>
          <p:cNvSpPr/>
          <p:nvPr/>
        </p:nvSpPr>
        <p:spPr>
          <a:xfrm>
            <a:off x="457200" y="2240280"/>
            <a:ext cx="3611880" cy="3200400"/>
          </a:xfrm>
          <a:prstGeom prst="roundRect">
            <a:avLst>
              <a:gd name="adj" fmla="val 2286"/>
            </a:avLst>
          </a:prstGeom>
          <a:solidFill>
            <a:srgbClr val="F1F3FA"/>
          </a:solidFill>
          <a:ln/>
        </p:spPr>
        <p:txBody>
          <a:bodyPr/>
          <a:lstStyle/>
          <a:p>
            <a:endParaRPr lang="el-GR"/>
          </a:p>
        </p:txBody>
      </p:sp>
      <p:sp>
        <p:nvSpPr>
          <p:cNvPr id="8" name="Shape 6"/>
          <p:cNvSpPr/>
          <p:nvPr/>
        </p:nvSpPr>
        <p:spPr>
          <a:xfrm>
            <a:off x="457200" y="2240280"/>
            <a:ext cx="3611880" cy="73152"/>
          </a:xfrm>
          <a:prstGeom prst="rect">
            <a:avLst/>
          </a:prstGeom>
          <a:solidFill>
            <a:srgbClr val="2F6FED"/>
          </a:solidFill>
          <a:ln/>
        </p:spPr>
        <p:txBody>
          <a:bodyPr/>
          <a:lstStyle/>
          <a:p>
            <a:endParaRPr lang="el-GR"/>
          </a:p>
        </p:txBody>
      </p:sp>
      <p:sp>
        <p:nvSpPr>
          <p:cNvPr id="9" name="Text 7"/>
          <p:cNvSpPr txBox="1"/>
          <p:nvPr/>
        </p:nvSpPr>
        <p:spPr>
          <a:xfrm>
            <a:off x="731520" y="2468880"/>
            <a:ext cx="3108960" cy="457200"/>
          </a:xfrm>
          <a:prstGeom prst="rect">
            <a:avLst/>
          </a:prstGeom>
          <a:noFill/>
          <a:ln/>
        </p:spPr>
        <p:txBody>
          <a:bodyPr wrap="square" lIns="0" tIns="0" rIns="0" bIns="0" rtlCol="0" anchor="ctr"/>
          <a:lstStyle/>
          <a:p>
            <a:pPr marL="0" indent="0">
              <a:buNone/>
            </a:pPr>
            <a:r>
              <a:rPr lang="en-US" sz="1800" b="1" dirty="0">
                <a:solidFill>
                  <a:srgbClr val="1B1F3B"/>
                </a:solidFill>
                <a:latin typeface="Cambria" pitchFamily="34" charset="0"/>
                <a:ea typeface="Cambria" pitchFamily="34" charset="-122"/>
                <a:cs typeface="Cambria" pitchFamily="34" charset="-120"/>
              </a:rPr>
              <a:t>PEGmax</a:t>
            </a:r>
            <a:endParaRPr lang="en-US" sz="1800" dirty="0"/>
          </a:p>
        </p:txBody>
      </p:sp>
      <p:sp>
        <p:nvSpPr>
          <p:cNvPr id="10" name="Text 8"/>
          <p:cNvSpPr txBox="1"/>
          <p:nvPr/>
        </p:nvSpPr>
        <p:spPr>
          <a:xfrm>
            <a:off x="731520" y="2971800"/>
            <a:ext cx="3108960" cy="594360"/>
          </a:xfrm>
          <a:prstGeom prst="rect">
            <a:avLst/>
          </a:prstGeom>
          <a:noFill/>
          <a:ln/>
        </p:spPr>
        <p:txBody>
          <a:bodyPr wrap="square" lIns="0" tIns="0" rIns="0" bIns="0" rtlCol="0" anchor="ctr"/>
          <a:lstStyle/>
          <a:p>
            <a:pPr marL="0" indent="0">
              <a:buNone/>
            </a:pPr>
            <a:r>
              <a:rPr lang="en-US" sz="1300" dirty="0">
                <a:solidFill>
                  <a:srgbClr val="6B7280"/>
                </a:solidFill>
                <a:latin typeface="Courier New" pitchFamily="34" charset="0"/>
                <a:ea typeface="Courier New" pitchFamily="34" charset="-122"/>
                <a:cs typeface="Courier New" pitchFamily="34" charset="-120"/>
              </a:rPr>
              <a:t>maxₖ DFU(gₖ)</a:t>
            </a:r>
            <a:endParaRPr lang="en-US" sz="1300" dirty="0"/>
          </a:p>
        </p:txBody>
      </p:sp>
      <p:sp>
        <p:nvSpPr>
          <p:cNvPr id="11" name="Text 9"/>
          <p:cNvSpPr txBox="1"/>
          <p:nvPr/>
        </p:nvSpPr>
        <p:spPr>
          <a:xfrm>
            <a:off x="731520" y="3657600"/>
            <a:ext cx="3108960" cy="1554480"/>
          </a:xfrm>
          <a:prstGeom prst="rect">
            <a:avLst/>
          </a:prstGeom>
          <a:noFill/>
          <a:ln/>
        </p:spPr>
        <p:txBody>
          <a:bodyPr wrap="square" lIns="0" tIns="0" rIns="0" bIns="0" rtlCol="0" anchor="ctr"/>
          <a:lstStyle/>
          <a:p>
            <a:pPr marL="0" indent="0">
              <a:lnSpc>
                <a:spcPct val="120000"/>
              </a:lnSpc>
              <a:buNone/>
            </a:pPr>
            <a:r>
              <a:rPr lang="en-US" sz="1200" dirty="0">
                <a:solidFill>
                  <a:srgbClr val="1B1F3B"/>
                </a:solidFill>
                <a:latin typeface="Calibri" pitchFamily="34" charset="0"/>
                <a:ea typeface="Calibri" pitchFamily="34" charset="-122"/>
                <a:cs typeface="Calibri" pitchFamily="34" charset="-120"/>
              </a:rPr>
              <a:t>Greedy view — rewards a split that isolates at least one sharply polarized subgroup.</a:t>
            </a:r>
            <a:endParaRPr lang="en-US" sz="1200" dirty="0"/>
          </a:p>
        </p:txBody>
      </p:sp>
      <p:sp>
        <p:nvSpPr>
          <p:cNvPr id="12" name="Shape 10"/>
          <p:cNvSpPr/>
          <p:nvPr/>
        </p:nvSpPr>
        <p:spPr>
          <a:xfrm>
            <a:off x="4297680" y="2240280"/>
            <a:ext cx="3611880" cy="3200400"/>
          </a:xfrm>
          <a:prstGeom prst="roundRect">
            <a:avLst>
              <a:gd name="adj" fmla="val 2286"/>
            </a:avLst>
          </a:prstGeom>
          <a:solidFill>
            <a:srgbClr val="F1F3FA"/>
          </a:solidFill>
          <a:ln/>
        </p:spPr>
        <p:txBody>
          <a:bodyPr/>
          <a:lstStyle/>
          <a:p>
            <a:endParaRPr lang="el-GR"/>
          </a:p>
        </p:txBody>
      </p:sp>
      <p:sp>
        <p:nvSpPr>
          <p:cNvPr id="13" name="Shape 11"/>
          <p:cNvSpPr/>
          <p:nvPr/>
        </p:nvSpPr>
        <p:spPr>
          <a:xfrm>
            <a:off x="4297680" y="2240280"/>
            <a:ext cx="3611880" cy="73152"/>
          </a:xfrm>
          <a:prstGeom prst="rect">
            <a:avLst/>
          </a:prstGeom>
          <a:solidFill>
            <a:srgbClr val="E4572E"/>
          </a:solidFill>
          <a:ln/>
        </p:spPr>
        <p:txBody>
          <a:bodyPr/>
          <a:lstStyle/>
          <a:p>
            <a:endParaRPr lang="el-GR"/>
          </a:p>
        </p:txBody>
      </p:sp>
      <p:sp>
        <p:nvSpPr>
          <p:cNvPr id="14" name="Text 12"/>
          <p:cNvSpPr txBox="1"/>
          <p:nvPr/>
        </p:nvSpPr>
        <p:spPr>
          <a:xfrm>
            <a:off x="4572000" y="2468880"/>
            <a:ext cx="3108960" cy="457200"/>
          </a:xfrm>
          <a:prstGeom prst="rect">
            <a:avLst/>
          </a:prstGeom>
          <a:noFill/>
          <a:ln/>
        </p:spPr>
        <p:txBody>
          <a:bodyPr wrap="square" lIns="0" tIns="0" rIns="0" bIns="0" rtlCol="0" anchor="ctr"/>
          <a:lstStyle/>
          <a:p>
            <a:pPr marL="0" indent="0">
              <a:buNone/>
            </a:pPr>
            <a:r>
              <a:rPr lang="en-US" sz="1800" b="1" dirty="0">
                <a:solidFill>
                  <a:srgbClr val="1B1F3B"/>
                </a:solidFill>
                <a:latin typeface="Cambria" pitchFamily="34" charset="0"/>
                <a:ea typeface="Cambria" pitchFamily="34" charset="-122"/>
                <a:cs typeface="Cambria" pitchFamily="34" charset="-120"/>
              </a:rPr>
              <a:t>PEGvar</a:t>
            </a:r>
            <a:endParaRPr lang="en-US" sz="1800" dirty="0"/>
          </a:p>
        </p:txBody>
      </p:sp>
      <p:sp>
        <p:nvSpPr>
          <p:cNvPr id="15" name="Text 13"/>
          <p:cNvSpPr txBox="1"/>
          <p:nvPr/>
        </p:nvSpPr>
        <p:spPr>
          <a:xfrm>
            <a:off x="4572000" y="2971800"/>
            <a:ext cx="3108960" cy="594360"/>
          </a:xfrm>
          <a:prstGeom prst="rect">
            <a:avLst/>
          </a:prstGeom>
          <a:noFill/>
          <a:ln/>
        </p:spPr>
        <p:txBody>
          <a:bodyPr wrap="square" lIns="0" tIns="0" rIns="0" bIns="0" rtlCol="0" anchor="ctr"/>
          <a:lstStyle/>
          <a:p>
            <a:pPr marL="0" indent="0">
              <a:buNone/>
            </a:pPr>
            <a:r>
              <a:rPr lang="en-US" sz="1300" dirty="0">
                <a:solidFill>
                  <a:srgbClr val="6B7280"/>
                </a:solidFill>
                <a:latin typeface="Courier New" pitchFamily="34" charset="0"/>
                <a:ea typeface="Courier New" pitchFamily="34" charset="-122"/>
                <a:cs typeface="Courier New" pitchFamily="34" charset="-120"/>
              </a:rPr>
              <a:t>Σₖ (Nₖ/N)·DFU(gₖ)</a:t>
            </a:r>
            <a:endParaRPr lang="en-US" sz="1300" dirty="0"/>
          </a:p>
        </p:txBody>
      </p:sp>
      <p:sp>
        <p:nvSpPr>
          <p:cNvPr id="16" name="Text 14"/>
          <p:cNvSpPr txBox="1"/>
          <p:nvPr/>
        </p:nvSpPr>
        <p:spPr>
          <a:xfrm>
            <a:off x="4572000" y="3657600"/>
            <a:ext cx="3108960" cy="1554480"/>
          </a:xfrm>
          <a:prstGeom prst="rect">
            <a:avLst/>
          </a:prstGeom>
          <a:noFill/>
          <a:ln/>
        </p:spPr>
        <p:txBody>
          <a:bodyPr wrap="square" lIns="0" tIns="0" rIns="0" bIns="0" rtlCol="0" anchor="ctr"/>
          <a:lstStyle/>
          <a:p>
            <a:pPr marL="0" indent="0">
              <a:lnSpc>
                <a:spcPct val="120000"/>
              </a:lnSpc>
              <a:buNone/>
            </a:pPr>
            <a:r>
              <a:rPr lang="en-US" sz="1200" dirty="0">
                <a:solidFill>
                  <a:srgbClr val="1B1F3B"/>
                </a:solidFill>
                <a:latin typeface="Calibri" pitchFamily="34" charset="0"/>
                <a:ea typeface="Calibri" pitchFamily="34" charset="-122"/>
                <a:cs typeface="Calibri" pitchFamily="34" charset="-120"/>
              </a:rPr>
              <a:t>Size-weighted average — rewards splits that explain polarization broadly, across the whole population.</a:t>
            </a:r>
            <a:endParaRPr lang="en-US" sz="1200" dirty="0"/>
          </a:p>
        </p:txBody>
      </p:sp>
      <p:sp>
        <p:nvSpPr>
          <p:cNvPr id="17" name="Shape 15"/>
          <p:cNvSpPr/>
          <p:nvPr/>
        </p:nvSpPr>
        <p:spPr>
          <a:xfrm>
            <a:off x="8138160" y="2240280"/>
            <a:ext cx="3611880" cy="3200400"/>
          </a:xfrm>
          <a:prstGeom prst="roundRect">
            <a:avLst>
              <a:gd name="adj" fmla="val 2286"/>
            </a:avLst>
          </a:prstGeom>
          <a:solidFill>
            <a:srgbClr val="F1F3FA"/>
          </a:solidFill>
          <a:ln/>
        </p:spPr>
        <p:txBody>
          <a:bodyPr/>
          <a:lstStyle/>
          <a:p>
            <a:endParaRPr lang="el-GR"/>
          </a:p>
        </p:txBody>
      </p:sp>
      <p:sp>
        <p:nvSpPr>
          <p:cNvPr id="18" name="Shape 16"/>
          <p:cNvSpPr/>
          <p:nvPr/>
        </p:nvSpPr>
        <p:spPr>
          <a:xfrm>
            <a:off x="8138160" y="2240280"/>
            <a:ext cx="3611880" cy="73152"/>
          </a:xfrm>
          <a:prstGeom prst="rect">
            <a:avLst/>
          </a:prstGeom>
          <a:solidFill>
            <a:srgbClr val="F2B705"/>
          </a:solidFill>
          <a:ln/>
        </p:spPr>
        <p:txBody>
          <a:bodyPr/>
          <a:lstStyle/>
          <a:p>
            <a:endParaRPr lang="el-GR"/>
          </a:p>
        </p:txBody>
      </p:sp>
      <p:sp>
        <p:nvSpPr>
          <p:cNvPr id="19" name="Text 17"/>
          <p:cNvSpPr txBox="1"/>
          <p:nvPr/>
        </p:nvSpPr>
        <p:spPr>
          <a:xfrm>
            <a:off x="8412480" y="2468880"/>
            <a:ext cx="3108960" cy="457200"/>
          </a:xfrm>
          <a:prstGeom prst="rect">
            <a:avLst/>
          </a:prstGeom>
          <a:noFill/>
          <a:ln/>
        </p:spPr>
        <p:txBody>
          <a:bodyPr wrap="square" lIns="0" tIns="0" rIns="0" bIns="0" rtlCol="0" anchor="ctr"/>
          <a:lstStyle/>
          <a:p>
            <a:pPr marL="0" indent="0">
              <a:buNone/>
            </a:pPr>
            <a:r>
              <a:rPr lang="en-US" sz="1800" b="1" dirty="0">
                <a:solidFill>
                  <a:srgbClr val="1B1F3B"/>
                </a:solidFill>
                <a:latin typeface="Cambria" pitchFamily="34" charset="0"/>
                <a:ea typeface="Cambria" pitchFamily="34" charset="-122"/>
                <a:cs typeface="Cambria" pitchFamily="34" charset="-120"/>
              </a:rPr>
              <a:t>PEGβ</a:t>
            </a:r>
            <a:endParaRPr lang="en-US" sz="1800" dirty="0"/>
          </a:p>
        </p:txBody>
      </p:sp>
      <p:sp>
        <p:nvSpPr>
          <p:cNvPr id="20" name="Text 18"/>
          <p:cNvSpPr txBox="1"/>
          <p:nvPr/>
        </p:nvSpPr>
        <p:spPr>
          <a:xfrm>
            <a:off x="8412480" y="2971800"/>
            <a:ext cx="3108960" cy="594360"/>
          </a:xfrm>
          <a:prstGeom prst="rect">
            <a:avLst/>
          </a:prstGeom>
          <a:noFill/>
          <a:ln/>
        </p:spPr>
        <p:txBody>
          <a:bodyPr wrap="square" lIns="0" tIns="0" rIns="0" bIns="0" rtlCol="0" anchor="ctr"/>
          <a:lstStyle/>
          <a:p>
            <a:pPr marL="0" indent="0">
              <a:buNone/>
            </a:pPr>
            <a:r>
              <a:rPr lang="en-US" sz="1300" dirty="0">
                <a:solidFill>
                  <a:srgbClr val="6B7280"/>
                </a:solidFill>
                <a:latin typeface="Courier New" pitchFamily="34" charset="0"/>
                <a:ea typeface="Courier New" pitchFamily="34" charset="-122"/>
                <a:cs typeface="Courier New" pitchFamily="34" charset="-120"/>
              </a:rPr>
              <a:t>Fβ-style harmonic mean of the two</a:t>
            </a:r>
            <a:endParaRPr lang="en-US" sz="1300" dirty="0"/>
          </a:p>
        </p:txBody>
      </p:sp>
      <p:sp>
        <p:nvSpPr>
          <p:cNvPr id="21" name="Text 19"/>
          <p:cNvSpPr txBox="1"/>
          <p:nvPr/>
        </p:nvSpPr>
        <p:spPr>
          <a:xfrm>
            <a:off x="8412480" y="3657600"/>
            <a:ext cx="3108960" cy="1554480"/>
          </a:xfrm>
          <a:prstGeom prst="rect">
            <a:avLst/>
          </a:prstGeom>
          <a:noFill/>
          <a:ln/>
        </p:spPr>
        <p:txBody>
          <a:bodyPr wrap="square" lIns="0" tIns="0" rIns="0" bIns="0" rtlCol="0" anchor="ctr"/>
          <a:lstStyle/>
          <a:p>
            <a:pPr marL="0" indent="0">
              <a:lnSpc>
                <a:spcPct val="120000"/>
              </a:lnSpc>
              <a:buNone/>
            </a:pPr>
            <a:r>
              <a:rPr lang="en-US" sz="1200" dirty="0">
                <a:solidFill>
                  <a:srgbClr val="1B1F3B"/>
                </a:solidFill>
                <a:latin typeface="Calibri" pitchFamily="34" charset="0"/>
                <a:ea typeface="Calibri" pitchFamily="34" charset="-122"/>
                <a:cs typeface="Calibri" pitchFamily="34" charset="-120"/>
              </a:rPr>
              <a:t>Balances greedy and broad views. β sets the trade-off.</a:t>
            </a:r>
            <a:endParaRPr lang="en-US" sz="1200" dirty="0"/>
          </a:p>
        </p:txBody>
      </p:sp>
      <p:sp>
        <p:nvSpPr>
          <p:cNvPr id="22" name="Text 20"/>
          <p:cNvSpPr txBox="1"/>
          <p:nvPr/>
        </p:nvSpPr>
        <p:spPr>
          <a:xfrm>
            <a:off x="457200" y="5623560"/>
            <a:ext cx="11247120" cy="640080"/>
          </a:xfrm>
          <a:prstGeom prst="rect">
            <a:avLst/>
          </a:prstGeom>
          <a:noFill/>
          <a:ln/>
        </p:spPr>
        <p:txBody>
          <a:bodyPr wrap="square" lIns="0" tIns="0" rIns="0" bIns="0" rtlCol="0" anchor="ctr"/>
          <a:lstStyle/>
          <a:p>
            <a:pPr marL="0" indent="0">
              <a:buNone/>
            </a:pPr>
            <a:r>
              <a:rPr lang="en-US" sz="1600" b="1" dirty="0">
                <a:solidFill>
                  <a:srgbClr val="1B1F3B"/>
                </a:solidFill>
                <a:latin typeface="Calibri" pitchFamily="34" charset="0"/>
                <a:ea typeface="Calibri" pitchFamily="34" charset="-122"/>
                <a:cs typeface="Calibri" pitchFamily="34" charset="-120"/>
              </a:rPr>
              <a:t>Normalization: </a:t>
            </a:r>
            <a:r>
              <a:rPr lang="en-US" sz="1600" dirty="0">
                <a:solidFill>
                  <a:srgbClr val="6B7280"/>
                </a:solidFill>
                <a:latin typeface="Calibri" pitchFamily="34" charset="0"/>
                <a:ea typeface="Calibri" pitchFamily="34" charset="-122"/>
                <a:cs typeface="Calibri" pitchFamily="34" charset="-120"/>
              </a:rPr>
              <a:t>PEG is divided by the item's global DFU, so the score reflects polarization explained relative to the item's overall polarization — comparable across easy and hard items.</a:t>
            </a:r>
            <a:endParaRPr lang="en-US" sz="1600" dirty="0"/>
          </a:p>
        </p:txBody>
      </p:sp>
      <p:sp>
        <p:nvSpPr>
          <p:cNvPr id="23" name="Text 21"/>
          <p:cNvSpPr txBox="1"/>
          <p:nvPr/>
        </p:nvSpPr>
        <p:spPr>
          <a:xfrm>
            <a:off x="11521440" y="6473952"/>
            <a:ext cx="548640" cy="274320"/>
          </a:xfrm>
          <a:prstGeom prst="rect">
            <a:avLst/>
          </a:prstGeom>
          <a:noFill/>
          <a:ln/>
        </p:spPr>
        <p:txBody>
          <a:bodyPr wrap="square" lIns="0" tIns="0" rIns="0" bIns="0" rtlCol="0" anchor="ctr"/>
          <a:lstStyle/>
          <a:p>
            <a:pPr marL="0" indent="0" algn="r">
              <a:buNone/>
            </a:pPr>
            <a:r>
              <a:rPr lang="en-US" sz="1000" dirty="0">
                <a:solidFill>
                  <a:srgbClr val="B7BCD0"/>
                </a:solidFill>
                <a:latin typeface="Calibri" pitchFamily="34" charset="0"/>
                <a:ea typeface="Calibri" pitchFamily="34" charset="-122"/>
                <a:cs typeface="Calibri" pitchFamily="34" charset="-120"/>
              </a:rPr>
              <a:t>07</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457200" y="457200"/>
            <a:ext cx="201168" cy="201168"/>
          </a:xfrm>
          <a:prstGeom prst="pie">
            <a:avLst>
              <a:gd name="adj1" fmla="val 16200000"/>
              <a:gd name="adj2" fmla="val 5400000"/>
            </a:avLst>
          </a:prstGeom>
          <a:solidFill>
            <a:srgbClr val="E4572E"/>
          </a:solidFill>
          <a:ln/>
        </p:spPr>
        <p:txBody>
          <a:bodyPr/>
          <a:lstStyle/>
          <a:p>
            <a:endParaRPr lang="el-GR"/>
          </a:p>
        </p:txBody>
      </p:sp>
      <p:sp>
        <p:nvSpPr>
          <p:cNvPr id="3" name="Shape 1"/>
          <p:cNvSpPr/>
          <p:nvPr/>
        </p:nvSpPr>
        <p:spPr>
          <a:xfrm>
            <a:off x="457200" y="457200"/>
            <a:ext cx="201168" cy="201168"/>
          </a:xfrm>
          <a:prstGeom prst="pie">
            <a:avLst>
              <a:gd name="adj1" fmla="val 5400000"/>
              <a:gd name="adj2" fmla="val 16200000"/>
            </a:avLst>
          </a:prstGeom>
          <a:solidFill>
            <a:srgbClr val="2F6FED"/>
          </a:solidFill>
          <a:ln/>
        </p:spPr>
        <p:txBody>
          <a:bodyPr/>
          <a:lstStyle/>
          <a:p>
            <a:endParaRPr lang="el-GR"/>
          </a:p>
        </p:txBody>
      </p:sp>
      <p:sp>
        <p:nvSpPr>
          <p:cNvPr id="4" name="Text 2"/>
          <p:cNvSpPr txBox="1"/>
          <p:nvPr/>
        </p:nvSpPr>
        <p:spPr>
          <a:xfrm>
            <a:off x="777240" y="384048"/>
            <a:ext cx="7315200" cy="320040"/>
          </a:xfrm>
          <a:prstGeom prst="rect">
            <a:avLst/>
          </a:prstGeom>
          <a:noFill/>
          <a:ln/>
        </p:spPr>
        <p:txBody>
          <a:bodyPr wrap="square" lIns="0" tIns="0" rIns="0" bIns="0" rtlCol="0" anchor="ctr"/>
          <a:lstStyle/>
          <a:p>
            <a:pPr marL="0" indent="0">
              <a:buNone/>
            </a:pPr>
            <a:r>
              <a:rPr lang="en-US" sz="1100" b="1" kern="0" spc="200" dirty="0">
                <a:solidFill>
                  <a:srgbClr val="6B7280"/>
                </a:solidFill>
                <a:latin typeface="Calibri" pitchFamily="34" charset="0"/>
                <a:ea typeface="Calibri" pitchFamily="34" charset="-122"/>
                <a:cs typeface="Calibri" pitchFamily="34" charset="-120"/>
              </a:rPr>
              <a:t>EVALUATION, PART 1</a:t>
            </a:r>
            <a:endParaRPr lang="en-US" sz="1100" dirty="0"/>
          </a:p>
        </p:txBody>
      </p:sp>
      <p:sp>
        <p:nvSpPr>
          <p:cNvPr id="5" name="Text 3"/>
          <p:cNvSpPr txBox="1"/>
          <p:nvPr/>
        </p:nvSpPr>
        <p:spPr>
          <a:xfrm>
            <a:off x="457200" y="874902"/>
            <a:ext cx="11247120" cy="777240"/>
          </a:xfrm>
          <a:prstGeom prst="rect">
            <a:avLst/>
          </a:prstGeom>
          <a:noFill/>
          <a:ln/>
        </p:spPr>
        <p:txBody>
          <a:bodyPr wrap="square" lIns="0" tIns="0" rIns="0" bIns="0" rtlCol="0" anchor="ctr"/>
          <a:lstStyle/>
          <a:p>
            <a:pPr marL="0" indent="0">
              <a:buNone/>
            </a:pPr>
            <a:r>
              <a:rPr lang="en-US" sz="3600" b="1" dirty="0">
                <a:solidFill>
                  <a:srgbClr val="1B1F3B"/>
                </a:solidFill>
                <a:latin typeface="Cambria" pitchFamily="34" charset="0"/>
                <a:ea typeface="Cambria" pitchFamily="34" charset="-122"/>
                <a:cs typeface="Cambria" pitchFamily="34" charset="-120"/>
              </a:rPr>
              <a:t>Picking hyperparameters on synthetic data with known ground truth</a:t>
            </a:r>
            <a:endParaRPr lang="en-US" sz="3600" dirty="0"/>
          </a:p>
        </p:txBody>
      </p:sp>
      <p:sp>
        <p:nvSpPr>
          <p:cNvPr id="6" name="Text 4"/>
          <p:cNvSpPr txBox="1"/>
          <p:nvPr/>
        </p:nvSpPr>
        <p:spPr>
          <a:xfrm>
            <a:off x="457200" y="1853405"/>
            <a:ext cx="7479698" cy="4605276"/>
          </a:xfrm>
          <a:prstGeom prst="rect">
            <a:avLst/>
          </a:prstGeom>
          <a:noFill/>
          <a:ln/>
        </p:spPr>
        <p:txBody>
          <a:bodyPr wrap="square" lIns="0" tIns="0" rIns="0" bIns="0" rtlCol="0" anchor="ctr"/>
          <a:lstStyle/>
          <a:p>
            <a:pPr marL="0" indent="0">
              <a:lnSpc>
                <a:spcPct val="125000"/>
              </a:lnSpc>
              <a:buNone/>
            </a:pPr>
            <a:r>
              <a:rPr lang="en-US" sz="2000" b="1" dirty="0">
                <a:solidFill>
                  <a:srgbClr val="1B1F3B"/>
                </a:solidFill>
                <a:latin typeface="Calibri" pitchFamily="34" charset="0"/>
                <a:ea typeface="Calibri" pitchFamily="34" charset="-122"/>
                <a:cs typeface="Calibri" pitchFamily="34" charset="-120"/>
              </a:rPr>
              <a:t>Why synthetic first: </a:t>
            </a:r>
            <a:endParaRPr lang="en-US" sz="2000" dirty="0"/>
          </a:p>
          <a:p>
            <a:pPr marL="0" indent="0">
              <a:lnSpc>
                <a:spcPct val="125000"/>
              </a:lnSpc>
              <a:spcAft>
                <a:spcPts val="1000"/>
              </a:spcAft>
              <a:buNone/>
            </a:pPr>
            <a:r>
              <a:rPr lang="en-US" sz="2000" dirty="0">
                <a:solidFill>
                  <a:srgbClr val="6B7280"/>
                </a:solidFill>
                <a:latin typeface="Calibri" pitchFamily="34" charset="0"/>
                <a:ea typeface="Calibri" pitchFamily="34" charset="-122"/>
                <a:cs typeface="Calibri" pitchFamily="34" charset="-120"/>
              </a:rPr>
              <a:t>real datasets do not have polarization ground-truth to check recovery against.</a:t>
            </a:r>
            <a:endParaRPr lang="en-US" sz="2000" dirty="0"/>
          </a:p>
          <a:p>
            <a:pPr marL="0" indent="0">
              <a:lnSpc>
                <a:spcPct val="125000"/>
              </a:lnSpc>
              <a:buNone/>
            </a:pPr>
            <a:r>
              <a:rPr lang="en-US" sz="2000" b="1" dirty="0">
                <a:solidFill>
                  <a:srgbClr val="1B1F3B"/>
                </a:solidFill>
                <a:latin typeface="Calibri" pitchFamily="34" charset="0"/>
                <a:ea typeface="Calibri" pitchFamily="34" charset="-122"/>
                <a:cs typeface="Calibri" pitchFamily="34" charset="-120"/>
              </a:rPr>
              <a:t>Setup: </a:t>
            </a:r>
            <a:endParaRPr lang="en-US" sz="2000" dirty="0"/>
          </a:p>
          <a:p>
            <a:pPr marL="0" indent="0">
              <a:lnSpc>
                <a:spcPct val="125000"/>
              </a:lnSpc>
              <a:spcAft>
                <a:spcPts val="1000"/>
              </a:spcAft>
              <a:buNone/>
            </a:pPr>
            <a:r>
              <a:rPr lang="en-US" sz="2000" dirty="0">
                <a:solidFill>
                  <a:srgbClr val="6B7280"/>
                </a:solidFill>
                <a:latin typeface="Calibri" pitchFamily="34" charset="0"/>
                <a:ea typeface="Calibri" pitchFamily="34" charset="-122"/>
                <a:cs typeface="Calibri" pitchFamily="34" charset="-120"/>
              </a:rPr>
              <a:t>5 SCD dimensions × 162 intersectional identities × 10 annotators = 1,620-annotator pool; each text gets 0–4 active dimensions at a controlled strength α.</a:t>
            </a:r>
            <a:endParaRPr lang="en-US" sz="2000" dirty="0"/>
          </a:p>
          <a:p>
            <a:pPr marL="0" indent="0">
              <a:lnSpc>
                <a:spcPct val="125000"/>
              </a:lnSpc>
              <a:buNone/>
            </a:pPr>
            <a:r>
              <a:rPr lang="en-US" sz="2000" b="1" dirty="0">
                <a:solidFill>
                  <a:srgbClr val="1B1F3B"/>
                </a:solidFill>
                <a:latin typeface="Calibri" pitchFamily="34" charset="0"/>
                <a:ea typeface="Calibri" pitchFamily="34" charset="-122"/>
                <a:cs typeface="Calibri" pitchFamily="34" charset="-120"/>
              </a:rPr>
              <a:t>Search: </a:t>
            </a:r>
            <a:endParaRPr lang="en-US" sz="2000" dirty="0"/>
          </a:p>
          <a:p>
            <a:pPr marL="0" indent="0">
              <a:lnSpc>
                <a:spcPct val="125000"/>
              </a:lnSpc>
              <a:buNone/>
            </a:pPr>
            <a:r>
              <a:rPr lang="en-US" sz="2000" dirty="0">
                <a:solidFill>
                  <a:srgbClr val="6B7280"/>
                </a:solidFill>
                <a:latin typeface="Calibri" pitchFamily="34" charset="0"/>
                <a:ea typeface="Calibri" pitchFamily="34" charset="-122"/>
                <a:cs typeface="Calibri" pitchFamily="34" charset="-120"/>
              </a:rPr>
              <a:t>3,240-combination grid (θ, min size, depth, PEG type, h, θstop); 800 configs sampled × 3 corpora = 2,400 runs, ranked by mean Jaccard vs. the known structure.</a:t>
            </a:r>
            <a:endParaRPr lang="en-US" sz="2000" dirty="0"/>
          </a:p>
        </p:txBody>
      </p:sp>
      <p:sp>
        <p:nvSpPr>
          <p:cNvPr id="9" name="Text 6"/>
          <p:cNvSpPr txBox="1"/>
          <p:nvPr/>
        </p:nvSpPr>
        <p:spPr>
          <a:xfrm>
            <a:off x="11521440" y="6473952"/>
            <a:ext cx="548640" cy="274320"/>
          </a:xfrm>
          <a:prstGeom prst="rect">
            <a:avLst/>
          </a:prstGeom>
          <a:noFill/>
          <a:ln/>
        </p:spPr>
        <p:txBody>
          <a:bodyPr wrap="square" lIns="0" tIns="0" rIns="0" bIns="0" rtlCol="0" anchor="ctr"/>
          <a:lstStyle/>
          <a:p>
            <a:pPr marL="0" indent="0" algn="r">
              <a:buNone/>
            </a:pPr>
            <a:r>
              <a:rPr lang="en-US" sz="1000" dirty="0">
                <a:solidFill>
                  <a:srgbClr val="B7BCD0"/>
                </a:solidFill>
                <a:latin typeface="Calibri" pitchFamily="34" charset="0"/>
                <a:ea typeface="Calibri" pitchFamily="34" charset="-122"/>
                <a:cs typeface="Calibri" pitchFamily="34" charset="-120"/>
              </a:rPr>
              <a:t>08</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457200" y="457200"/>
            <a:ext cx="201168" cy="201168"/>
          </a:xfrm>
          <a:prstGeom prst="pie">
            <a:avLst>
              <a:gd name="adj1" fmla="val 16200000"/>
              <a:gd name="adj2" fmla="val 5400000"/>
            </a:avLst>
          </a:prstGeom>
          <a:solidFill>
            <a:srgbClr val="E4572E"/>
          </a:solidFill>
          <a:ln/>
        </p:spPr>
        <p:txBody>
          <a:bodyPr/>
          <a:lstStyle/>
          <a:p>
            <a:endParaRPr lang="el-GR"/>
          </a:p>
        </p:txBody>
      </p:sp>
      <p:sp>
        <p:nvSpPr>
          <p:cNvPr id="3" name="Shape 1"/>
          <p:cNvSpPr/>
          <p:nvPr/>
        </p:nvSpPr>
        <p:spPr>
          <a:xfrm>
            <a:off x="457200" y="457200"/>
            <a:ext cx="201168" cy="201168"/>
          </a:xfrm>
          <a:prstGeom prst="pie">
            <a:avLst>
              <a:gd name="adj1" fmla="val 5400000"/>
              <a:gd name="adj2" fmla="val 16200000"/>
            </a:avLst>
          </a:prstGeom>
          <a:solidFill>
            <a:srgbClr val="2F6FED"/>
          </a:solidFill>
          <a:ln/>
        </p:spPr>
        <p:txBody>
          <a:bodyPr/>
          <a:lstStyle/>
          <a:p>
            <a:endParaRPr lang="el-GR"/>
          </a:p>
        </p:txBody>
      </p:sp>
      <p:sp>
        <p:nvSpPr>
          <p:cNvPr id="4" name="Text 2"/>
          <p:cNvSpPr txBox="1"/>
          <p:nvPr/>
        </p:nvSpPr>
        <p:spPr>
          <a:xfrm>
            <a:off x="777240" y="384048"/>
            <a:ext cx="7315200" cy="320040"/>
          </a:xfrm>
          <a:prstGeom prst="rect">
            <a:avLst/>
          </a:prstGeom>
          <a:noFill/>
          <a:ln/>
        </p:spPr>
        <p:txBody>
          <a:bodyPr wrap="square" lIns="0" tIns="0" rIns="0" bIns="0" rtlCol="0" anchor="ctr"/>
          <a:lstStyle/>
          <a:p>
            <a:pPr marL="0" indent="0">
              <a:buNone/>
            </a:pPr>
            <a:r>
              <a:rPr lang="en-US" sz="1100" b="1" kern="0" spc="200" dirty="0">
                <a:solidFill>
                  <a:srgbClr val="6B7280"/>
                </a:solidFill>
                <a:latin typeface="Calibri" pitchFamily="34" charset="0"/>
                <a:ea typeface="Calibri" pitchFamily="34" charset="-122"/>
                <a:cs typeface="Calibri" pitchFamily="34" charset="-120"/>
              </a:rPr>
              <a:t>EVALUATION, PART 2</a:t>
            </a:r>
            <a:endParaRPr lang="en-US" sz="1100" dirty="0"/>
          </a:p>
        </p:txBody>
      </p:sp>
      <p:sp>
        <p:nvSpPr>
          <p:cNvPr id="5" name="Text 3"/>
          <p:cNvSpPr txBox="1"/>
          <p:nvPr/>
        </p:nvSpPr>
        <p:spPr>
          <a:xfrm>
            <a:off x="472440" y="1046988"/>
            <a:ext cx="11247120" cy="777240"/>
          </a:xfrm>
          <a:prstGeom prst="rect">
            <a:avLst/>
          </a:prstGeom>
          <a:noFill/>
          <a:ln/>
        </p:spPr>
        <p:txBody>
          <a:bodyPr wrap="square" lIns="0" tIns="0" rIns="0" bIns="0" rtlCol="0" anchor="ctr"/>
          <a:lstStyle/>
          <a:p>
            <a:pPr marL="0" indent="0">
              <a:buNone/>
            </a:pPr>
            <a:r>
              <a:rPr lang="en-US" sz="3600" b="1" dirty="0">
                <a:solidFill>
                  <a:srgbClr val="1B1F3B"/>
                </a:solidFill>
                <a:latin typeface="Cambria" pitchFamily="34" charset="0"/>
                <a:ea typeface="Cambria" pitchFamily="34" charset="-122"/>
                <a:cs typeface="Cambria" pitchFamily="34" charset="-120"/>
              </a:rPr>
              <a:t>Selected configuration recovers the true structure well</a:t>
            </a:r>
            <a:endParaRPr lang="en-US" sz="3600" dirty="0"/>
          </a:p>
        </p:txBody>
      </p:sp>
      <p:sp>
        <p:nvSpPr>
          <p:cNvPr id="6" name="Text 4"/>
          <p:cNvSpPr txBox="1"/>
          <p:nvPr/>
        </p:nvSpPr>
        <p:spPr>
          <a:xfrm>
            <a:off x="457200" y="1988820"/>
            <a:ext cx="11247120" cy="411480"/>
          </a:xfrm>
          <a:prstGeom prst="rect">
            <a:avLst/>
          </a:prstGeom>
          <a:solidFill>
            <a:srgbClr val="1B1F3B"/>
          </a:solidFill>
          <a:ln/>
        </p:spPr>
        <p:txBody>
          <a:bodyPr wrap="square" lIns="76200" tIns="76200" rIns="76200" bIns="76200" rtlCol="0" anchor="ctr"/>
          <a:lstStyle/>
          <a:p>
            <a:pPr marL="0" indent="0" algn="ctr">
              <a:buNone/>
            </a:pPr>
            <a:r>
              <a:rPr lang="en-US" sz="1300" dirty="0">
                <a:solidFill>
                  <a:srgbClr val="FFFFFF"/>
                </a:solidFill>
                <a:latin typeface="Courier New" pitchFamily="34" charset="0"/>
                <a:ea typeface="Courier New" pitchFamily="34" charset="-122"/>
                <a:cs typeface="Courier New" pitchFamily="34" charset="-120"/>
              </a:rPr>
              <a:t>θ=0.3   min_size=0.03   max_depth=8   PEGβ (β=1.0)   h=0.15   relative_h=True   θstop=0.10</a:t>
            </a:r>
            <a:endParaRPr lang="en-US" sz="1300" dirty="0"/>
          </a:p>
        </p:txBody>
      </p:sp>
      <p:sp>
        <p:nvSpPr>
          <p:cNvPr id="7" name="Shape 5"/>
          <p:cNvSpPr/>
          <p:nvPr/>
        </p:nvSpPr>
        <p:spPr>
          <a:xfrm>
            <a:off x="457200" y="2766060"/>
            <a:ext cx="2697480" cy="1828800"/>
          </a:xfrm>
          <a:prstGeom prst="roundRect">
            <a:avLst>
              <a:gd name="adj" fmla="val 4000"/>
            </a:avLst>
          </a:prstGeom>
          <a:solidFill>
            <a:srgbClr val="F1F3FA"/>
          </a:solidFill>
          <a:ln/>
        </p:spPr>
        <p:txBody>
          <a:bodyPr/>
          <a:lstStyle/>
          <a:p>
            <a:endParaRPr lang="el-GR"/>
          </a:p>
        </p:txBody>
      </p:sp>
      <p:sp>
        <p:nvSpPr>
          <p:cNvPr id="8" name="Text 6"/>
          <p:cNvSpPr txBox="1"/>
          <p:nvPr/>
        </p:nvSpPr>
        <p:spPr>
          <a:xfrm>
            <a:off x="457200" y="2903220"/>
            <a:ext cx="2697480" cy="868680"/>
          </a:xfrm>
          <a:prstGeom prst="rect">
            <a:avLst/>
          </a:prstGeom>
          <a:noFill/>
          <a:ln/>
        </p:spPr>
        <p:txBody>
          <a:bodyPr wrap="square" lIns="0" tIns="0" rIns="0" bIns="0" rtlCol="0" anchor="ctr"/>
          <a:lstStyle/>
          <a:p>
            <a:pPr marL="0" indent="0" algn="ctr">
              <a:buNone/>
            </a:pPr>
            <a:r>
              <a:rPr lang="en-US" sz="3400" b="1" dirty="0">
                <a:solidFill>
                  <a:srgbClr val="1B1F3B"/>
                </a:solidFill>
                <a:latin typeface="Cambria" pitchFamily="34" charset="0"/>
                <a:ea typeface="Cambria" pitchFamily="34" charset="-122"/>
                <a:cs typeface="Cambria" pitchFamily="34" charset="-120"/>
              </a:rPr>
              <a:t>0.892</a:t>
            </a:r>
            <a:endParaRPr lang="en-US" sz="3400" dirty="0"/>
          </a:p>
        </p:txBody>
      </p:sp>
      <p:sp>
        <p:nvSpPr>
          <p:cNvPr id="9" name="Text 7"/>
          <p:cNvSpPr txBox="1"/>
          <p:nvPr/>
        </p:nvSpPr>
        <p:spPr>
          <a:xfrm>
            <a:off x="457200" y="3771900"/>
            <a:ext cx="2697480" cy="320040"/>
          </a:xfrm>
          <a:prstGeom prst="rect">
            <a:avLst/>
          </a:prstGeom>
          <a:noFill/>
          <a:ln/>
        </p:spPr>
        <p:txBody>
          <a:bodyPr wrap="square" lIns="0" tIns="0" rIns="0" bIns="0" rtlCol="0" anchor="ctr"/>
          <a:lstStyle/>
          <a:p>
            <a:pPr marL="0" indent="0" algn="ctr">
              <a:buNone/>
            </a:pPr>
            <a:r>
              <a:rPr lang="en-US" sz="1250" b="1" dirty="0">
                <a:solidFill>
                  <a:srgbClr val="1B1F3B"/>
                </a:solidFill>
                <a:latin typeface="Calibri" pitchFamily="34" charset="0"/>
                <a:ea typeface="Calibri" pitchFamily="34" charset="-122"/>
                <a:cs typeface="Calibri" pitchFamily="34" charset="-120"/>
              </a:rPr>
              <a:t>Mean Jaccard</a:t>
            </a:r>
            <a:endParaRPr lang="en-US" sz="1250" dirty="0"/>
          </a:p>
        </p:txBody>
      </p:sp>
      <p:sp>
        <p:nvSpPr>
          <p:cNvPr id="10" name="Text 8"/>
          <p:cNvSpPr txBox="1"/>
          <p:nvPr/>
        </p:nvSpPr>
        <p:spPr>
          <a:xfrm>
            <a:off x="594360" y="4091940"/>
            <a:ext cx="2423160" cy="411480"/>
          </a:xfrm>
          <a:prstGeom prst="rect">
            <a:avLst/>
          </a:prstGeom>
          <a:noFill/>
          <a:ln/>
        </p:spPr>
        <p:txBody>
          <a:bodyPr wrap="square" lIns="0" tIns="0" rIns="0" bIns="0" rtlCol="0" anchor="ctr"/>
          <a:lstStyle/>
          <a:p>
            <a:pPr marL="0" indent="0" algn="ctr">
              <a:buNone/>
            </a:pPr>
            <a:r>
              <a:rPr lang="en-US" sz="1000" dirty="0">
                <a:solidFill>
                  <a:srgbClr val="6B7280"/>
                </a:solidFill>
                <a:latin typeface="Calibri" pitchFamily="34" charset="0"/>
                <a:ea typeface="Calibri" pitchFamily="34" charset="-122"/>
                <a:cs typeface="Calibri" pitchFamily="34" charset="-120"/>
              </a:rPr>
              <a:t>across 3 synthetic corpora</a:t>
            </a:r>
            <a:endParaRPr lang="en-US" sz="1000" dirty="0"/>
          </a:p>
        </p:txBody>
      </p:sp>
      <p:sp>
        <p:nvSpPr>
          <p:cNvPr id="11" name="Shape 9"/>
          <p:cNvSpPr/>
          <p:nvPr/>
        </p:nvSpPr>
        <p:spPr>
          <a:xfrm>
            <a:off x="3291840" y="2766060"/>
            <a:ext cx="2697480" cy="1828800"/>
          </a:xfrm>
          <a:prstGeom prst="roundRect">
            <a:avLst>
              <a:gd name="adj" fmla="val 4000"/>
            </a:avLst>
          </a:prstGeom>
          <a:solidFill>
            <a:srgbClr val="F1F3FA"/>
          </a:solidFill>
          <a:ln/>
        </p:spPr>
        <p:txBody>
          <a:bodyPr/>
          <a:lstStyle/>
          <a:p>
            <a:endParaRPr lang="el-GR"/>
          </a:p>
        </p:txBody>
      </p:sp>
      <p:sp>
        <p:nvSpPr>
          <p:cNvPr id="12" name="Text 10"/>
          <p:cNvSpPr txBox="1"/>
          <p:nvPr/>
        </p:nvSpPr>
        <p:spPr>
          <a:xfrm>
            <a:off x="3291840" y="2903220"/>
            <a:ext cx="2697480" cy="868680"/>
          </a:xfrm>
          <a:prstGeom prst="rect">
            <a:avLst/>
          </a:prstGeom>
          <a:noFill/>
          <a:ln/>
        </p:spPr>
        <p:txBody>
          <a:bodyPr wrap="square" lIns="0" tIns="0" rIns="0" bIns="0" rtlCol="0" anchor="ctr"/>
          <a:lstStyle/>
          <a:p>
            <a:pPr marL="0" indent="0" algn="ctr">
              <a:buNone/>
            </a:pPr>
            <a:r>
              <a:rPr lang="en-US" sz="3400" b="1" dirty="0">
                <a:solidFill>
                  <a:srgbClr val="1B1F3B"/>
                </a:solidFill>
                <a:latin typeface="Cambria" pitchFamily="34" charset="0"/>
                <a:ea typeface="Cambria" pitchFamily="34" charset="-122"/>
                <a:cs typeface="Cambria" pitchFamily="34" charset="-120"/>
              </a:rPr>
              <a:t>0.948</a:t>
            </a:r>
            <a:endParaRPr lang="en-US" sz="3400" dirty="0"/>
          </a:p>
        </p:txBody>
      </p:sp>
      <p:sp>
        <p:nvSpPr>
          <p:cNvPr id="13" name="Text 11"/>
          <p:cNvSpPr txBox="1"/>
          <p:nvPr/>
        </p:nvSpPr>
        <p:spPr>
          <a:xfrm>
            <a:off x="3291840" y="3771900"/>
            <a:ext cx="2697480" cy="320040"/>
          </a:xfrm>
          <a:prstGeom prst="rect">
            <a:avLst/>
          </a:prstGeom>
          <a:noFill/>
          <a:ln/>
        </p:spPr>
        <p:txBody>
          <a:bodyPr wrap="square" lIns="0" tIns="0" rIns="0" bIns="0" rtlCol="0" anchor="ctr"/>
          <a:lstStyle/>
          <a:p>
            <a:pPr marL="0" indent="0" algn="ctr">
              <a:buNone/>
            </a:pPr>
            <a:r>
              <a:rPr lang="en-US" sz="1250" b="1" dirty="0">
                <a:solidFill>
                  <a:srgbClr val="1B1F3B"/>
                </a:solidFill>
                <a:latin typeface="Calibri" pitchFamily="34" charset="0"/>
                <a:ea typeface="Calibri" pitchFamily="34" charset="-122"/>
                <a:cs typeface="Calibri" pitchFamily="34" charset="-120"/>
              </a:rPr>
              <a:t>Precision</a:t>
            </a:r>
            <a:endParaRPr lang="en-US" sz="1250" dirty="0"/>
          </a:p>
        </p:txBody>
      </p:sp>
      <p:sp>
        <p:nvSpPr>
          <p:cNvPr id="14" name="Text 12"/>
          <p:cNvSpPr txBox="1"/>
          <p:nvPr/>
        </p:nvSpPr>
        <p:spPr>
          <a:xfrm>
            <a:off x="3429000" y="4091940"/>
            <a:ext cx="2423160" cy="411480"/>
          </a:xfrm>
          <a:prstGeom prst="rect">
            <a:avLst/>
          </a:prstGeom>
          <a:noFill/>
          <a:ln/>
        </p:spPr>
        <p:txBody>
          <a:bodyPr wrap="square" lIns="0" tIns="0" rIns="0" bIns="0" rtlCol="0" anchor="ctr"/>
          <a:lstStyle/>
          <a:p>
            <a:pPr marL="0" indent="0" algn="ctr">
              <a:buNone/>
            </a:pPr>
            <a:r>
              <a:rPr lang="en-US" sz="1000" dirty="0">
                <a:solidFill>
                  <a:srgbClr val="6B7280"/>
                </a:solidFill>
                <a:latin typeface="Calibri" pitchFamily="34" charset="0"/>
                <a:ea typeface="Calibri" pitchFamily="34" charset="-122"/>
                <a:cs typeface="Calibri" pitchFamily="34" charset="-120"/>
              </a:rPr>
              <a:t>correctness of recovered dims</a:t>
            </a:r>
            <a:endParaRPr lang="en-US" sz="1000" dirty="0"/>
          </a:p>
        </p:txBody>
      </p:sp>
      <p:sp>
        <p:nvSpPr>
          <p:cNvPr id="15" name="Shape 13"/>
          <p:cNvSpPr/>
          <p:nvPr/>
        </p:nvSpPr>
        <p:spPr>
          <a:xfrm>
            <a:off x="6126480" y="2766060"/>
            <a:ext cx="2697480" cy="1828800"/>
          </a:xfrm>
          <a:prstGeom prst="roundRect">
            <a:avLst>
              <a:gd name="adj" fmla="val 4000"/>
            </a:avLst>
          </a:prstGeom>
          <a:solidFill>
            <a:srgbClr val="F1F3FA"/>
          </a:solidFill>
          <a:ln/>
        </p:spPr>
        <p:txBody>
          <a:bodyPr/>
          <a:lstStyle/>
          <a:p>
            <a:endParaRPr lang="el-GR"/>
          </a:p>
        </p:txBody>
      </p:sp>
      <p:sp>
        <p:nvSpPr>
          <p:cNvPr id="16" name="Text 14"/>
          <p:cNvSpPr txBox="1"/>
          <p:nvPr/>
        </p:nvSpPr>
        <p:spPr>
          <a:xfrm>
            <a:off x="6126480" y="2903220"/>
            <a:ext cx="2697480" cy="868680"/>
          </a:xfrm>
          <a:prstGeom prst="rect">
            <a:avLst/>
          </a:prstGeom>
          <a:noFill/>
          <a:ln/>
        </p:spPr>
        <p:txBody>
          <a:bodyPr wrap="square" lIns="0" tIns="0" rIns="0" bIns="0" rtlCol="0" anchor="ctr"/>
          <a:lstStyle/>
          <a:p>
            <a:pPr marL="0" indent="0" algn="ctr">
              <a:buNone/>
            </a:pPr>
            <a:r>
              <a:rPr lang="en-US" sz="3400" b="1" dirty="0">
                <a:solidFill>
                  <a:srgbClr val="1B1F3B"/>
                </a:solidFill>
                <a:latin typeface="Cambria" pitchFamily="34" charset="0"/>
                <a:ea typeface="Cambria" pitchFamily="34" charset="-122"/>
                <a:cs typeface="Cambria" pitchFamily="34" charset="-120"/>
              </a:rPr>
              <a:t>0.932</a:t>
            </a:r>
            <a:endParaRPr lang="en-US" sz="3400" dirty="0"/>
          </a:p>
        </p:txBody>
      </p:sp>
      <p:sp>
        <p:nvSpPr>
          <p:cNvPr id="17" name="Text 15"/>
          <p:cNvSpPr txBox="1"/>
          <p:nvPr/>
        </p:nvSpPr>
        <p:spPr>
          <a:xfrm>
            <a:off x="6126480" y="3771900"/>
            <a:ext cx="2697480" cy="320040"/>
          </a:xfrm>
          <a:prstGeom prst="rect">
            <a:avLst/>
          </a:prstGeom>
          <a:noFill/>
          <a:ln/>
        </p:spPr>
        <p:txBody>
          <a:bodyPr wrap="square" lIns="0" tIns="0" rIns="0" bIns="0" rtlCol="0" anchor="ctr"/>
          <a:lstStyle/>
          <a:p>
            <a:pPr marL="0" indent="0" algn="ctr">
              <a:buNone/>
            </a:pPr>
            <a:r>
              <a:rPr lang="en-US" sz="1250" b="1" dirty="0">
                <a:solidFill>
                  <a:srgbClr val="1B1F3B"/>
                </a:solidFill>
                <a:latin typeface="Calibri" pitchFamily="34" charset="0"/>
                <a:ea typeface="Calibri" pitchFamily="34" charset="-122"/>
                <a:cs typeface="Calibri" pitchFamily="34" charset="-120"/>
              </a:rPr>
              <a:t>Recall</a:t>
            </a:r>
            <a:endParaRPr lang="en-US" sz="1250" dirty="0"/>
          </a:p>
        </p:txBody>
      </p:sp>
      <p:sp>
        <p:nvSpPr>
          <p:cNvPr id="18" name="Text 16"/>
          <p:cNvSpPr txBox="1"/>
          <p:nvPr/>
        </p:nvSpPr>
        <p:spPr>
          <a:xfrm>
            <a:off x="6263640" y="4091940"/>
            <a:ext cx="2423160" cy="411480"/>
          </a:xfrm>
          <a:prstGeom prst="rect">
            <a:avLst/>
          </a:prstGeom>
          <a:noFill/>
          <a:ln/>
        </p:spPr>
        <p:txBody>
          <a:bodyPr wrap="square" lIns="0" tIns="0" rIns="0" bIns="0" rtlCol="0" anchor="ctr"/>
          <a:lstStyle/>
          <a:p>
            <a:pPr marL="0" indent="0" algn="ctr">
              <a:buNone/>
            </a:pPr>
            <a:r>
              <a:rPr lang="en-US" sz="1000" dirty="0">
                <a:solidFill>
                  <a:srgbClr val="6B7280"/>
                </a:solidFill>
                <a:latin typeface="Calibri" pitchFamily="34" charset="0"/>
                <a:ea typeface="Calibri" pitchFamily="34" charset="-122"/>
                <a:cs typeface="Calibri" pitchFamily="34" charset="-120"/>
              </a:rPr>
              <a:t>coverage of true dims</a:t>
            </a:r>
            <a:endParaRPr lang="en-US" sz="1000" dirty="0"/>
          </a:p>
        </p:txBody>
      </p:sp>
      <p:sp>
        <p:nvSpPr>
          <p:cNvPr id="19" name="Shape 17"/>
          <p:cNvSpPr/>
          <p:nvPr/>
        </p:nvSpPr>
        <p:spPr>
          <a:xfrm>
            <a:off x="8961120" y="2766060"/>
            <a:ext cx="2697480" cy="1828800"/>
          </a:xfrm>
          <a:prstGeom prst="roundRect">
            <a:avLst>
              <a:gd name="adj" fmla="val 4000"/>
            </a:avLst>
          </a:prstGeom>
          <a:solidFill>
            <a:srgbClr val="F1F3FA"/>
          </a:solidFill>
          <a:ln/>
        </p:spPr>
        <p:txBody>
          <a:bodyPr/>
          <a:lstStyle/>
          <a:p>
            <a:endParaRPr lang="el-GR"/>
          </a:p>
        </p:txBody>
      </p:sp>
      <p:sp>
        <p:nvSpPr>
          <p:cNvPr id="20" name="Text 18"/>
          <p:cNvSpPr txBox="1"/>
          <p:nvPr/>
        </p:nvSpPr>
        <p:spPr>
          <a:xfrm>
            <a:off x="8961120" y="2903220"/>
            <a:ext cx="2697480" cy="868680"/>
          </a:xfrm>
          <a:prstGeom prst="rect">
            <a:avLst/>
          </a:prstGeom>
          <a:noFill/>
          <a:ln/>
        </p:spPr>
        <p:txBody>
          <a:bodyPr wrap="square" lIns="0" tIns="0" rIns="0" bIns="0" rtlCol="0" anchor="ctr"/>
          <a:lstStyle/>
          <a:p>
            <a:pPr marL="0" indent="0" algn="ctr">
              <a:buNone/>
            </a:pPr>
            <a:r>
              <a:rPr lang="en-US" sz="3400" b="1" dirty="0">
                <a:solidFill>
                  <a:srgbClr val="1B1F3B"/>
                </a:solidFill>
                <a:latin typeface="Cambria" pitchFamily="34" charset="0"/>
                <a:ea typeface="Cambria" pitchFamily="34" charset="-122"/>
                <a:cs typeface="Cambria" pitchFamily="34" charset="-120"/>
              </a:rPr>
              <a:t>0.747</a:t>
            </a:r>
            <a:endParaRPr lang="en-US" sz="3400" dirty="0"/>
          </a:p>
        </p:txBody>
      </p:sp>
      <p:sp>
        <p:nvSpPr>
          <p:cNvPr id="21" name="Text 19"/>
          <p:cNvSpPr txBox="1"/>
          <p:nvPr/>
        </p:nvSpPr>
        <p:spPr>
          <a:xfrm>
            <a:off x="8961120" y="3771900"/>
            <a:ext cx="2697480" cy="320040"/>
          </a:xfrm>
          <a:prstGeom prst="rect">
            <a:avLst/>
          </a:prstGeom>
          <a:noFill/>
          <a:ln/>
        </p:spPr>
        <p:txBody>
          <a:bodyPr wrap="square" lIns="0" tIns="0" rIns="0" bIns="0" rtlCol="0" anchor="ctr"/>
          <a:lstStyle/>
          <a:p>
            <a:pPr marL="0" indent="0" algn="ctr">
              <a:buNone/>
            </a:pPr>
            <a:r>
              <a:rPr lang="en-US" sz="1250" b="1" dirty="0">
                <a:solidFill>
                  <a:srgbClr val="1B1F3B"/>
                </a:solidFill>
                <a:latin typeface="Calibri" pitchFamily="34" charset="0"/>
                <a:ea typeface="Calibri" pitchFamily="34" charset="-122"/>
                <a:cs typeface="Calibri" pitchFamily="34" charset="-120"/>
              </a:rPr>
              <a:t>Exact match</a:t>
            </a:r>
            <a:endParaRPr lang="en-US" sz="1250" dirty="0"/>
          </a:p>
        </p:txBody>
      </p:sp>
      <p:sp>
        <p:nvSpPr>
          <p:cNvPr id="22" name="Text 20"/>
          <p:cNvSpPr txBox="1"/>
          <p:nvPr/>
        </p:nvSpPr>
        <p:spPr>
          <a:xfrm>
            <a:off x="9098280" y="4091940"/>
            <a:ext cx="2423160" cy="411480"/>
          </a:xfrm>
          <a:prstGeom prst="rect">
            <a:avLst/>
          </a:prstGeom>
          <a:noFill/>
          <a:ln/>
        </p:spPr>
        <p:txBody>
          <a:bodyPr wrap="square" lIns="0" tIns="0" rIns="0" bIns="0" rtlCol="0" anchor="ctr"/>
          <a:lstStyle/>
          <a:p>
            <a:pPr marL="0" indent="0" algn="ctr">
              <a:buNone/>
            </a:pPr>
            <a:r>
              <a:rPr lang="en-US" sz="1000" dirty="0">
                <a:solidFill>
                  <a:srgbClr val="6B7280"/>
                </a:solidFill>
                <a:latin typeface="Calibri" pitchFamily="34" charset="0"/>
                <a:ea typeface="Calibri" pitchFamily="34" charset="-122"/>
                <a:cs typeface="Calibri" pitchFamily="34" charset="-120"/>
              </a:rPr>
              <a:t>fully recovered structure</a:t>
            </a:r>
            <a:endParaRPr lang="en-US" sz="1000" dirty="0"/>
          </a:p>
        </p:txBody>
      </p:sp>
      <p:sp>
        <p:nvSpPr>
          <p:cNvPr id="23" name="Text 21"/>
          <p:cNvSpPr txBox="1"/>
          <p:nvPr/>
        </p:nvSpPr>
        <p:spPr>
          <a:xfrm>
            <a:off x="472440" y="4892040"/>
            <a:ext cx="11247120" cy="548640"/>
          </a:xfrm>
          <a:prstGeom prst="rect">
            <a:avLst/>
          </a:prstGeom>
          <a:noFill/>
          <a:ln/>
        </p:spPr>
        <p:txBody>
          <a:bodyPr wrap="square" lIns="0" tIns="0" rIns="0" bIns="0" rtlCol="0" anchor="ctr"/>
          <a:lstStyle/>
          <a:p>
            <a:pPr marL="0" indent="0">
              <a:buNone/>
            </a:pPr>
            <a:r>
              <a:rPr lang="en-US" sz="1300" i="1" dirty="0">
                <a:solidFill>
                  <a:srgbClr val="6B7280"/>
                </a:solidFill>
                <a:latin typeface="Calibri" pitchFamily="34" charset="0"/>
                <a:ea typeface="Calibri" pitchFamily="34" charset="-122"/>
                <a:cs typeface="Calibri" pitchFamily="34" charset="-120"/>
              </a:rPr>
              <a:t>Held consistently across three structures — a default case, a weak-signal case, and a deliberately deep intersectional case — before it ever touches real data.</a:t>
            </a:r>
            <a:endParaRPr lang="en-US" sz="1300" dirty="0"/>
          </a:p>
        </p:txBody>
      </p:sp>
      <p:sp>
        <p:nvSpPr>
          <p:cNvPr id="25" name="Text 23"/>
          <p:cNvSpPr txBox="1"/>
          <p:nvPr/>
        </p:nvSpPr>
        <p:spPr>
          <a:xfrm>
            <a:off x="11521440" y="6473952"/>
            <a:ext cx="548640" cy="274320"/>
          </a:xfrm>
          <a:prstGeom prst="rect">
            <a:avLst/>
          </a:prstGeom>
          <a:noFill/>
          <a:ln/>
        </p:spPr>
        <p:txBody>
          <a:bodyPr wrap="square" lIns="0" tIns="0" rIns="0" bIns="0" rtlCol="0" anchor="ctr"/>
          <a:lstStyle/>
          <a:p>
            <a:pPr marL="0" indent="0" algn="r">
              <a:buNone/>
            </a:pPr>
            <a:r>
              <a:rPr lang="en-US" sz="1000" dirty="0">
                <a:solidFill>
                  <a:srgbClr val="B7BCD0"/>
                </a:solidFill>
                <a:latin typeface="Calibri" pitchFamily="34" charset="0"/>
                <a:ea typeface="Calibri" pitchFamily="34" charset="-122"/>
                <a:cs typeface="Calibri" pitchFamily="34" charset="-120"/>
              </a:rPr>
              <a:t>09</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457200" y="457200"/>
            <a:ext cx="201168" cy="201168"/>
          </a:xfrm>
          <a:prstGeom prst="pie">
            <a:avLst>
              <a:gd name="adj1" fmla="val 16200000"/>
              <a:gd name="adj2" fmla="val 5400000"/>
            </a:avLst>
          </a:prstGeom>
          <a:solidFill>
            <a:srgbClr val="E4572E"/>
          </a:solidFill>
          <a:ln/>
        </p:spPr>
        <p:txBody>
          <a:bodyPr/>
          <a:lstStyle/>
          <a:p>
            <a:endParaRPr lang="el-GR"/>
          </a:p>
        </p:txBody>
      </p:sp>
      <p:sp>
        <p:nvSpPr>
          <p:cNvPr id="3" name="Shape 1"/>
          <p:cNvSpPr/>
          <p:nvPr/>
        </p:nvSpPr>
        <p:spPr>
          <a:xfrm>
            <a:off x="457200" y="457200"/>
            <a:ext cx="201168" cy="201168"/>
          </a:xfrm>
          <a:prstGeom prst="pie">
            <a:avLst>
              <a:gd name="adj1" fmla="val 5400000"/>
              <a:gd name="adj2" fmla="val 16200000"/>
            </a:avLst>
          </a:prstGeom>
          <a:solidFill>
            <a:srgbClr val="2F6FED"/>
          </a:solidFill>
          <a:ln/>
        </p:spPr>
        <p:txBody>
          <a:bodyPr/>
          <a:lstStyle/>
          <a:p>
            <a:endParaRPr lang="el-GR"/>
          </a:p>
        </p:txBody>
      </p:sp>
      <p:sp>
        <p:nvSpPr>
          <p:cNvPr id="4" name="Text 2"/>
          <p:cNvSpPr txBox="1"/>
          <p:nvPr/>
        </p:nvSpPr>
        <p:spPr>
          <a:xfrm>
            <a:off x="777240" y="384048"/>
            <a:ext cx="7315200" cy="320040"/>
          </a:xfrm>
          <a:prstGeom prst="rect">
            <a:avLst/>
          </a:prstGeom>
          <a:noFill/>
          <a:ln/>
        </p:spPr>
        <p:txBody>
          <a:bodyPr wrap="square" lIns="0" tIns="0" rIns="0" bIns="0" rtlCol="0" anchor="ctr"/>
          <a:lstStyle/>
          <a:p>
            <a:pPr marL="0" indent="0">
              <a:buNone/>
            </a:pPr>
            <a:r>
              <a:rPr lang="en-US" sz="1100" b="1" kern="0" spc="200" dirty="0">
                <a:solidFill>
                  <a:srgbClr val="6B7280"/>
                </a:solidFill>
                <a:latin typeface="Calibri" pitchFamily="34" charset="0"/>
                <a:ea typeface="Calibri" pitchFamily="34" charset="-122"/>
                <a:cs typeface="Calibri" pitchFamily="34" charset="-120"/>
              </a:rPr>
              <a:t>REAL-WORLD APPLICATION</a:t>
            </a:r>
            <a:endParaRPr lang="en-US" sz="1100" dirty="0"/>
          </a:p>
        </p:txBody>
      </p:sp>
      <p:sp>
        <p:nvSpPr>
          <p:cNvPr id="5" name="Text 3"/>
          <p:cNvSpPr txBox="1"/>
          <p:nvPr/>
        </p:nvSpPr>
        <p:spPr>
          <a:xfrm>
            <a:off x="457200" y="713232"/>
            <a:ext cx="11247120" cy="777240"/>
          </a:xfrm>
          <a:prstGeom prst="rect">
            <a:avLst/>
          </a:prstGeom>
          <a:noFill/>
          <a:ln/>
        </p:spPr>
        <p:txBody>
          <a:bodyPr wrap="square" lIns="0" tIns="0" rIns="0" bIns="0" rtlCol="0" anchor="ctr"/>
          <a:lstStyle/>
          <a:p>
            <a:pPr marL="0" indent="0">
              <a:buNone/>
            </a:pPr>
            <a:r>
              <a:rPr lang="en-US" sz="3600" b="1" dirty="0">
                <a:solidFill>
                  <a:srgbClr val="1B1F3B"/>
                </a:solidFill>
                <a:latin typeface="Cambria" pitchFamily="34" charset="0"/>
                <a:ea typeface="Cambria" pitchFamily="34" charset="-122"/>
                <a:cs typeface="Cambria" pitchFamily="34" charset="-120"/>
              </a:rPr>
              <a:t>Why DICES</a:t>
            </a:r>
            <a:endParaRPr lang="en-US" sz="3600" dirty="0"/>
          </a:p>
        </p:txBody>
      </p:sp>
      <p:sp>
        <p:nvSpPr>
          <p:cNvPr id="6" name="Text 4"/>
          <p:cNvSpPr txBox="1"/>
          <p:nvPr/>
        </p:nvSpPr>
        <p:spPr>
          <a:xfrm>
            <a:off x="457200" y="1783080"/>
            <a:ext cx="11247120" cy="914400"/>
          </a:xfrm>
          <a:prstGeom prst="rect">
            <a:avLst/>
          </a:prstGeom>
          <a:noFill/>
          <a:ln/>
        </p:spPr>
        <p:txBody>
          <a:bodyPr wrap="square" lIns="0" tIns="0" rIns="0" bIns="0" rtlCol="0" anchor="ctr"/>
          <a:lstStyle/>
          <a:p>
            <a:pPr marL="0" indent="0">
              <a:lnSpc>
                <a:spcPct val="120000"/>
              </a:lnSpc>
              <a:spcAft>
                <a:spcPts val="800"/>
              </a:spcAft>
              <a:buNone/>
            </a:pPr>
            <a:r>
              <a:rPr lang="en-US" sz="1400" dirty="0">
                <a:solidFill>
                  <a:srgbClr val="1B1F3B"/>
                </a:solidFill>
                <a:latin typeface="Calibri" pitchFamily="34" charset="0"/>
                <a:ea typeface="Calibri" pitchFamily="34" charset="-122"/>
                <a:cs typeface="Calibri" pitchFamily="34" charset="-120"/>
              </a:rPr>
              <a:t>DICES is the one dataset dense enough for recursive partitioning: </a:t>
            </a:r>
            <a:endParaRPr lang="en-US" sz="1400" dirty="0"/>
          </a:p>
          <a:p>
            <a:pPr marL="0" indent="0">
              <a:lnSpc>
                <a:spcPct val="120000"/>
              </a:lnSpc>
              <a:buNone/>
            </a:pPr>
            <a:r>
              <a:rPr lang="en-US" sz="1400" dirty="0">
                <a:solidFill>
                  <a:srgbClr val="6B7280"/>
                </a:solidFill>
                <a:latin typeface="Calibri" pitchFamily="34" charset="0"/>
                <a:ea typeface="Calibri" pitchFamily="34" charset="-122"/>
                <a:cs typeface="Calibri" pitchFamily="34" charset="-120"/>
              </a:rPr>
              <a:t>each split shrinks a subgroup, so we need many annotations per item to keep leaves meaningful rather than noise.</a:t>
            </a:r>
            <a:endParaRPr lang="en-US" sz="1400" dirty="0"/>
          </a:p>
        </p:txBody>
      </p:sp>
      <p:sp>
        <p:nvSpPr>
          <p:cNvPr id="7" name="Shape 5"/>
          <p:cNvSpPr/>
          <p:nvPr/>
        </p:nvSpPr>
        <p:spPr>
          <a:xfrm>
            <a:off x="457200" y="2788920"/>
            <a:ext cx="3566160" cy="2148840"/>
          </a:xfrm>
          <a:prstGeom prst="roundRect">
            <a:avLst>
              <a:gd name="adj" fmla="val 3404"/>
            </a:avLst>
          </a:prstGeom>
          <a:solidFill>
            <a:srgbClr val="1B1F3B"/>
          </a:solidFill>
          <a:ln/>
        </p:spPr>
        <p:txBody>
          <a:bodyPr/>
          <a:lstStyle/>
          <a:p>
            <a:endParaRPr lang="el-GR"/>
          </a:p>
        </p:txBody>
      </p:sp>
      <p:sp>
        <p:nvSpPr>
          <p:cNvPr id="8" name="Text 6"/>
          <p:cNvSpPr txBox="1"/>
          <p:nvPr/>
        </p:nvSpPr>
        <p:spPr>
          <a:xfrm>
            <a:off x="777240" y="3017520"/>
            <a:ext cx="2926080" cy="457200"/>
          </a:xfrm>
          <a:prstGeom prst="rect">
            <a:avLst/>
          </a:prstGeom>
          <a:noFill/>
          <a:ln/>
        </p:spPr>
        <p:txBody>
          <a:bodyPr wrap="square" lIns="0" tIns="0" rIns="0" bIns="0" rtlCol="0" anchor="ctr"/>
          <a:lstStyle/>
          <a:p>
            <a:pPr marL="0" indent="0">
              <a:buNone/>
            </a:pPr>
            <a:r>
              <a:rPr lang="en-US" sz="1800" b="1" dirty="0">
                <a:solidFill>
                  <a:srgbClr val="FFFFFF"/>
                </a:solidFill>
                <a:latin typeface="Cambria" pitchFamily="34" charset="0"/>
                <a:ea typeface="Cambria" pitchFamily="34" charset="-122"/>
                <a:cs typeface="Cambria" pitchFamily="34" charset="-120"/>
              </a:rPr>
              <a:t>DICES-350</a:t>
            </a:r>
            <a:endParaRPr lang="en-US" sz="1800" dirty="0"/>
          </a:p>
        </p:txBody>
      </p:sp>
      <p:sp>
        <p:nvSpPr>
          <p:cNvPr id="9" name="Text 7"/>
          <p:cNvSpPr txBox="1"/>
          <p:nvPr/>
        </p:nvSpPr>
        <p:spPr>
          <a:xfrm>
            <a:off x="777240" y="3566160"/>
            <a:ext cx="2926080" cy="365760"/>
          </a:xfrm>
          <a:prstGeom prst="rect">
            <a:avLst/>
          </a:prstGeom>
          <a:noFill/>
          <a:ln/>
        </p:spPr>
        <p:txBody>
          <a:bodyPr wrap="square" lIns="0" tIns="0" rIns="0" bIns="0" rtlCol="0" anchor="ctr"/>
          <a:lstStyle/>
          <a:p>
            <a:pPr marL="0" indent="0">
              <a:buNone/>
            </a:pPr>
            <a:r>
              <a:rPr lang="en-US" sz="1400" b="1" dirty="0">
                <a:solidFill>
                  <a:srgbClr val="C9CFEA"/>
                </a:solidFill>
                <a:latin typeface="Calibri" pitchFamily="34" charset="0"/>
                <a:ea typeface="Calibri" pitchFamily="34" charset="-122"/>
                <a:cs typeface="Calibri" pitchFamily="34" charset="-120"/>
              </a:rPr>
              <a:t>350 items</a:t>
            </a:r>
            <a:endParaRPr lang="en-US" sz="1400" dirty="0"/>
          </a:p>
        </p:txBody>
      </p:sp>
      <p:sp>
        <p:nvSpPr>
          <p:cNvPr id="10" name="Text 8"/>
          <p:cNvSpPr txBox="1"/>
          <p:nvPr/>
        </p:nvSpPr>
        <p:spPr>
          <a:xfrm>
            <a:off x="777240" y="3931920"/>
            <a:ext cx="2926080" cy="365760"/>
          </a:xfrm>
          <a:prstGeom prst="rect">
            <a:avLst/>
          </a:prstGeom>
          <a:noFill/>
          <a:ln/>
        </p:spPr>
        <p:txBody>
          <a:bodyPr wrap="square" lIns="0" tIns="0" rIns="0" bIns="0" rtlCol="0" anchor="ctr"/>
          <a:lstStyle/>
          <a:p>
            <a:pPr marL="0" indent="0">
              <a:buNone/>
            </a:pPr>
            <a:r>
              <a:rPr lang="en-US" sz="1400" b="1" dirty="0">
                <a:solidFill>
                  <a:srgbClr val="C9CFEA"/>
                </a:solidFill>
                <a:latin typeface="Calibri" pitchFamily="34" charset="0"/>
                <a:ea typeface="Calibri" pitchFamily="34" charset="-122"/>
                <a:cs typeface="Calibri" pitchFamily="34" charset="-120"/>
              </a:rPr>
              <a:t>35,350 annotations</a:t>
            </a:r>
            <a:endParaRPr lang="en-US" sz="1400" dirty="0"/>
          </a:p>
        </p:txBody>
      </p:sp>
      <p:sp>
        <p:nvSpPr>
          <p:cNvPr id="11" name="Text 9"/>
          <p:cNvSpPr txBox="1"/>
          <p:nvPr/>
        </p:nvSpPr>
        <p:spPr>
          <a:xfrm>
            <a:off x="777240" y="4297680"/>
            <a:ext cx="2926080" cy="365760"/>
          </a:xfrm>
          <a:prstGeom prst="rect">
            <a:avLst/>
          </a:prstGeom>
          <a:noFill/>
          <a:ln/>
        </p:spPr>
        <p:txBody>
          <a:bodyPr wrap="square" lIns="0" tIns="0" rIns="0" bIns="0" rtlCol="0" anchor="ctr"/>
          <a:lstStyle/>
          <a:p>
            <a:pPr marL="0" indent="0">
              <a:buNone/>
            </a:pPr>
            <a:r>
              <a:rPr lang="en-US" sz="1200" i="1" dirty="0">
                <a:solidFill>
                  <a:srgbClr val="8B93BE"/>
                </a:solidFill>
                <a:latin typeface="Calibri" pitchFamily="34" charset="0"/>
                <a:ea typeface="Calibri" pitchFamily="34" charset="-122"/>
                <a:cs typeface="Calibri" pitchFamily="34" charset="-120"/>
              </a:rPr>
              <a:t>101 annotations per item</a:t>
            </a:r>
            <a:endParaRPr lang="en-US" sz="1200" dirty="0"/>
          </a:p>
        </p:txBody>
      </p:sp>
      <p:sp>
        <p:nvSpPr>
          <p:cNvPr id="12" name="Shape 10"/>
          <p:cNvSpPr/>
          <p:nvPr/>
        </p:nvSpPr>
        <p:spPr>
          <a:xfrm>
            <a:off x="4251960" y="2788920"/>
            <a:ext cx="3566160" cy="2148840"/>
          </a:xfrm>
          <a:prstGeom prst="roundRect">
            <a:avLst>
              <a:gd name="adj" fmla="val 3404"/>
            </a:avLst>
          </a:prstGeom>
          <a:solidFill>
            <a:srgbClr val="1B1F3B"/>
          </a:solidFill>
          <a:ln/>
        </p:spPr>
        <p:txBody>
          <a:bodyPr/>
          <a:lstStyle/>
          <a:p>
            <a:endParaRPr lang="el-GR"/>
          </a:p>
        </p:txBody>
      </p:sp>
      <p:sp>
        <p:nvSpPr>
          <p:cNvPr id="13" name="Text 11"/>
          <p:cNvSpPr txBox="1"/>
          <p:nvPr/>
        </p:nvSpPr>
        <p:spPr>
          <a:xfrm>
            <a:off x="4572000" y="3017520"/>
            <a:ext cx="2926080" cy="457200"/>
          </a:xfrm>
          <a:prstGeom prst="rect">
            <a:avLst/>
          </a:prstGeom>
          <a:noFill/>
          <a:ln/>
        </p:spPr>
        <p:txBody>
          <a:bodyPr wrap="square" lIns="0" tIns="0" rIns="0" bIns="0" rtlCol="0" anchor="ctr"/>
          <a:lstStyle/>
          <a:p>
            <a:pPr marL="0" indent="0">
              <a:buNone/>
            </a:pPr>
            <a:r>
              <a:rPr lang="en-US" sz="1800" b="1" dirty="0">
                <a:solidFill>
                  <a:srgbClr val="FFFFFF"/>
                </a:solidFill>
                <a:latin typeface="Cambria" pitchFamily="34" charset="0"/>
                <a:ea typeface="Cambria" pitchFamily="34" charset="-122"/>
                <a:cs typeface="Cambria" pitchFamily="34" charset="-120"/>
              </a:rPr>
              <a:t>DICES-990</a:t>
            </a:r>
            <a:endParaRPr lang="en-US" sz="1800" dirty="0"/>
          </a:p>
        </p:txBody>
      </p:sp>
      <p:sp>
        <p:nvSpPr>
          <p:cNvPr id="14" name="Text 12"/>
          <p:cNvSpPr txBox="1"/>
          <p:nvPr/>
        </p:nvSpPr>
        <p:spPr>
          <a:xfrm>
            <a:off x="4572000" y="3566160"/>
            <a:ext cx="2926080" cy="365760"/>
          </a:xfrm>
          <a:prstGeom prst="rect">
            <a:avLst/>
          </a:prstGeom>
          <a:noFill/>
          <a:ln/>
        </p:spPr>
        <p:txBody>
          <a:bodyPr wrap="square" lIns="0" tIns="0" rIns="0" bIns="0" rtlCol="0" anchor="ctr"/>
          <a:lstStyle/>
          <a:p>
            <a:pPr marL="0" indent="0">
              <a:buNone/>
            </a:pPr>
            <a:r>
              <a:rPr lang="en-US" sz="1400" b="1" dirty="0">
                <a:solidFill>
                  <a:srgbClr val="C9CFEA"/>
                </a:solidFill>
                <a:latin typeface="Calibri" pitchFamily="34" charset="0"/>
                <a:ea typeface="Calibri" pitchFamily="34" charset="-122"/>
                <a:cs typeface="Calibri" pitchFamily="34" charset="-120"/>
              </a:rPr>
              <a:t>990 items</a:t>
            </a:r>
            <a:endParaRPr lang="en-US" sz="1400" dirty="0"/>
          </a:p>
        </p:txBody>
      </p:sp>
      <p:sp>
        <p:nvSpPr>
          <p:cNvPr id="15" name="Text 13"/>
          <p:cNvSpPr txBox="1"/>
          <p:nvPr/>
        </p:nvSpPr>
        <p:spPr>
          <a:xfrm>
            <a:off x="4572000" y="3931920"/>
            <a:ext cx="2926080" cy="365760"/>
          </a:xfrm>
          <a:prstGeom prst="rect">
            <a:avLst/>
          </a:prstGeom>
          <a:noFill/>
          <a:ln/>
        </p:spPr>
        <p:txBody>
          <a:bodyPr wrap="square" lIns="0" tIns="0" rIns="0" bIns="0" rtlCol="0" anchor="ctr"/>
          <a:lstStyle/>
          <a:p>
            <a:pPr marL="0" indent="0">
              <a:buNone/>
            </a:pPr>
            <a:r>
              <a:rPr lang="en-US" sz="1400" b="1" dirty="0">
                <a:solidFill>
                  <a:srgbClr val="C9CFEA"/>
                </a:solidFill>
                <a:latin typeface="Calibri" pitchFamily="34" charset="0"/>
                <a:ea typeface="Calibri" pitchFamily="34" charset="-122"/>
                <a:cs typeface="Calibri" pitchFamily="34" charset="-120"/>
              </a:rPr>
              <a:t>45,379 annotations</a:t>
            </a:r>
            <a:endParaRPr lang="en-US" sz="1400" dirty="0"/>
          </a:p>
        </p:txBody>
      </p:sp>
      <p:sp>
        <p:nvSpPr>
          <p:cNvPr id="16" name="Text 14"/>
          <p:cNvSpPr txBox="1"/>
          <p:nvPr/>
        </p:nvSpPr>
        <p:spPr>
          <a:xfrm>
            <a:off x="4572000" y="4297680"/>
            <a:ext cx="2926080" cy="365760"/>
          </a:xfrm>
          <a:prstGeom prst="rect">
            <a:avLst/>
          </a:prstGeom>
          <a:noFill/>
          <a:ln/>
        </p:spPr>
        <p:txBody>
          <a:bodyPr wrap="square" lIns="0" tIns="0" rIns="0" bIns="0" rtlCol="0" anchor="ctr"/>
          <a:lstStyle/>
          <a:p>
            <a:pPr marL="0" indent="0">
              <a:buNone/>
            </a:pPr>
            <a:r>
              <a:rPr lang="en-US" sz="1200" i="1" dirty="0">
                <a:solidFill>
                  <a:srgbClr val="8B93BE"/>
                </a:solidFill>
                <a:latin typeface="Calibri" pitchFamily="34" charset="0"/>
                <a:ea typeface="Calibri" pitchFamily="34" charset="-122"/>
                <a:cs typeface="Calibri" pitchFamily="34" charset="-120"/>
              </a:rPr>
              <a:t>45.8 annotations per item avg.</a:t>
            </a:r>
            <a:endParaRPr lang="en-US" sz="1200" dirty="0"/>
          </a:p>
        </p:txBody>
      </p:sp>
      <p:sp>
        <p:nvSpPr>
          <p:cNvPr id="17" name="Shape 15"/>
          <p:cNvSpPr/>
          <p:nvPr/>
        </p:nvSpPr>
        <p:spPr>
          <a:xfrm>
            <a:off x="8229600" y="2788920"/>
            <a:ext cx="3520440" cy="2148840"/>
          </a:xfrm>
          <a:prstGeom prst="roundRect">
            <a:avLst>
              <a:gd name="adj" fmla="val 3404"/>
            </a:avLst>
          </a:prstGeom>
          <a:solidFill>
            <a:srgbClr val="F1F3FA"/>
          </a:solidFill>
          <a:ln/>
        </p:spPr>
        <p:txBody>
          <a:bodyPr/>
          <a:lstStyle/>
          <a:p>
            <a:endParaRPr lang="el-GR"/>
          </a:p>
        </p:txBody>
      </p:sp>
      <p:sp>
        <p:nvSpPr>
          <p:cNvPr id="18" name="Text 16"/>
          <p:cNvSpPr txBox="1"/>
          <p:nvPr/>
        </p:nvSpPr>
        <p:spPr>
          <a:xfrm>
            <a:off x="8503920" y="2971800"/>
            <a:ext cx="3017520" cy="365760"/>
          </a:xfrm>
          <a:prstGeom prst="rect">
            <a:avLst/>
          </a:prstGeom>
          <a:noFill/>
          <a:ln/>
        </p:spPr>
        <p:txBody>
          <a:bodyPr wrap="square" lIns="0" tIns="0" rIns="0" bIns="0" rtlCol="0" anchor="ctr"/>
          <a:lstStyle/>
          <a:p>
            <a:pPr marL="0" indent="0">
              <a:buNone/>
            </a:pPr>
            <a:r>
              <a:rPr lang="en-US" sz="1250" b="1" dirty="0">
                <a:solidFill>
                  <a:srgbClr val="1B1F3B"/>
                </a:solidFill>
                <a:latin typeface="Calibri" pitchFamily="34" charset="0"/>
                <a:ea typeface="Calibri" pitchFamily="34" charset="-122"/>
                <a:cs typeface="Calibri" pitchFamily="34" charset="-120"/>
              </a:rPr>
              <a:t>SCD dimensions used</a:t>
            </a:r>
            <a:endParaRPr lang="en-US" sz="1250" dirty="0"/>
          </a:p>
        </p:txBody>
      </p:sp>
      <p:sp>
        <p:nvSpPr>
          <p:cNvPr id="19" name="Text 17"/>
          <p:cNvSpPr txBox="1"/>
          <p:nvPr/>
        </p:nvSpPr>
        <p:spPr>
          <a:xfrm>
            <a:off x="8503920" y="3337560"/>
            <a:ext cx="3017520" cy="457200"/>
          </a:xfrm>
          <a:prstGeom prst="rect">
            <a:avLst/>
          </a:prstGeom>
          <a:noFill/>
          <a:ln/>
        </p:spPr>
        <p:txBody>
          <a:bodyPr wrap="square" lIns="0" tIns="0" rIns="0" bIns="0" rtlCol="0" anchor="ctr"/>
          <a:lstStyle/>
          <a:p>
            <a:pPr marL="0" indent="0">
              <a:buNone/>
            </a:pPr>
            <a:r>
              <a:rPr lang="en-US" sz="1250" dirty="0">
                <a:solidFill>
                  <a:srgbClr val="6B7280"/>
                </a:solidFill>
                <a:latin typeface="Calibri" pitchFamily="34" charset="0"/>
                <a:ea typeface="Calibri" pitchFamily="34" charset="-122"/>
                <a:cs typeface="Calibri" pitchFamily="34" charset="-120"/>
              </a:rPr>
              <a:t>gender · race · age · education</a:t>
            </a:r>
            <a:endParaRPr lang="en-US" sz="1250" dirty="0"/>
          </a:p>
        </p:txBody>
      </p:sp>
      <p:sp>
        <p:nvSpPr>
          <p:cNvPr id="20" name="Text 18"/>
          <p:cNvSpPr txBox="1"/>
          <p:nvPr/>
        </p:nvSpPr>
        <p:spPr>
          <a:xfrm>
            <a:off x="8503920" y="3886200"/>
            <a:ext cx="3017520" cy="365760"/>
          </a:xfrm>
          <a:prstGeom prst="rect">
            <a:avLst/>
          </a:prstGeom>
          <a:noFill/>
          <a:ln/>
        </p:spPr>
        <p:txBody>
          <a:bodyPr wrap="square" lIns="0" tIns="0" rIns="0" bIns="0" rtlCol="0" anchor="ctr"/>
          <a:lstStyle/>
          <a:p>
            <a:pPr marL="0" indent="0">
              <a:buNone/>
            </a:pPr>
            <a:r>
              <a:rPr lang="en-US" sz="1250" b="1" dirty="0">
                <a:solidFill>
                  <a:srgbClr val="1B1F3B"/>
                </a:solidFill>
                <a:latin typeface="Calibri" pitchFamily="34" charset="0"/>
                <a:ea typeface="Calibri" pitchFamily="34" charset="-122"/>
                <a:cs typeface="Calibri" pitchFamily="34" charset="-120"/>
              </a:rPr>
              <a:t>Outcome variable</a:t>
            </a:r>
            <a:endParaRPr lang="en-US" sz="1250" dirty="0"/>
          </a:p>
        </p:txBody>
      </p:sp>
      <p:sp>
        <p:nvSpPr>
          <p:cNvPr id="21" name="Text 19"/>
          <p:cNvSpPr txBox="1"/>
          <p:nvPr/>
        </p:nvSpPr>
        <p:spPr>
          <a:xfrm>
            <a:off x="8503920" y="4251960"/>
            <a:ext cx="3017520" cy="594360"/>
          </a:xfrm>
          <a:prstGeom prst="rect">
            <a:avLst/>
          </a:prstGeom>
          <a:noFill/>
          <a:ln/>
        </p:spPr>
        <p:txBody>
          <a:bodyPr wrap="square" lIns="0" tIns="0" rIns="0" bIns="0" rtlCol="0" anchor="ctr"/>
          <a:lstStyle/>
          <a:p>
            <a:pPr marL="0" indent="0">
              <a:buNone/>
            </a:pPr>
            <a:r>
              <a:rPr lang="en-US" sz="1150" dirty="0">
                <a:solidFill>
                  <a:srgbClr val="6B7280"/>
                </a:solidFill>
                <a:latin typeface="Calibri" pitchFamily="34" charset="0"/>
                <a:ea typeface="Calibri" pitchFamily="34" charset="-122"/>
                <a:cs typeface="Calibri" pitchFamily="34" charset="-120"/>
              </a:rPr>
              <a:t>Q3_bias_overall: No / Unsure / Yes → 1 / 2 / 3, scored with DFU</a:t>
            </a:r>
            <a:endParaRPr lang="en-US" sz="1150" dirty="0"/>
          </a:p>
        </p:txBody>
      </p:sp>
      <p:sp>
        <p:nvSpPr>
          <p:cNvPr id="22" name="Text 20"/>
          <p:cNvSpPr txBox="1"/>
          <p:nvPr/>
        </p:nvSpPr>
        <p:spPr>
          <a:xfrm>
            <a:off x="457200" y="5212080"/>
            <a:ext cx="11247120" cy="457200"/>
          </a:xfrm>
          <a:prstGeom prst="rect">
            <a:avLst/>
          </a:prstGeom>
          <a:noFill/>
          <a:ln/>
        </p:spPr>
        <p:txBody>
          <a:bodyPr wrap="square" lIns="0" tIns="0" rIns="0" bIns="0" rtlCol="0" anchor="ctr"/>
          <a:lstStyle/>
          <a:p>
            <a:pPr marL="0" indent="0">
              <a:buNone/>
            </a:pPr>
            <a:r>
              <a:rPr lang="en-US" sz="1300" i="1" dirty="0">
                <a:solidFill>
                  <a:srgbClr val="6B7280"/>
                </a:solidFill>
                <a:latin typeface="Calibri" pitchFamily="34" charset="0"/>
                <a:ea typeface="Calibri" pitchFamily="34" charset="-122"/>
                <a:cs typeface="Calibri" pitchFamily="34" charset="-120"/>
              </a:rPr>
              <a:t>Ground truth is unknown here — so we characterize the structures the tree finds, rather than measuring recovery.</a:t>
            </a:r>
            <a:endParaRPr lang="en-US" sz="1300" dirty="0"/>
          </a:p>
        </p:txBody>
      </p:sp>
      <p:sp>
        <p:nvSpPr>
          <p:cNvPr id="23" name="Text 21"/>
          <p:cNvSpPr txBox="1"/>
          <p:nvPr/>
        </p:nvSpPr>
        <p:spPr>
          <a:xfrm>
            <a:off x="11521440" y="6473952"/>
            <a:ext cx="548640" cy="274320"/>
          </a:xfrm>
          <a:prstGeom prst="rect">
            <a:avLst/>
          </a:prstGeom>
          <a:noFill/>
          <a:ln/>
        </p:spPr>
        <p:txBody>
          <a:bodyPr wrap="square" lIns="0" tIns="0" rIns="0" bIns="0" rtlCol="0" anchor="ctr"/>
          <a:lstStyle/>
          <a:p>
            <a:pPr marL="0" indent="0" algn="r">
              <a:buNone/>
            </a:pPr>
            <a:r>
              <a:rPr lang="en-US" sz="1000" dirty="0">
                <a:solidFill>
                  <a:srgbClr val="B7BCD0"/>
                </a:solidFill>
                <a:latin typeface="Calibri" pitchFamily="34" charset="0"/>
                <a:ea typeface="Calibri" pitchFamily="34" charset="-122"/>
                <a:cs typeface="Calibri" pitchFamily="34" charset="-120"/>
              </a:rPr>
              <a:t>10</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457200" y="457200"/>
            <a:ext cx="201168" cy="201168"/>
          </a:xfrm>
          <a:prstGeom prst="pie">
            <a:avLst>
              <a:gd name="adj1" fmla="val 16200000"/>
              <a:gd name="adj2" fmla="val 5400000"/>
            </a:avLst>
          </a:prstGeom>
          <a:solidFill>
            <a:srgbClr val="E4572E"/>
          </a:solidFill>
          <a:ln/>
        </p:spPr>
        <p:txBody>
          <a:bodyPr/>
          <a:lstStyle/>
          <a:p>
            <a:endParaRPr lang="el-GR"/>
          </a:p>
        </p:txBody>
      </p:sp>
      <p:sp>
        <p:nvSpPr>
          <p:cNvPr id="3" name="Shape 1"/>
          <p:cNvSpPr/>
          <p:nvPr/>
        </p:nvSpPr>
        <p:spPr>
          <a:xfrm>
            <a:off x="457200" y="457200"/>
            <a:ext cx="201168" cy="201168"/>
          </a:xfrm>
          <a:prstGeom prst="pie">
            <a:avLst>
              <a:gd name="adj1" fmla="val 5400000"/>
              <a:gd name="adj2" fmla="val 16200000"/>
            </a:avLst>
          </a:prstGeom>
          <a:solidFill>
            <a:srgbClr val="2F6FED"/>
          </a:solidFill>
          <a:ln/>
        </p:spPr>
        <p:txBody>
          <a:bodyPr/>
          <a:lstStyle/>
          <a:p>
            <a:endParaRPr lang="el-GR"/>
          </a:p>
        </p:txBody>
      </p:sp>
      <p:sp>
        <p:nvSpPr>
          <p:cNvPr id="4" name="Text 2"/>
          <p:cNvSpPr txBox="1"/>
          <p:nvPr/>
        </p:nvSpPr>
        <p:spPr>
          <a:xfrm>
            <a:off x="777240" y="384048"/>
            <a:ext cx="7315200" cy="320040"/>
          </a:xfrm>
          <a:prstGeom prst="rect">
            <a:avLst/>
          </a:prstGeom>
          <a:noFill/>
          <a:ln/>
        </p:spPr>
        <p:txBody>
          <a:bodyPr wrap="square" lIns="0" tIns="0" rIns="0" bIns="0" rtlCol="0" anchor="ctr"/>
          <a:lstStyle/>
          <a:p>
            <a:pPr marL="0" indent="0">
              <a:buNone/>
            </a:pPr>
            <a:r>
              <a:rPr lang="en-US" sz="1100" b="1" kern="0" spc="200" dirty="0">
                <a:solidFill>
                  <a:srgbClr val="6B7280"/>
                </a:solidFill>
                <a:latin typeface="Calibri" pitchFamily="34" charset="0"/>
                <a:ea typeface="Calibri" pitchFamily="34" charset="-122"/>
                <a:cs typeface="Calibri" pitchFamily="34" charset="-120"/>
              </a:rPr>
              <a:t>FINDINGS ON DICES</a:t>
            </a:r>
            <a:endParaRPr lang="en-US" sz="1100" dirty="0"/>
          </a:p>
        </p:txBody>
      </p:sp>
      <p:sp>
        <p:nvSpPr>
          <p:cNvPr id="5" name="Text 3"/>
          <p:cNvSpPr txBox="1"/>
          <p:nvPr/>
        </p:nvSpPr>
        <p:spPr>
          <a:xfrm>
            <a:off x="457200" y="838043"/>
            <a:ext cx="11247120" cy="777240"/>
          </a:xfrm>
          <a:prstGeom prst="rect">
            <a:avLst/>
          </a:prstGeom>
          <a:noFill/>
          <a:ln/>
        </p:spPr>
        <p:txBody>
          <a:bodyPr wrap="square" lIns="0" tIns="0" rIns="0" bIns="0" rtlCol="0" anchor="ctr"/>
          <a:lstStyle/>
          <a:p>
            <a:pPr marL="0" indent="0">
              <a:buNone/>
            </a:pPr>
            <a:r>
              <a:rPr lang="en-US" sz="3600" b="1" dirty="0">
                <a:solidFill>
                  <a:srgbClr val="1B1F3B"/>
                </a:solidFill>
                <a:latin typeface="Cambria" pitchFamily="34" charset="0"/>
                <a:ea typeface="Cambria" pitchFamily="34" charset="-122"/>
                <a:cs typeface="Cambria" pitchFamily="34" charset="-120"/>
              </a:rPr>
              <a:t>Race opens the tree, gender and age take over deeper down</a:t>
            </a:r>
            <a:endParaRPr lang="en-US" sz="3600" dirty="0"/>
          </a:p>
        </p:txBody>
      </p:sp>
      <p:sp>
        <p:nvSpPr>
          <p:cNvPr id="6" name="Text 4"/>
          <p:cNvSpPr txBox="1"/>
          <p:nvPr/>
        </p:nvSpPr>
        <p:spPr>
          <a:xfrm>
            <a:off x="457200" y="1737360"/>
            <a:ext cx="5760720" cy="320040"/>
          </a:xfrm>
          <a:prstGeom prst="rect">
            <a:avLst/>
          </a:prstGeom>
          <a:noFill/>
          <a:ln/>
        </p:spPr>
        <p:txBody>
          <a:bodyPr wrap="square" lIns="0" tIns="0" rIns="0" bIns="0" rtlCol="0" anchor="ctr"/>
          <a:lstStyle/>
          <a:p>
            <a:pPr marL="0" indent="0">
              <a:buNone/>
            </a:pPr>
            <a:r>
              <a:rPr lang="en-US" sz="1250" b="1" dirty="0">
                <a:solidFill>
                  <a:srgbClr val="1B1F3B"/>
                </a:solidFill>
                <a:latin typeface="Calibri" pitchFamily="34" charset="0"/>
                <a:ea typeface="Calibri" pitchFamily="34" charset="-122"/>
                <a:cs typeface="Calibri" pitchFamily="34" charset="-120"/>
              </a:rPr>
              <a:t>% of dimension selections by split depth</a:t>
            </a:r>
            <a:endParaRPr lang="en-US" sz="1250" dirty="0"/>
          </a:p>
        </p:txBody>
      </p:sp>
      <p:graphicFrame>
        <p:nvGraphicFramePr>
          <p:cNvPr id="7" name="Chart 0"/>
          <p:cNvGraphicFramePr/>
          <p:nvPr/>
        </p:nvGraphicFramePr>
        <p:xfrm>
          <a:off x="457200" y="2103120"/>
          <a:ext cx="5760720" cy="3566160"/>
        </p:xfrm>
        <a:graphic>
          <a:graphicData uri="http://schemas.openxmlformats.org/drawingml/2006/chart">
            <c:chart xmlns:c="http://schemas.openxmlformats.org/drawingml/2006/chart" xmlns:r="http://schemas.openxmlformats.org/officeDocument/2006/relationships" r:id="rId3"/>
          </a:graphicData>
        </a:graphic>
      </p:graphicFrame>
      <p:sp>
        <p:nvSpPr>
          <p:cNvPr id="8" name="Text 5"/>
          <p:cNvSpPr txBox="1"/>
          <p:nvPr/>
        </p:nvSpPr>
        <p:spPr>
          <a:xfrm>
            <a:off x="457200" y="5715000"/>
            <a:ext cx="5760720" cy="365760"/>
          </a:xfrm>
          <a:prstGeom prst="rect">
            <a:avLst/>
          </a:prstGeom>
          <a:noFill/>
          <a:ln/>
        </p:spPr>
        <p:txBody>
          <a:bodyPr wrap="square" lIns="0" tIns="0" rIns="0" bIns="0" rtlCol="0" anchor="ctr"/>
          <a:lstStyle/>
          <a:p>
            <a:pPr marL="0" indent="0">
              <a:buNone/>
            </a:pPr>
            <a:r>
              <a:rPr lang="en-US" sz="1050" i="1" dirty="0">
                <a:solidFill>
                  <a:srgbClr val="6B7280"/>
                </a:solidFill>
                <a:latin typeface="Calibri" pitchFamily="34" charset="0"/>
                <a:ea typeface="Calibri" pitchFamily="34" charset="-122"/>
                <a:cs typeface="Calibri" pitchFamily="34" charset="-120"/>
              </a:rPr>
              <a:t>DICES-350 shown; DICES-990 mirrors the pattern with gender even more dominant at depth ≥2.</a:t>
            </a:r>
            <a:endParaRPr lang="en-US" sz="1050" dirty="0"/>
          </a:p>
        </p:txBody>
      </p:sp>
      <p:sp>
        <p:nvSpPr>
          <p:cNvPr id="9" name="Shape 6"/>
          <p:cNvSpPr/>
          <p:nvPr/>
        </p:nvSpPr>
        <p:spPr>
          <a:xfrm>
            <a:off x="6583680" y="1783080"/>
            <a:ext cx="5120640" cy="868680"/>
          </a:xfrm>
          <a:prstGeom prst="roundRect">
            <a:avLst>
              <a:gd name="adj" fmla="val 6316"/>
            </a:avLst>
          </a:prstGeom>
          <a:solidFill>
            <a:srgbClr val="F1F3FA"/>
          </a:solidFill>
          <a:ln/>
        </p:spPr>
        <p:txBody>
          <a:bodyPr/>
          <a:lstStyle/>
          <a:p>
            <a:endParaRPr lang="el-GR"/>
          </a:p>
        </p:txBody>
      </p:sp>
      <p:sp>
        <p:nvSpPr>
          <p:cNvPr id="10" name="Text 7"/>
          <p:cNvSpPr txBox="1"/>
          <p:nvPr/>
        </p:nvSpPr>
        <p:spPr>
          <a:xfrm>
            <a:off x="6812280" y="1783080"/>
            <a:ext cx="1554480" cy="868680"/>
          </a:xfrm>
          <a:prstGeom prst="rect">
            <a:avLst/>
          </a:prstGeom>
          <a:noFill/>
          <a:ln/>
        </p:spPr>
        <p:txBody>
          <a:bodyPr wrap="square" lIns="0" tIns="0" rIns="0" bIns="0" rtlCol="0" anchor="ctr"/>
          <a:lstStyle/>
          <a:p>
            <a:pPr marL="0" indent="0">
              <a:buNone/>
            </a:pPr>
            <a:r>
              <a:rPr lang="en-US" sz="2200" b="1" dirty="0">
                <a:solidFill>
                  <a:srgbClr val="1B1F3B"/>
                </a:solidFill>
                <a:latin typeface="Cambria" pitchFamily="34" charset="0"/>
                <a:ea typeface="Cambria" pitchFamily="34" charset="-122"/>
                <a:cs typeface="Cambria" pitchFamily="34" charset="-120"/>
              </a:rPr>
              <a:t>8–11%</a:t>
            </a:r>
            <a:endParaRPr lang="en-US" sz="2200" dirty="0"/>
          </a:p>
        </p:txBody>
      </p:sp>
      <p:sp>
        <p:nvSpPr>
          <p:cNvPr id="11" name="Text 8"/>
          <p:cNvSpPr txBox="1"/>
          <p:nvPr/>
        </p:nvSpPr>
        <p:spPr>
          <a:xfrm>
            <a:off x="8366760" y="1783080"/>
            <a:ext cx="3108960" cy="868680"/>
          </a:xfrm>
          <a:prstGeom prst="rect">
            <a:avLst/>
          </a:prstGeom>
          <a:noFill/>
          <a:ln/>
        </p:spPr>
        <p:txBody>
          <a:bodyPr wrap="square" lIns="0" tIns="0" rIns="0" bIns="0" rtlCol="0" anchor="ctr"/>
          <a:lstStyle/>
          <a:p>
            <a:pPr marL="0" indent="0">
              <a:buNone/>
            </a:pPr>
            <a:r>
              <a:rPr lang="en-US" sz="1250" dirty="0">
                <a:solidFill>
                  <a:srgbClr val="1B1F3B"/>
                </a:solidFill>
                <a:latin typeface="Calibri" pitchFamily="34" charset="0"/>
                <a:ea typeface="Calibri" pitchFamily="34" charset="-122"/>
                <a:cs typeface="Calibri" pitchFamily="34" charset="-120"/>
              </a:rPr>
              <a:t>of items retained as polarized</a:t>
            </a:r>
            <a:endParaRPr lang="en-US" sz="1250" dirty="0"/>
          </a:p>
        </p:txBody>
      </p:sp>
      <p:sp>
        <p:nvSpPr>
          <p:cNvPr id="12" name="Shape 9"/>
          <p:cNvSpPr/>
          <p:nvPr/>
        </p:nvSpPr>
        <p:spPr>
          <a:xfrm>
            <a:off x="6583680" y="2816352"/>
            <a:ext cx="5120640" cy="868680"/>
          </a:xfrm>
          <a:prstGeom prst="roundRect">
            <a:avLst>
              <a:gd name="adj" fmla="val 6316"/>
            </a:avLst>
          </a:prstGeom>
          <a:solidFill>
            <a:srgbClr val="F1F3FA"/>
          </a:solidFill>
          <a:ln/>
        </p:spPr>
        <p:txBody>
          <a:bodyPr/>
          <a:lstStyle/>
          <a:p>
            <a:endParaRPr lang="el-GR"/>
          </a:p>
        </p:txBody>
      </p:sp>
      <p:sp>
        <p:nvSpPr>
          <p:cNvPr id="13" name="Text 10"/>
          <p:cNvSpPr txBox="1"/>
          <p:nvPr/>
        </p:nvSpPr>
        <p:spPr>
          <a:xfrm>
            <a:off x="6812280" y="2816352"/>
            <a:ext cx="1554480" cy="868680"/>
          </a:xfrm>
          <a:prstGeom prst="rect">
            <a:avLst/>
          </a:prstGeom>
          <a:noFill/>
          <a:ln/>
        </p:spPr>
        <p:txBody>
          <a:bodyPr wrap="square" lIns="0" tIns="0" rIns="0" bIns="0" rtlCol="0" anchor="ctr"/>
          <a:lstStyle/>
          <a:p>
            <a:pPr marL="0" indent="0">
              <a:buNone/>
            </a:pPr>
            <a:r>
              <a:rPr lang="en-US" sz="2200" b="1" dirty="0">
                <a:solidFill>
                  <a:srgbClr val="1B1F3B"/>
                </a:solidFill>
                <a:latin typeface="Cambria" pitchFamily="34" charset="0"/>
                <a:ea typeface="Cambria" pitchFamily="34" charset="-122"/>
                <a:cs typeface="Cambria" pitchFamily="34" charset="-120"/>
              </a:rPr>
              <a:t>2.0–2.4</a:t>
            </a:r>
            <a:endParaRPr lang="en-US" sz="2200" dirty="0"/>
          </a:p>
        </p:txBody>
      </p:sp>
      <p:sp>
        <p:nvSpPr>
          <p:cNvPr id="14" name="Text 11"/>
          <p:cNvSpPr txBox="1"/>
          <p:nvPr/>
        </p:nvSpPr>
        <p:spPr>
          <a:xfrm>
            <a:off x="8366760" y="2816352"/>
            <a:ext cx="3108960" cy="868680"/>
          </a:xfrm>
          <a:prstGeom prst="rect">
            <a:avLst/>
          </a:prstGeom>
          <a:noFill/>
          <a:ln/>
        </p:spPr>
        <p:txBody>
          <a:bodyPr wrap="square" lIns="0" tIns="0" rIns="0" bIns="0" rtlCol="0" anchor="ctr"/>
          <a:lstStyle/>
          <a:p>
            <a:pPr marL="0" indent="0">
              <a:buNone/>
            </a:pPr>
            <a:r>
              <a:rPr lang="en-US" sz="1250" dirty="0">
                <a:solidFill>
                  <a:srgbClr val="1B1F3B"/>
                </a:solidFill>
                <a:latin typeface="Calibri" pitchFamily="34" charset="0"/>
                <a:ea typeface="Calibri" pitchFamily="34" charset="-122"/>
                <a:cs typeface="Calibri" pitchFamily="34" charset="-120"/>
              </a:rPr>
              <a:t>mean tree depth</a:t>
            </a:r>
            <a:endParaRPr lang="en-US" sz="1250" dirty="0"/>
          </a:p>
        </p:txBody>
      </p:sp>
      <p:sp>
        <p:nvSpPr>
          <p:cNvPr id="15" name="Shape 12"/>
          <p:cNvSpPr/>
          <p:nvPr/>
        </p:nvSpPr>
        <p:spPr>
          <a:xfrm>
            <a:off x="6583680" y="3849624"/>
            <a:ext cx="5120640" cy="868680"/>
          </a:xfrm>
          <a:prstGeom prst="roundRect">
            <a:avLst>
              <a:gd name="adj" fmla="val 6316"/>
            </a:avLst>
          </a:prstGeom>
          <a:solidFill>
            <a:srgbClr val="F1F3FA"/>
          </a:solidFill>
          <a:ln/>
        </p:spPr>
        <p:txBody>
          <a:bodyPr/>
          <a:lstStyle/>
          <a:p>
            <a:endParaRPr lang="el-GR"/>
          </a:p>
        </p:txBody>
      </p:sp>
      <p:sp>
        <p:nvSpPr>
          <p:cNvPr id="16" name="Text 13"/>
          <p:cNvSpPr txBox="1"/>
          <p:nvPr/>
        </p:nvSpPr>
        <p:spPr>
          <a:xfrm>
            <a:off x="6812280" y="3849624"/>
            <a:ext cx="1554480" cy="868680"/>
          </a:xfrm>
          <a:prstGeom prst="rect">
            <a:avLst/>
          </a:prstGeom>
          <a:noFill/>
          <a:ln/>
        </p:spPr>
        <p:txBody>
          <a:bodyPr wrap="square" lIns="0" tIns="0" rIns="0" bIns="0" rtlCol="0" anchor="ctr"/>
          <a:lstStyle/>
          <a:p>
            <a:pPr marL="0" indent="0">
              <a:buNone/>
            </a:pPr>
            <a:r>
              <a:rPr lang="en-US" sz="2200" b="1" dirty="0">
                <a:solidFill>
                  <a:srgbClr val="1B1F3B"/>
                </a:solidFill>
                <a:latin typeface="Cambria" pitchFamily="34" charset="0"/>
                <a:ea typeface="Cambria" pitchFamily="34" charset="-122"/>
                <a:cs typeface="Cambria" pitchFamily="34" charset="-120"/>
              </a:rPr>
              <a:t>~9–13%</a:t>
            </a:r>
            <a:endParaRPr lang="en-US" sz="2200" dirty="0"/>
          </a:p>
        </p:txBody>
      </p:sp>
      <p:sp>
        <p:nvSpPr>
          <p:cNvPr id="17" name="Text 14"/>
          <p:cNvSpPr txBox="1"/>
          <p:nvPr/>
        </p:nvSpPr>
        <p:spPr>
          <a:xfrm>
            <a:off x="8366760" y="3849624"/>
            <a:ext cx="3108960" cy="868680"/>
          </a:xfrm>
          <a:prstGeom prst="rect">
            <a:avLst/>
          </a:prstGeom>
          <a:noFill/>
          <a:ln/>
        </p:spPr>
        <p:txBody>
          <a:bodyPr wrap="square" lIns="0" tIns="0" rIns="0" bIns="0" rtlCol="0" anchor="ctr"/>
          <a:lstStyle/>
          <a:p>
            <a:pPr marL="0" indent="0">
              <a:buNone/>
            </a:pPr>
            <a:r>
              <a:rPr lang="en-US" sz="1250" dirty="0">
                <a:solidFill>
                  <a:srgbClr val="1B1F3B"/>
                </a:solidFill>
                <a:latin typeface="Calibri" pitchFamily="34" charset="0"/>
                <a:ea typeface="Calibri" pitchFamily="34" charset="-122"/>
                <a:cs typeface="Calibri" pitchFamily="34" charset="-120"/>
              </a:rPr>
              <a:t>leaves left indeterminate</a:t>
            </a:r>
            <a:endParaRPr lang="en-US" sz="1250" dirty="0"/>
          </a:p>
        </p:txBody>
      </p:sp>
      <p:sp>
        <p:nvSpPr>
          <p:cNvPr id="18" name="Shape 15"/>
          <p:cNvSpPr/>
          <p:nvPr/>
        </p:nvSpPr>
        <p:spPr>
          <a:xfrm>
            <a:off x="6583680" y="4882896"/>
            <a:ext cx="5120640" cy="868680"/>
          </a:xfrm>
          <a:prstGeom prst="roundRect">
            <a:avLst>
              <a:gd name="adj" fmla="val 6316"/>
            </a:avLst>
          </a:prstGeom>
          <a:solidFill>
            <a:srgbClr val="F1F3FA"/>
          </a:solidFill>
          <a:ln/>
        </p:spPr>
        <p:txBody>
          <a:bodyPr/>
          <a:lstStyle/>
          <a:p>
            <a:endParaRPr lang="el-GR"/>
          </a:p>
        </p:txBody>
      </p:sp>
      <p:sp>
        <p:nvSpPr>
          <p:cNvPr id="19" name="Text 16"/>
          <p:cNvSpPr txBox="1"/>
          <p:nvPr/>
        </p:nvSpPr>
        <p:spPr>
          <a:xfrm>
            <a:off x="6812280" y="4882896"/>
            <a:ext cx="1554480" cy="868680"/>
          </a:xfrm>
          <a:prstGeom prst="rect">
            <a:avLst/>
          </a:prstGeom>
          <a:noFill/>
          <a:ln/>
        </p:spPr>
        <p:txBody>
          <a:bodyPr wrap="square" lIns="0" tIns="0" rIns="0" bIns="0" rtlCol="0" anchor="ctr"/>
          <a:lstStyle/>
          <a:p>
            <a:pPr marL="0" indent="0">
              <a:buNone/>
            </a:pPr>
            <a:r>
              <a:rPr lang="en-US" sz="2200" b="1" dirty="0">
                <a:solidFill>
                  <a:srgbClr val="1B1F3B"/>
                </a:solidFill>
                <a:latin typeface="Cambria" pitchFamily="34" charset="0"/>
                <a:ea typeface="Cambria" pitchFamily="34" charset="-122"/>
                <a:cs typeface="Cambria" pitchFamily="34" charset="-120"/>
              </a:rPr>
              <a:t>0</a:t>
            </a:r>
            <a:endParaRPr lang="en-US" sz="2200" dirty="0"/>
          </a:p>
        </p:txBody>
      </p:sp>
      <p:sp>
        <p:nvSpPr>
          <p:cNvPr id="20" name="Text 17"/>
          <p:cNvSpPr txBox="1"/>
          <p:nvPr/>
        </p:nvSpPr>
        <p:spPr>
          <a:xfrm>
            <a:off x="8366760" y="4882896"/>
            <a:ext cx="3108960" cy="868680"/>
          </a:xfrm>
          <a:prstGeom prst="rect">
            <a:avLst/>
          </a:prstGeom>
          <a:noFill/>
          <a:ln/>
        </p:spPr>
        <p:txBody>
          <a:bodyPr wrap="square" lIns="0" tIns="0" rIns="0" bIns="0" rtlCol="0" anchor="ctr"/>
          <a:lstStyle/>
          <a:p>
            <a:pPr marL="0" indent="0">
              <a:buNone/>
            </a:pPr>
            <a:r>
              <a:rPr lang="en-US" sz="1250" dirty="0">
                <a:solidFill>
                  <a:srgbClr val="1B1F3B"/>
                </a:solidFill>
                <a:latin typeface="Calibri" pitchFamily="34" charset="0"/>
                <a:ea typeface="Calibri" pitchFamily="34" charset="-122"/>
                <a:cs typeface="Calibri" pitchFamily="34" charset="-120"/>
              </a:rPr>
              <a:t>SCD dimensions left unused</a:t>
            </a:r>
            <a:endParaRPr lang="en-US" sz="1250" dirty="0"/>
          </a:p>
        </p:txBody>
      </p:sp>
      <p:sp>
        <p:nvSpPr>
          <p:cNvPr id="21" name="Text 18"/>
          <p:cNvSpPr txBox="1"/>
          <p:nvPr/>
        </p:nvSpPr>
        <p:spPr>
          <a:xfrm>
            <a:off x="11521440" y="6473952"/>
            <a:ext cx="548640" cy="274320"/>
          </a:xfrm>
          <a:prstGeom prst="rect">
            <a:avLst/>
          </a:prstGeom>
          <a:noFill/>
          <a:ln/>
        </p:spPr>
        <p:txBody>
          <a:bodyPr wrap="square" lIns="0" tIns="0" rIns="0" bIns="0" rtlCol="0" anchor="ctr"/>
          <a:lstStyle/>
          <a:p>
            <a:pPr marL="0" indent="0" algn="r">
              <a:buNone/>
            </a:pPr>
            <a:r>
              <a:rPr lang="en-US" sz="1000" dirty="0">
                <a:solidFill>
                  <a:srgbClr val="B7BCD0"/>
                </a:solidFill>
                <a:latin typeface="Calibri" pitchFamily="34" charset="0"/>
                <a:ea typeface="Calibri" pitchFamily="34" charset="-122"/>
                <a:cs typeface="Calibri" pitchFamily="34" charset="-120"/>
              </a:rPr>
              <a:t>11</a:t>
            </a: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457200" y="457200"/>
            <a:ext cx="201168" cy="201168"/>
          </a:xfrm>
          <a:prstGeom prst="pie">
            <a:avLst>
              <a:gd name="adj1" fmla="val 16200000"/>
              <a:gd name="adj2" fmla="val 5400000"/>
            </a:avLst>
          </a:prstGeom>
          <a:solidFill>
            <a:srgbClr val="E4572E"/>
          </a:solidFill>
          <a:ln/>
        </p:spPr>
        <p:txBody>
          <a:bodyPr/>
          <a:lstStyle/>
          <a:p>
            <a:endParaRPr lang="el-GR"/>
          </a:p>
        </p:txBody>
      </p:sp>
      <p:sp>
        <p:nvSpPr>
          <p:cNvPr id="3" name="Shape 1"/>
          <p:cNvSpPr/>
          <p:nvPr/>
        </p:nvSpPr>
        <p:spPr>
          <a:xfrm>
            <a:off x="457200" y="457200"/>
            <a:ext cx="201168" cy="201168"/>
          </a:xfrm>
          <a:prstGeom prst="pie">
            <a:avLst>
              <a:gd name="adj1" fmla="val 5400000"/>
              <a:gd name="adj2" fmla="val 16200000"/>
            </a:avLst>
          </a:prstGeom>
          <a:solidFill>
            <a:srgbClr val="2F6FED"/>
          </a:solidFill>
          <a:ln/>
        </p:spPr>
        <p:txBody>
          <a:bodyPr/>
          <a:lstStyle/>
          <a:p>
            <a:endParaRPr lang="el-GR"/>
          </a:p>
        </p:txBody>
      </p:sp>
      <p:sp>
        <p:nvSpPr>
          <p:cNvPr id="4" name="Text 2"/>
          <p:cNvSpPr txBox="1"/>
          <p:nvPr/>
        </p:nvSpPr>
        <p:spPr>
          <a:xfrm>
            <a:off x="777240" y="365760"/>
            <a:ext cx="8229600" cy="320040"/>
          </a:xfrm>
          <a:prstGeom prst="rect">
            <a:avLst/>
          </a:prstGeom>
          <a:noFill/>
          <a:ln/>
        </p:spPr>
        <p:txBody>
          <a:bodyPr wrap="square" lIns="0" tIns="0" rIns="0" bIns="0" rtlCol="0" anchor="ctr"/>
          <a:lstStyle/>
          <a:p>
            <a:pPr marL="0" indent="0">
              <a:buNone/>
            </a:pPr>
            <a:r>
              <a:rPr lang="en-US" sz="1200" b="1" kern="0" spc="200" dirty="0">
                <a:solidFill>
                  <a:srgbClr val="6B7280"/>
                </a:solidFill>
                <a:latin typeface="Calibri" pitchFamily="34" charset="0"/>
                <a:ea typeface="Calibri" pitchFamily="34" charset="-122"/>
                <a:cs typeface="Calibri" pitchFamily="34" charset="-120"/>
              </a:rPr>
              <a:t>QUALITATIVE READING</a:t>
            </a:r>
            <a:endParaRPr lang="en-US" sz="1200" dirty="0"/>
          </a:p>
        </p:txBody>
      </p:sp>
      <p:sp>
        <p:nvSpPr>
          <p:cNvPr id="5" name="Text 3"/>
          <p:cNvSpPr txBox="1"/>
          <p:nvPr/>
        </p:nvSpPr>
        <p:spPr>
          <a:xfrm>
            <a:off x="457200" y="685800"/>
            <a:ext cx="11247120" cy="868680"/>
          </a:xfrm>
          <a:prstGeom prst="rect">
            <a:avLst/>
          </a:prstGeom>
          <a:noFill/>
          <a:ln/>
        </p:spPr>
        <p:txBody>
          <a:bodyPr wrap="square" lIns="0" tIns="0" rIns="0" bIns="0" rtlCol="0" anchor="ctr"/>
          <a:lstStyle/>
          <a:p>
            <a:pPr marL="0" indent="0">
              <a:buNone/>
            </a:pPr>
            <a:r>
              <a:rPr lang="en-US" sz="3600" b="1" dirty="0">
                <a:solidFill>
                  <a:srgbClr val="1B1F3B"/>
                </a:solidFill>
                <a:latin typeface="Cambria" pitchFamily="34" charset="0"/>
                <a:ea typeface="Cambria" pitchFamily="34" charset="-122"/>
                <a:cs typeface="Cambria" pitchFamily="34" charset="-120"/>
              </a:rPr>
              <a:t>Same story, three times over</a:t>
            </a:r>
            <a:endParaRPr lang="en-US" sz="3600" dirty="0"/>
          </a:p>
        </p:txBody>
      </p:sp>
      <p:sp>
        <p:nvSpPr>
          <p:cNvPr id="6" name="Shape 4"/>
          <p:cNvSpPr/>
          <p:nvPr/>
        </p:nvSpPr>
        <p:spPr>
          <a:xfrm>
            <a:off x="457200" y="1783080"/>
            <a:ext cx="3611880" cy="4251960"/>
          </a:xfrm>
          <a:prstGeom prst="roundRect">
            <a:avLst>
              <a:gd name="adj" fmla="val 2025"/>
            </a:avLst>
          </a:prstGeom>
          <a:solidFill>
            <a:srgbClr val="F1F3FA"/>
          </a:solidFill>
          <a:ln/>
        </p:spPr>
        <p:txBody>
          <a:bodyPr/>
          <a:lstStyle/>
          <a:p>
            <a:endParaRPr lang="el-GR"/>
          </a:p>
        </p:txBody>
      </p:sp>
      <p:sp>
        <p:nvSpPr>
          <p:cNvPr id="7" name="Text 5"/>
          <p:cNvSpPr txBox="1"/>
          <p:nvPr/>
        </p:nvSpPr>
        <p:spPr>
          <a:xfrm>
            <a:off x="731520" y="1965960"/>
            <a:ext cx="3017520" cy="411480"/>
          </a:xfrm>
          <a:prstGeom prst="rect">
            <a:avLst/>
          </a:prstGeom>
          <a:noFill/>
          <a:ln/>
        </p:spPr>
        <p:txBody>
          <a:bodyPr wrap="square" lIns="0" tIns="0" rIns="0" bIns="0" rtlCol="0" anchor="ctr"/>
          <a:lstStyle/>
          <a:p>
            <a:pPr marL="0" indent="0">
              <a:buNone/>
            </a:pPr>
            <a:r>
              <a:rPr lang="en-US" sz="1900" b="1" dirty="0">
                <a:solidFill>
                  <a:srgbClr val="1B1F3B"/>
                </a:solidFill>
                <a:latin typeface="Cambria" pitchFamily="34" charset="0"/>
                <a:ea typeface="Cambria" pitchFamily="34" charset="-122"/>
                <a:cs typeface="Cambria" pitchFamily="34" charset="-120"/>
              </a:rPr>
              <a:t>Item 942</a:t>
            </a:r>
            <a:endParaRPr lang="en-US" sz="1900" dirty="0"/>
          </a:p>
        </p:txBody>
      </p:sp>
      <p:sp>
        <p:nvSpPr>
          <p:cNvPr id="8" name="Text 6"/>
          <p:cNvSpPr txBox="1"/>
          <p:nvPr/>
        </p:nvSpPr>
        <p:spPr>
          <a:xfrm>
            <a:off x="731520" y="2395728"/>
            <a:ext cx="3063240" cy="594360"/>
          </a:xfrm>
          <a:prstGeom prst="rect">
            <a:avLst/>
          </a:prstGeom>
          <a:noFill/>
          <a:ln/>
        </p:spPr>
        <p:txBody>
          <a:bodyPr wrap="square" lIns="0" tIns="0" rIns="0" bIns="0" rtlCol="0" anchor="ctr"/>
          <a:lstStyle/>
          <a:p>
            <a:pPr marL="0" indent="0">
              <a:buNone/>
            </a:pPr>
            <a:r>
              <a:rPr lang="en-US" sz="1300" i="1" dirty="0">
                <a:solidFill>
                  <a:srgbClr val="6B7280"/>
                </a:solidFill>
                <a:latin typeface="Calibri" pitchFamily="34" charset="0"/>
                <a:ea typeface="Calibri" pitchFamily="34" charset="-122"/>
                <a:cs typeface="Calibri" pitchFamily="34" charset="-120"/>
              </a:rPr>
              <a:t>Hostile reply, no group targeted</a:t>
            </a:r>
            <a:endParaRPr lang="en-US" sz="1300" dirty="0"/>
          </a:p>
        </p:txBody>
      </p:sp>
      <p:sp>
        <p:nvSpPr>
          <p:cNvPr id="9" name="Shape 7"/>
          <p:cNvSpPr/>
          <p:nvPr/>
        </p:nvSpPr>
        <p:spPr>
          <a:xfrm>
            <a:off x="731520" y="3063240"/>
            <a:ext cx="3063240" cy="777240"/>
          </a:xfrm>
          <a:prstGeom prst="roundRect">
            <a:avLst>
              <a:gd name="adj" fmla="val 5882"/>
            </a:avLst>
          </a:prstGeom>
          <a:solidFill>
            <a:schemeClr val="accent2"/>
          </a:solidFill>
          <a:ln/>
        </p:spPr>
        <p:txBody>
          <a:bodyPr/>
          <a:lstStyle/>
          <a:p>
            <a:endParaRPr lang="el-GR"/>
          </a:p>
        </p:txBody>
      </p:sp>
      <p:sp>
        <p:nvSpPr>
          <p:cNvPr id="10" name="Text 8"/>
          <p:cNvSpPr txBox="1"/>
          <p:nvPr/>
        </p:nvSpPr>
        <p:spPr>
          <a:xfrm>
            <a:off x="868680" y="3063240"/>
            <a:ext cx="2788920" cy="777240"/>
          </a:xfrm>
          <a:prstGeom prst="rect">
            <a:avLst/>
          </a:prstGeom>
          <a:noFill/>
          <a:ln/>
        </p:spPr>
        <p:txBody>
          <a:bodyPr wrap="square" lIns="0" tIns="0" rIns="0" bIns="0"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Asian, Millennial, Man → biased</a:t>
            </a:r>
            <a:endParaRPr lang="en-US" sz="1300" dirty="0"/>
          </a:p>
        </p:txBody>
      </p:sp>
      <p:sp>
        <p:nvSpPr>
          <p:cNvPr id="11" name="Shape 9"/>
          <p:cNvSpPr/>
          <p:nvPr/>
        </p:nvSpPr>
        <p:spPr>
          <a:xfrm>
            <a:off x="731520" y="3931920"/>
            <a:ext cx="3063240" cy="777240"/>
          </a:xfrm>
          <a:prstGeom prst="roundRect">
            <a:avLst>
              <a:gd name="adj" fmla="val 5882"/>
            </a:avLst>
          </a:prstGeom>
          <a:solidFill>
            <a:schemeClr val="accent1"/>
          </a:solidFill>
          <a:ln/>
        </p:spPr>
        <p:txBody>
          <a:bodyPr/>
          <a:lstStyle/>
          <a:p>
            <a:endParaRPr lang="el-GR"/>
          </a:p>
        </p:txBody>
      </p:sp>
      <p:sp>
        <p:nvSpPr>
          <p:cNvPr id="12" name="Text 10"/>
          <p:cNvSpPr txBox="1"/>
          <p:nvPr/>
        </p:nvSpPr>
        <p:spPr>
          <a:xfrm>
            <a:off x="868680" y="3931920"/>
            <a:ext cx="2788920" cy="777240"/>
          </a:xfrm>
          <a:prstGeom prst="rect">
            <a:avLst/>
          </a:prstGeom>
          <a:noFill/>
          <a:ln/>
        </p:spPr>
        <p:txBody>
          <a:bodyPr wrap="square" lIns="0" tIns="0" rIns="0" bIns="0"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Asian, Millennial, Woman → not biased</a:t>
            </a:r>
            <a:endParaRPr lang="en-US" sz="1300" dirty="0"/>
          </a:p>
        </p:txBody>
      </p:sp>
      <p:sp>
        <p:nvSpPr>
          <p:cNvPr id="13" name="Text 11"/>
          <p:cNvSpPr txBox="1"/>
          <p:nvPr/>
        </p:nvSpPr>
        <p:spPr>
          <a:xfrm>
            <a:off x="731520" y="4846320"/>
            <a:ext cx="3063240" cy="1097280"/>
          </a:xfrm>
          <a:prstGeom prst="rect">
            <a:avLst/>
          </a:prstGeom>
          <a:noFill/>
          <a:ln/>
        </p:spPr>
        <p:txBody>
          <a:bodyPr wrap="square" lIns="0" tIns="0" rIns="0" bIns="0" rtlCol="0" anchor="ctr"/>
          <a:lstStyle/>
          <a:p>
            <a:pPr marL="0" indent="0">
              <a:lnSpc>
                <a:spcPct val="120000"/>
              </a:lnSpc>
              <a:buNone/>
            </a:pPr>
            <a:r>
              <a:rPr lang="en-US" sz="1450" b="1" dirty="0">
                <a:solidFill>
                  <a:srgbClr val="1B1F3B"/>
                </a:solidFill>
                <a:latin typeface="Calibri" pitchFamily="34" charset="0"/>
                <a:ea typeface="Calibri" pitchFamily="34" charset="-122"/>
                <a:cs typeface="Calibri" pitchFamily="34" charset="-120"/>
              </a:rPr>
              <a:t>Two traits pinned down, gender alone flips the verdict.</a:t>
            </a:r>
            <a:endParaRPr lang="en-US" sz="1450" dirty="0"/>
          </a:p>
        </p:txBody>
      </p:sp>
      <p:sp>
        <p:nvSpPr>
          <p:cNvPr id="14" name="Shape 12"/>
          <p:cNvSpPr/>
          <p:nvPr/>
        </p:nvSpPr>
        <p:spPr>
          <a:xfrm>
            <a:off x="4297680" y="1783080"/>
            <a:ext cx="3611880" cy="4251960"/>
          </a:xfrm>
          <a:prstGeom prst="roundRect">
            <a:avLst>
              <a:gd name="adj" fmla="val 2025"/>
            </a:avLst>
          </a:prstGeom>
          <a:solidFill>
            <a:srgbClr val="F1F3FA"/>
          </a:solidFill>
          <a:ln/>
        </p:spPr>
        <p:txBody>
          <a:bodyPr/>
          <a:lstStyle/>
          <a:p>
            <a:endParaRPr lang="el-GR"/>
          </a:p>
        </p:txBody>
      </p:sp>
      <p:sp>
        <p:nvSpPr>
          <p:cNvPr id="15" name="Text 13"/>
          <p:cNvSpPr txBox="1"/>
          <p:nvPr/>
        </p:nvSpPr>
        <p:spPr>
          <a:xfrm>
            <a:off x="4572000" y="1965960"/>
            <a:ext cx="3017520" cy="411480"/>
          </a:xfrm>
          <a:prstGeom prst="rect">
            <a:avLst/>
          </a:prstGeom>
          <a:noFill/>
          <a:ln/>
        </p:spPr>
        <p:txBody>
          <a:bodyPr wrap="square" lIns="0" tIns="0" rIns="0" bIns="0" rtlCol="0" anchor="ctr"/>
          <a:lstStyle/>
          <a:p>
            <a:pPr marL="0" indent="0">
              <a:buNone/>
            </a:pPr>
            <a:r>
              <a:rPr lang="en-US" sz="1900" b="1" dirty="0">
                <a:solidFill>
                  <a:srgbClr val="1B1F3B"/>
                </a:solidFill>
                <a:latin typeface="Cambria" pitchFamily="34" charset="0"/>
                <a:ea typeface="Cambria" pitchFamily="34" charset="-122"/>
                <a:cs typeface="Cambria" pitchFamily="34" charset="-120"/>
              </a:rPr>
              <a:t>Item 59</a:t>
            </a:r>
            <a:endParaRPr lang="en-US" sz="1900" dirty="0"/>
          </a:p>
        </p:txBody>
      </p:sp>
      <p:sp>
        <p:nvSpPr>
          <p:cNvPr id="16" name="Text 14"/>
          <p:cNvSpPr txBox="1"/>
          <p:nvPr/>
        </p:nvSpPr>
        <p:spPr>
          <a:xfrm>
            <a:off x="4572000" y="2395728"/>
            <a:ext cx="3063240" cy="594360"/>
          </a:xfrm>
          <a:prstGeom prst="rect">
            <a:avLst/>
          </a:prstGeom>
          <a:noFill/>
          <a:ln/>
        </p:spPr>
        <p:txBody>
          <a:bodyPr wrap="square" lIns="0" tIns="0" rIns="0" bIns="0" rtlCol="0" anchor="ctr"/>
          <a:lstStyle/>
          <a:p>
            <a:pPr marL="0" indent="0">
              <a:buNone/>
            </a:pPr>
            <a:r>
              <a:rPr lang="en-US" sz="1300" i="1" dirty="0">
                <a:solidFill>
                  <a:srgbClr val="6B7280"/>
                </a:solidFill>
                <a:latin typeface="Calibri" pitchFamily="34" charset="0"/>
                <a:ea typeface="Calibri" pitchFamily="34" charset="-122"/>
                <a:cs typeface="Calibri" pitchFamily="34" charset="-120"/>
              </a:rPr>
              <a:t>Racially-coded slur about a coworker</a:t>
            </a:r>
            <a:endParaRPr lang="en-US" sz="1300" dirty="0"/>
          </a:p>
        </p:txBody>
      </p:sp>
      <p:sp>
        <p:nvSpPr>
          <p:cNvPr id="17" name="Shape 15"/>
          <p:cNvSpPr/>
          <p:nvPr/>
        </p:nvSpPr>
        <p:spPr>
          <a:xfrm>
            <a:off x="4572000" y="3063240"/>
            <a:ext cx="3063240" cy="777240"/>
          </a:xfrm>
          <a:prstGeom prst="roundRect">
            <a:avLst>
              <a:gd name="adj" fmla="val 5882"/>
            </a:avLst>
          </a:prstGeom>
          <a:solidFill>
            <a:schemeClr val="accent1"/>
          </a:solidFill>
          <a:ln/>
        </p:spPr>
        <p:txBody>
          <a:bodyPr/>
          <a:lstStyle/>
          <a:p>
            <a:endParaRPr lang="el-GR"/>
          </a:p>
        </p:txBody>
      </p:sp>
      <p:sp>
        <p:nvSpPr>
          <p:cNvPr id="18" name="Text 16"/>
          <p:cNvSpPr txBox="1"/>
          <p:nvPr/>
        </p:nvSpPr>
        <p:spPr>
          <a:xfrm>
            <a:off x="4709160" y="3063240"/>
            <a:ext cx="2788920" cy="777240"/>
          </a:xfrm>
          <a:prstGeom prst="rect">
            <a:avLst/>
          </a:prstGeom>
          <a:noFill/>
          <a:ln/>
        </p:spPr>
        <p:txBody>
          <a:bodyPr wrap="square" lIns="0" tIns="0" rIns="0" bIns="0"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Asian, Gen X+, Man → not biased</a:t>
            </a:r>
            <a:endParaRPr lang="en-US" sz="1300" dirty="0"/>
          </a:p>
        </p:txBody>
      </p:sp>
      <p:sp>
        <p:nvSpPr>
          <p:cNvPr id="19" name="Shape 17"/>
          <p:cNvSpPr/>
          <p:nvPr/>
        </p:nvSpPr>
        <p:spPr>
          <a:xfrm>
            <a:off x="4572000" y="3931920"/>
            <a:ext cx="3063240" cy="777240"/>
          </a:xfrm>
          <a:prstGeom prst="roundRect">
            <a:avLst>
              <a:gd name="adj" fmla="val 5882"/>
            </a:avLst>
          </a:prstGeom>
          <a:solidFill>
            <a:schemeClr val="accent2"/>
          </a:solidFill>
          <a:ln/>
        </p:spPr>
        <p:txBody>
          <a:bodyPr/>
          <a:lstStyle/>
          <a:p>
            <a:endParaRPr lang="el-GR"/>
          </a:p>
        </p:txBody>
      </p:sp>
      <p:sp>
        <p:nvSpPr>
          <p:cNvPr id="20" name="Text 18"/>
          <p:cNvSpPr txBox="1"/>
          <p:nvPr/>
        </p:nvSpPr>
        <p:spPr>
          <a:xfrm>
            <a:off x="4709160" y="3931920"/>
            <a:ext cx="2788920" cy="777240"/>
          </a:xfrm>
          <a:prstGeom prst="rect">
            <a:avLst/>
          </a:prstGeom>
          <a:noFill/>
          <a:ln/>
        </p:spPr>
        <p:txBody>
          <a:bodyPr wrap="square" lIns="0" tIns="0" rIns="0" bIns="0"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Asian, Millennial, HS-or-below → biased</a:t>
            </a:r>
            <a:endParaRPr lang="en-US" sz="1300" dirty="0"/>
          </a:p>
        </p:txBody>
      </p:sp>
      <p:sp>
        <p:nvSpPr>
          <p:cNvPr id="21" name="Text 19"/>
          <p:cNvSpPr txBox="1"/>
          <p:nvPr/>
        </p:nvSpPr>
        <p:spPr>
          <a:xfrm>
            <a:off x="4572000" y="4846320"/>
            <a:ext cx="3063240" cy="1097280"/>
          </a:xfrm>
          <a:prstGeom prst="rect">
            <a:avLst/>
          </a:prstGeom>
          <a:noFill/>
          <a:ln/>
        </p:spPr>
        <p:txBody>
          <a:bodyPr wrap="square" lIns="0" tIns="0" rIns="0" bIns="0" rtlCol="0" anchor="ctr"/>
          <a:lstStyle/>
          <a:p>
            <a:pPr marL="0" indent="0">
              <a:lnSpc>
                <a:spcPct val="120000"/>
              </a:lnSpc>
              <a:buNone/>
            </a:pPr>
            <a:r>
              <a:rPr lang="en-US" sz="1450" b="1" dirty="0">
                <a:solidFill>
                  <a:srgbClr val="1B1F3B"/>
                </a:solidFill>
                <a:latin typeface="Calibri" pitchFamily="34" charset="0"/>
                <a:ea typeface="Calibri" pitchFamily="34" charset="-122"/>
                <a:cs typeface="Calibri" pitchFamily="34" charset="-120"/>
              </a:rPr>
              <a:t>Not the slur, the mockery. Groups disagree on where mockery becomes bias.</a:t>
            </a:r>
            <a:endParaRPr lang="en-US" sz="1450" dirty="0"/>
          </a:p>
        </p:txBody>
      </p:sp>
      <p:sp>
        <p:nvSpPr>
          <p:cNvPr id="22" name="Shape 20"/>
          <p:cNvSpPr/>
          <p:nvPr/>
        </p:nvSpPr>
        <p:spPr>
          <a:xfrm>
            <a:off x="8138160" y="1783080"/>
            <a:ext cx="3611880" cy="4251960"/>
          </a:xfrm>
          <a:prstGeom prst="roundRect">
            <a:avLst>
              <a:gd name="adj" fmla="val 2025"/>
            </a:avLst>
          </a:prstGeom>
          <a:solidFill>
            <a:srgbClr val="F1F3FA"/>
          </a:solidFill>
          <a:ln/>
        </p:spPr>
        <p:txBody>
          <a:bodyPr/>
          <a:lstStyle/>
          <a:p>
            <a:endParaRPr lang="el-GR"/>
          </a:p>
        </p:txBody>
      </p:sp>
      <p:sp>
        <p:nvSpPr>
          <p:cNvPr id="23" name="Text 21"/>
          <p:cNvSpPr txBox="1"/>
          <p:nvPr/>
        </p:nvSpPr>
        <p:spPr>
          <a:xfrm>
            <a:off x="8412480" y="1965960"/>
            <a:ext cx="3017520" cy="411480"/>
          </a:xfrm>
          <a:prstGeom prst="rect">
            <a:avLst/>
          </a:prstGeom>
          <a:noFill/>
          <a:ln/>
        </p:spPr>
        <p:txBody>
          <a:bodyPr wrap="square" lIns="0" tIns="0" rIns="0" bIns="0" rtlCol="0" anchor="ctr"/>
          <a:lstStyle/>
          <a:p>
            <a:pPr marL="0" indent="0">
              <a:buNone/>
            </a:pPr>
            <a:r>
              <a:rPr lang="en-US" sz="1900" b="1" dirty="0">
                <a:solidFill>
                  <a:srgbClr val="1B1F3B"/>
                </a:solidFill>
                <a:latin typeface="Cambria" pitchFamily="34" charset="0"/>
                <a:ea typeface="Cambria" pitchFamily="34" charset="-122"/>
                <a:cs typeface="Cambria" pitchFamily="34" charset="-120"/>
              </a:rPr>
              <a:t>Item 901</a:t>
            </a:r>
            <a:endParaRPr lang="en-US" sz="1900" dirty="0"/>
          </a:p>
        </p:txBody>
      </p:sp>
      <p:sp>
        <p:nvSpPr>
          <p:cNvPr id="24" name="Text 22"/>
          <p:cNvSpPr txBox="1"/>
          <p:nvPr/>
        </p:nvSpPr>
        <p:spPr>
          <a:xfrm>
            <a:off x="8412480" y="2395728"/>
            <a:ext cx="3063240" cy="594360"/>
          </a:xfrm>
          <a:prstGeom prst="rect">
            <a:avLst/>
          </a:prstGeom>
          <a:noFill/>
          <a:ln/>
        </p:spPr>
        <p:txBody>
          <a:bodyPr wrap="square" lIns="0" tIns="0" rIns="0" bIns="0" rtlCol="0" anchor="ctr"/>
          <a:lstStyle/>
          <a:p>
            <a:pPr marL="0" indent="0">
              <a:buNone/>
            </a:pPr>
            <a:r>
              <a:rPr lang="en-US" sz="1300" i="1" dirty="0">
                <a:solidFill>
                  <a:srgbClr val="6B7280"/>
                </a:solidFill>
                <a:latin typeface="Calibri" pitchFamily="34" charset="0"/>
                <a:ea typeface="Calibri" pitchFamily="34" charset="-122"/>
                <a:cs typeface="Calibri" pitchFamily="34" charset="-120"/>
              </a:rPr>
              <a:t>Comment on crime and wealth gaps</a:t>
            </a:r>
            <a:endParaRPr lang="en-US" sz="1300" dirty="0"/>
          </a:p>
        </p:txBody>
      </p:sp>
      <p:sp>
        <p:nvSpPr>
          <p:cNvPr id="25" name="Shape 23"/>
          <p:cNvSpPr/>
          <p:nvPr/>
        </p:nvSpPr>
        <p:spPr>
          <a:xfrm>
            <a:off x="8412480" y="3063240"/>
            <a:ext cx="3063240" cy="777240"/>
          </a:xfrm>
          <a:prstGeom prst="roundRect">
            <a:avLst>
              <a:gd name="adj" fmla="val 5882"/>
            </a:avLst>
          </a:prstGeom>
          <a:solidFill>
            <a:schemeClr val="accent2"/>
          </a:solidFill>
          <a:ln/>
        </p:spPr>
        <p:txBody>
          <a:bodyPr/>
          <a:lstStyle/>
          <a:p>
            <a:endParaRPr lang="el-GR"/>
          </a:p>
        </p:txBody>
      </p:sp>
      <p:sp>
        <p:nvSpPr>
          <p:cNvPr id="26" name="Text 24"/>
          <p:cNvSpPr txBox="1"/>
          <p:nvPr/>
        </p:nvSpPr>
        <p:spPr>
          <a:xfrm>
            <a:off x="8549640" y="3063240"/>
            <a:ext cx="2788920" cy="777240"/>
          </a:xfrm>
          <a:prstGeom prst="rect">
            <a:avLst/>
          </a:prstGeom>
          <a:noFill/>
          <a:ln/>
        </p:spPr>
        <p:txBody>
          <a:bodyPr wrap="square" lIns="0" tIns="0" rIns="0" bIns="0"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Gen X+, Woman → biased</a:t>
            </a:r>
            <a:endParaRPr lang="en-US" sz="1300" dirty="0"/>
          </a:p>
        </p:txBody>
      </p:sp>
      <p:sp>
        <p:nvSpPr>
          <p:cNvPr id="27" name="Shape 25"/>
          <p:cNvSpPr/>
          <p:nvPr/>
        </p:nvSpPr>
        <p:spPr>
          <a:xfrm>
            <a:off x="8412480" y="3931920"/>
            <a:ext cx="3063240" cy="777240"/>
          </a:xfrm>
          <a:prstGeom prst="roundRect">
            <a:avLst>
              <a:gd name="adj" fmla="val 5882"/>
            </a:avLst>
          </a:prstGeom>
          <a:solidFill>
            <a:schemeClr val="accent1"/>
          </a:solidFill>
          <a:ln/>
        </p:spPr>
        <p:txBody>
          <a:bodyPr/>
          <a:lstStyle/>
          <a:p>
            <a:endParaRPr lang="el-GR"/>
          </a:p>
        </p:txBody>
      </p:sp>
      <p:sp>
        <p:nvSpPr>
          <p:cNvPr id="28" name="Text 26"/>
          <p:cNvSpPr txBox="1"/>
          <p:nvPr/>
        </p:nvSpPr>
        <p:spPr>
          <a:xfrm>
            <a:off x="8549640" y="3931920"/>
            <a:ext cx="2788920" cy="777240"/>
          </a:xfrm>
          <a:prstGeom prst="rect">
            <a:avLst/>
          </a:prstGeom>
          <a:noFill/>
          <a:ln/>
        </p:spPr>
        <p:txBody>
          <a:bodyPr wrap="square" lIns="0" tIns="0" rIns="0" bIns="0"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Hispanic/Latino, Millennial, Degree+ → not biased</a:t>
            </a:r>
            <a:endParaRPr lang="en-US" sz="1300" dirty="0"/>
          </a:p>
        </p:txBody>
      </p:sp>
      <p:sp>
        <p:nvSpPr>
          <p:cNvPr id="29" name="Text 27"/>
          <p:cNvSpPr txBox="1"/>
          <p:nvPr/>
        </p:nvSpPr>
        <p:spPr>
          <a:xfrm>
            <a:off x="8412480" y="4846320"/>
            <a:ext cx="3063240" cy="1097280"/>
          </a:xfrm>
          <a:prstGeom prst="rect">
            <a:avLst/>
          </a:prstGeom>
          <a:noFill/>
          <a:ln/>
        </p:spPr>
        <p:txBody>
          <a:bodyPr wrap="square" lIns="0" tIns="0" rIns="0" bIns="0" rtlCol="0" anchor="ctr"/>
          <a:lstStyle/>
          <a:p>
            <a:pPr marL="0" indent="0">
              <a:lnSpc>
                <a:spcPct val="120000"/>
              </a:lnSpc>
              <a:buNone/>
            </a:pPr>
            <a:r>
              <a:rPr lang="en-US" sz="1450" b="1" dirty="0">
                <a:solidFill>
                  <a:srgbClr val="1B1F3B"/>
                </a:solidFill>
                <a:latin typeface="Calibri" pitchFamily="34" charset="0"/>
                <a:ea typeface="Calibri" pitchFamily="34" charset="-122"/>
                <a:cs typeface="Calibri" pitchFamily="34" charset="-120"/>
              </a:rPr>
              <a:t>Same explanation, two readings, repeating bias, or refuting it.</a:t>
            </a:r>
            <a:endParaRPr lang="en-US" sz="1450" dirty="0"/>
          </a:p>
        </p:txBody>
      </p:sp>
      <p:sp>
        <p:nvSpPr>
          <p:cNvPr id="30" name="Text 28"/>
          <p:cNvSpPr txBox="1"/>
          <p:nvPr/>
        </p:nvSpPr>
        <p:spPr>
          <a:xfrm>
            <a:off x="11521440" y="6473952"/>
            <a:ext cx="548640" cy="274320"/>
          </a:xfrm>
          <a:prstGeom prst="rect">
            <a:avLst/>
          </a:prstGeom>
          <a:noFill/>
          <a:ln/>
        </p:spPr>
        <p:txBody>
          <a:bodyPr wrap="square" lIns="0" tIns="0" rIns="0" bIns="0" rtlCol="0" anchor="ctr"/>
          <a:lstStyle/>
          <a:p>
            <a:pPr marL="0" indent="0" algn="r">
              <a:buNone/>
            </a:pPr>
            <a:r>
              <a:rPr lang="en-US" sz="1100" dirty="0">
                <a:solidFill>
                  <a:srgbClr val="B7BCD0"/>
                </a:solidFill>
                <a:latin typeface="Calibri" pitchFamily="34" charset="0"/>
                <a:ea typeface="Calibri" pitchFamily="34" charset="-122"/>
                <a:cs typeface="Calibri" pitchFamily="34" charset="-120"/>
              </a:rPr>
              <a:t>12</a:t>
            </a:r>
            <a:endParaRPr lang="en-US" sz="11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2">
    <p:bg>
      <p:bgPr>
        <a:solidFill>
          <a:srgbClr val="1B1F3B"/>
        </a:solidFill>
        <a:effectLst/>
      </p:bgPr>
    </p:bg>
    <p:spTree>
      <p:nvGrpSpPr>
        <p:cNvPr id="1" name=""/>
        <p:cNvGrpSpPr/>
        <p:nvPr/>
      </p:nvGrpSpPr>
      <p:grpSpPr>
        <a:xfrm>
          <a:off x="0" y="0"/>
          <a:ext cx="0" cy="0"/>
          <a:chOff x="0" y="0"/>
          <a:chExt cx="0" cy="0"/>
        </a:xfrm>
      </p:grpSpPr>
      <p:sp>
        <p:nvSpPr>
          <p:cNvPr id="2" name="Shape 0"/>
          <p:cNvSpPr/>
          <p:nvPr/>
        </p:nvSpPr>
        <p:spPr>
          <a:xfrm>
            <a:off x="457200" y="457200"/>
            <a:ext cx="201168" cy="201168"/>
          </a:xfrm>
          <a:prstGeom prst="pie">
            <a:avLst>
              <a:gd name="adj1" fmla="val 16200000"/>
              <a:gd name="adj2" fmla="val 5400000"/>
            </a:avLst>
          </a:prstGeom>
          <a:solidFill>
            <a:srgbClr val="E4572E"/>
          </a:solidFill>
          <a:ln/>
        </p:spPr>
        <p:txBody>
          <a:bodyPr/>
          <a:lstStyle/>
          <a:p>
            <a:endParaRPr lang="el-GR"/>
          </a:p>
        </p:txBody>
      </p:sp>
      <p:sp>
        <p:nvSpPr>
          <p:cNvPr id="3" name="Shape 1"/>
          <p:cNvSpPr/>
          <p:nvPr/>
        </p:nvSpPr>
        <p:spPr>
          <a:xfrm>
            <a:off x="457200" y="457200"/>
            <a:ext cx="201168" cy="201168"/>
          </a:xfrm>
          <a:prstGeom prst="pie">
            <a:avLst>
              <a:gd name="adj1" fmla="val 5400000"/>
              <a:gd name="adj2" fmla="val 16200000"/>
            </a:avLst>
          </a:prstGeom>
          <a:solidFill>
            <a:srgbClr val="2F6FED"/>
          </a:solidFill>
          <a:ln/>
        </p:spPr>
        <p:txBody>
          <a:bodyPr/>
          <a:lstStyle/>
          <a:p>
            <a:endParaRPr lang="el-GR"/>
          </a:p>
        </p:txBody>
      </p:sp>
      <p:sp>
        <p:nvSpPr>
          <p:cNvPr id="4" name="Text 2"/>
          <p:cNvSpPr txBox="1"/>
          <p:nvPr/>
        </p:nvSpPr>
        <p:spPr>
          <a:xfrm>
            <a:off x="777240" y="384048"/>
            <a:ext cx="7315200" cy="320040"/>
          </a:xfrm>
          <a:prstGeom prst="rect">
            <a:avLst/>
          </a:prstGeom>
          <a:noFill/>
          <a:ln/>
        </p:spPr>
        <p:txBody>
          <a:bodyPr wrap="square" lIns="0" tIns="0" rIns="0" bIns="0" rtlCol="0" anchor="ctr"/>
          <a:lstStyle/>
          <a:p>
            <a:pPr marL="0" indent="0">
              <a:buNone/>
            </a:pPr>
            <a:r>
              <a:rPr lang="en-US" sz="1100" b="1" kern="0" spc="200" dirty="0">
                <a:solidFill>
                  <a:srgbClr val="9AA3C7"/>
                </a:solidFill>
                <a:latin typeface="Calibri" pitchFamily="34" charset="0"/>
                <a:ea typeface="Calibri" pitchFamily="34" charset="-122"/>
                <a:cs typeface="Calibri" pitchFamily="34" charset="-120"/>
              </a:rPr>
              <a:t>TAKEAWAYS</a:t>
            </a:r>
            <a:endParaRPr lang="en-US" sz="1100" dirty="0"/>
          </a:p>
        </p:txBody>
      </p:sp>
      <p:sp>
        <p:nvSpPr>
          <p:cNvPr id="5" name="Text 3"/>
          <p:cNvSpPr txBox="1"/>
          <p:nvPr/>
        </p:nvSpPr>
        <p:spPr>
          <a:xfrm>
            <a:off x="457200" y="713232"/>
            <a:ext cx="11247120" cy="777240"/>
          </a:xfrm>
          <a:prstGeom prst="rect">
            <a:avLst/>
          </a:prstGeom>
          <a:noFill/>
          <a:ln/>
        </p:spPr>
        <p:txBody>
          <a:bodyPr wrap="square" lIns="0" tIns="0" rIns="0" bIns="0" rtlCol="0" anchor="ctr"/>
          <a:lstStyle/>
          <a:p>
            <a:pPr marL="0" indent="0">
              <a:buNone/>
            </a:pPr>
            <a:r>
              <a:rPr lang="en-US" sz="3600" b="1" dirty="0">
                <a:solidFill>
                  <a:srgbClr val="FFFFFF"/>
                </a:solidFill>
                <a:latin typeface="Cambria" pitchFamily="34" charset="0"/>
                <a:ea typeface="Cambria" pitchFamily="34" charset="-122"/>
                <a:cs typeface="Cambria" pitchFamily="34" charset="-120"/>
              </a:rPr>
              <a:t>What we bring to the community</a:t>
            </a:r>
            <a:endParaRPr lang="en-US" sz="3600" dirty="0"/>
          </a:p>
        </p:txBody>
      </p:sp>
      <p:sp>
        <p:nvSpPr>
          <p:cNvPr id="6" name="Text 4"/>
          <p:cNvSpPr txBox="1"/>
          <p:nvPr/>
        </p:nvSpPr>
        <p:spPr>
          <a:xfrm>
            <a:off x="457200" y="1783080"/>
            <a:ext cx="5303520" cy="365760"/>
          </a:xfrm>
          <a:prstGeom prst="rect">
            <a:avLst/>
          </a:prstGeom>
          <a:noFill/>
          <a:ln/>
        </p:spPr>
        <p:txBody>
          <a:bodyPr wrap="square" lIns="0" tIns="0" rIns="0" bIns="0" rtlCol="0" anchor="ctr"/>
          <a:lstStyle/>
          <a:p>
            <a:pPr marL="0" indent="0">
              <a:buNone/>
            </a:pPr>
            <a:r>
              <a:rPr lang="en-US" sz="1500" b="1" dirty="0">
                <a:solidFill>
                  <a:srgbClr val="F2B705"/>
                </a:solidFill>
                <a:latin typeface="Cambria" pitchFamily="34" charset="0"/>
                <a:ea typeface="Cambria" pitchFamily="34" charset="-122"/>
                <a:cs typeface="Cambria" pitchFamily="34" charset="-120"/>
              </a:rPr>
              <a:t>Contributions</a:t>
            </a:r>
            <a:endParaRPr lang="en-US" sz="1500" dirty="0"/>
          </a:p>
        </p:txBody>
      </p:sp>
      <p:sp>
        <p:nvSpPr>
          <p:cNvPr id="7" name="Text 5"/>
          <p:cNvSpPr txBox="1"/>
          <p:nvPr/>
        </p:nvSpPr>
        <p:spPr>
          <a:xfrm>
            <a:off x="457200" y="2194560"/>
            <a:ext cx="5394960" cy="3931920"/>
          </a:xfrm>
          <a:prstGeom prst="rect">
            <a:avLst/>
          </a:prstGeom>
          <a:noFill/>
          <a:ln/>
        </p:spPr>
        <p:txBody>
          <a:bodyPr wrap="square" lIns="0" tIns="0" rIns="0" bIns="0" rtlCol="0" anchor="ctr"/>
          <a:lstStyle/>
          <a:p>
            <a:pPr marL="342900" indent="-342900">
              <a:lnSpc>
                <a:spcPct val="115000"/>
              </a:lnSpc>
              <a:spcAft>
                <a:spcPts val="1200"/>
              </a:spcAft>
              <a:buSzPct val="100000"/>
              <a:buChar char="–"/>
            </a:pPr>
            <a:r>
              <a:rPr lang="en-US" sz="1300" dirty="0">
                <a:solidFill>
                  <a:srgbClr val="FFFFFF"/>
                </a:solidFill>
                <a:latin typeface="Calibri" pitchFamily="34" charset="0"/>
                <a:ea typeface="Calibri" pitchFamily="34" charset="-122"/>
                <a:cs typeface="Calibri" pitchFamily="34" charset="-120"/>
              </a:rPr>
              <a:t>Method to automatically discover multidimensional  polarization structure — no predefined hypotheses</a:t>
            </a:r>
            <a:endParaRPr lang="en-US" sz="1300" dirty="0"/>
          </a:p>
          <a:p>
            <a:pPr marL="342900" indent="-342900">
              <a:lnSpc>
                <a:spcPct val="115000"/>
              </a:lnSpc>
              <a:spcAft>
                <a:spcPts val="1200"/>
              </a:spcAft>
              <a:buSzPct val="100000"/>
              <a:buChar char="–"/>
            </a:pPr>
            <a:r>
              <a:rPr lang="en-US" sz="1300" dirty="0">
                <a:solidFill>
                  <a:srgbClr val="FFFFFF"/>
                </a:solidFill>
                <a:latin typeface="Calibri" pitchFamily="34" charset="0"/>
                <a:ea typeface="Calibri" pitchFamily="34" charset="-122"/>
                <a:cs typeface="Calibri" pitchFamily="34" charset="-120"/>
              </a:rPr>
              <a:t>PEG turns “which trait explains this?” into a rankable, quantifiable score per split</a:t>
            </a:r>
            <a:endParaRPr lang="en-US" sz="1300" dirty="0"/>
          </a:p>
          <a:p>
            <a:pPr marL="342900" indent="-342900">
              <a:lnSpc>
                <a:spcPct val="115000"/>
              </a:lnSpc>
              <a:spcAft>
                <a:spcPts val="1200"/>
              </a:spcAft>
              <a:buSzPct val="100000"/>
              <a:buChar char="–"/>
            </a:pPr>
            <a:r>
              <a:rPr lang="en-US" sz="1300" dirty="0">
                <a:solidFill>
                  <a:srgbClr val="FFFFFF"/>
                </a:solidFill>
                <a:latin typeface="Calibri" pitchFamily="34" charset="0"/>
                <a:ea typeface="Calibri" pitchFamily="34" charset="-122"/>
                <a:cs typeface="Calibri" pitchFamily="34" charset="-120"/>
              </a:rPr>
              <a:t>A validated pipeline: synthetic ground truth for model/hyperparameter selection, then unchanged application to real data</a:t>
            </a:r>
            <a:endParaRPr lang="en-US" sz="1300" dirty="0"/>
          </a:p>
          <a:p>
            <a:pPr marL="342900" indent="-342900">
              <a:lnSpc>
                <a:spcPct val="115000"/>
              </a:lnSpc>
              <a:spcAft>
                <a:spcPts val="1200"/>
              </a:spcAft>
              <a:buSzPct val="100000"/>
              <a:buChar char="–"/>
            </a:pPr>
            <a:r>
              <a:rPr lang="en-US" sz="1300" dirty="0">
                <a:solidFill>
                  <a:srgbClr val="FFFFFF"/>
                </a:solidFill>
                <a:latin typeface="Calibri" pitchFamily="34" charset="0"/>
                <a:ea typeface="Calibri" pitchFamily="34" charset="-122"/>
                <a:cs typeface="Calibri" pitchFamily="34" charset="-120"/>
              </a:rPr>
              <a:t>Reframes annotation polarization as structure to explain, not noise to remove</a:t>
            </a:r>
            <a:endParaRPr lang="en-US" sz="1300" dirty="0"/>
          </a:p>
        </p:txBody>
      </p:sp>
      <p:sp>
        <p:nvSpPr>
          <p:cNvPr id="8" name="Text 6"/>
          <p:cNvSpPr txBox="1"/>
          <p:nvPr/>
        </p:nvSpPr>
        <p:spPr>
          <a:xfrm>
            <a:off x="6309360" y="1783080"/>
            <a:ext cx="5303520" cy="365760"/>
          </a:xfrm>
          <a:prstGeom prst="rect">
            <a:avLst/>
          </a:prstGeom>
          <a:noFill/>
          <a:ln/>
        </p:spPr>
        <p:txBody>
          <a:bodyPr wrap="square" lIns="0" tIns="0" rIns="0" bIns="0" rtlCol="0" anchor="ctr"/>
          <a:lstStyle/>
          <a:p>
            <a:pPr marL="0" indent="0">
              <a:buNone/>
            </a:pPr>
            <a:r>
              <a:rPr lang="en-US" sz="1500" b="1" dirty="0">
                <a:solidFill>
                  <a:srgbClr val="9AA3C7"/>
                </a:solidFill>
                <a:latin typeface="Cambria" pitchFamily="34" charset="0"/>
                <a:ea typeface="Cambria" pitchFamily="34" charset="-122"/>
                <a:cs typeface="Cambria" pitchFamily="34" charset="-120"/>
              </a:rPr>
              <a:t>Limitations &amp; next steps</a:t>
            </a:r>
            <a:endParaRPr lang="en-US" sz="1500" dirty="0"/>
          </a:p>
        </p:txBody>
      </p:sp>
      <p:sp>
        <p:nvSpPr>
          <p:cNvPr id="9" name="Text 7"/>
          <p:cNvSpPr txBox="1"/>
          <p:nvPr/>
        </p:nvSpPr>
        <p:spPr>
          <a:xfrm>
            <a:off x="6309360" y="2194560"/>
            <a:ext cx="5394960" cy="3931920"/>
          </a:xfrm>
          <a:prstGeom prst="rect">
            <a:avLst/>
          </a:prstGeom>
          <a:noFill/>
          <a:ln/>
        </p:spPr>
        <p:txBody>
          <a:bodyPr wrap="square" lIns="0" tIns="0" rIns="0" bIns="0" rtlCol="0" anchor="ctr"/>
          <a:lstStyle/>
          <a:p>
            <a:pPr marL="342900" indent="-342900">
              <a:lnSpc>
                <a:spcPct val="115000"/>
              </a:lnSpc>
              <a:spcAft>
                <a:spcPts val="1200"/>
              </a:spcAft>
              <a:buSzPct val="100000"/>
              <a:buChar char="–"/>
            </a:pPr>
            <a:r>
              <a:rPr lang="en-US" sz="1300" dirty="0">
                <a:solidFill>
                  <a:srgbClr val="C9CFEA"/>
                </a:solidFill>
                <a:latin typeface="Calibri" pitchFamily="34" charset="0"/>
                <a:ea typeface="Calibri" pitchFamily="34" charset="-122"/>
                <a:cs typeface="Calibri" pitchFamily="34" charset="-120"/>
              </a:rPr>
              <a:t>Greedy, locally-optimal splits — not a globally optimal tree</a:t>
            </a:r>
            <a:endParaRPr lang="en-US" sz="1300" dirty="0"/>
          </a:p>
          <a:p>
            <a:pPr marL="342900" indent="-342900">
              <a:lnSpc>
                <a:spcPct val="115000"/>
              </a:lnSpc>
              <a:spcAft>
                <a:spcPts val="1200"/>
              </a:spcAft>
              <a:buSzPct val="100000"/>
              <a:buChar char="–"/>
            </a:pPr>
            <a:r>
              <a:rPr lang="en-US" sz="1300" dirty="0">
                <a:solidFill>
                  <a:srgbClr val="C9CFEA"/>
                </a:solidFill>
                <a:latin typeface="Calibri" pitchFamily="34" charset="0"/>
                <a:ea typeface="Calibri" pitchFamily="34" charset="-122"/>
                <a:cs typeface="Calibri" pitchFamily="34" charset="-120"/>
              </a:rPr>
              <a:t>Assumes fixed categorical SCD attributes; real identity is more continuous</a:t>
            </a:r>
            <a:endParaRPr lang="en-US" sz="1300" dirty="0"/>
          </a:p>
          <a:p>
            <a:pPr marL="342900" indent="-342900">
              <a:lnSpc>
                <a:spcPct val="115000"/>
              </a:lnSpc>
              <a:spcAft>
                <a:spcPts val="1200"/>
              </a:spcAft>
              <a:buSzPct val="100000"/>
              <a:buChar char="–"/>
            </a:pPr>
            <a:r>
              <a:rPr lang="en-US" sz="1300" dirty="0">
                <a:solidFill>
                  <a:srgbClr val="C9CFEA"/>
                </a:solidFill>
                <a:latin typeface="Calibri" pitchFamily="34" charset="0"/>
                <a:ea typeface="Calibri" pitchFamily="34" charset="-122"/>
                <a:cs typeface="Calibri" pitchFamily="34" charset="-120"/>
              </a:rPr>
              <a:t>Ignores text semantics — can't say if content or annotator bias drives the split</a:t>
            </a:r>
            <a:endParaRPr lang="en-US" sz="1300" dirty="0"/>
          </a:p>
          <a:p>
            <a:pPr marL="342900" indent="-342900">
              <a:lnSpc>
                <a:spcPct val="115000"/>
              </a:lnSpc>
              <a:spcAft>
                <a:spcPts val="1200"/>
              </a:spcAft>
              <a:buSzPct val="100000"/>
              <a:buChar char="–"/>
            </a:pPr>
            <a:r>
              <a:rPr lang="en-US" sz="1300" dirty="0">
                <a:solidFill>
                  <a:srgbClr val="C9CFEA"/>
                </a:solidFill>
                <a:latin typeface="Calibri" pitchFamily="34" charset="0"/>
                <a:ea typeface="Calibri" pitchFamily="34" charset="-122"/>
                <a:cs typeface="Calibri" pitchFamily="34" charset="-120"/>
              </a:rPr>
              <a:t>Next: larger intersectional datasets, stability checks, human evaluation of the discovered structures</a:t>
            </a:r>
            <a:endParaRPr lang="en-US" sz="1300" dirty="0"/>
          </a:p>
        </p:txBody>
      </p:sp>
      <p:sp>
        <p:nvSpPr>
          <p:cNvPr id="10" name="Text 8"/>
          <p:cNvSpPr txBox="1"/>
          <p:nvPr/>
        </p:nvSpPr>
        <p:spPr>
          <a:xfrm>
            <a:off x="11521440" y="6473952"/>
            <a:ext cx="548640" cy="274320"/>
          </a:xfrm>
          <a:prstGeom prst="rect">
            <a:avLst/>
          </a:prstGeom>
          <a:noFill/>
          <a:ln/>
        </p:spPr>
        <p:txBody>
          <a:bodyPr wrap="square" lIns="0" tIns="0" rIns="0" bIns="0" rtlCol="0" anchor="ctr"/>
          <a:lstStyle/>
          <a:p>
            <a:pPr marL="0" indent="0" algn="r">
              <a:buNone/>
            </a:pPr>
            <a:r>
              <a:rPr lang="en-US" sz="1000" dirty="0">
                <a:solidFill>
                  <a:srgbClr val="6B7299"/>
                </a:solidFill>
                <a:latin typeface="Calibri" pitchFamily="34" charset="0"/>
                <a:ea typeface="Calibri" pitchFamily="34" charset="-122"/>
                <a:cs typeface="Calibri" pitchFamily="34" charset="-120"/>
              </a:rPr>
              <a:t>13</a:t>
            </a:r>
            <a:endParaRPr lang="en-US" sz="10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1B1F3B"/>
        </a:solidFill>
        <a:effectLst/>
      </p:bgPr>
    </p:bg>
    <p:spTree>
      <p:nvGrpSpPr>
        <p:cNvPr id="1" name="">
          <a:extLst>
            <a:ext uri="{FF2B5EF4-FFF2-40B4-BE49-F238E27FC236}">
              <a16:creationId xmlns:a16="http://schemas.microsoft.com/office/drawing/2014/main" id="{7E3353A7-865F-1817-05FC-822E872A6C98}"/>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76C3745C-2DF6-A5E6-D108-5BFA5B45B7EA}"/>
              </a:ext>
            </a:extLst>
          </p:cNvPr>
          <p:cNvSpPr/>
          <p:nvPr/>
        </p:nvSpPr>
        <p:spPr>
          <a:xfrm>
            <a:off x="457200" y="457200"/>
            <a:ext cx="201168" cy="201168"/>
          </a:xfrm>
          <a:prstGeom prst="pie">
            <a:avLst>
              <a:gd name="adj1" fmla="val 16200000"/>
              <a:gd name="adj2" fmla="val 5400000"/>
            </a:avLst>
          </a:prstGeom>
          <a:solidFill>
            <a:srgbClr val="E4572E"/>
          </a:solidFill>
          <a:ln/>
        </p:spPr>
        <p:txBody>
          <a:bodyPr/>
          <a:lstStyle/>
          <a:p>
            <a:endParaRPr lang="el-GR"/>
          </a:p>
        </p:txBody>
      </p:sp>
      <p:sp>
        <p:nvSpPr>
          <p:cNvPr id="3" name="Shape 1">
            <a:extLst>
              <a:ext uri="{FF2B5EF4-FFF2-40B4-BE49-F238E27FC236}">
                <a16:creationId xmlns:a16="http://schemas.microsoft.com/office/drawing/2014/main" id="{9A7D94F5-3792-EF2A-5591-58B9C8CCFBA3}"/>
              </a:ext>
            </a:extLst>
          </p:cNvPr>
          <p:cNvSpPr/>
          <p:nvPr/>
        </p:nvSpPr>
        <p:spPr>
          <a:xfrm>
            <a:off x="457200" y="457200"/>
            <a:ext cx="201168" cy="201168"/>
          </a:xfrm>
          <a:prstGeom prst="pie">
            <a:avLst>
              <a:gd name="adj1" fmla="val 5400000"/>
              <a:gd name="adj2" fmla="val 16200000"/>
            </a:avLst>
          </a:prstGeom>
          <a:solidFill>
            <a:srgbClr val="2F6FED"/>
          </a:solidFill>
          <a:ln/>
        </p:spPr>
        <p:txBody>
          <a:bodyPr/>
          <a:lstStyle/>
          <a:p>
            <a:endParaRPr lang="el-GR"/>
          </a:p>
        </p:txBody>
      </p:sp>
      <p:sp>
        <p:nvSpPr>
          <p:cNvPr id="4" name="Text 2">
            <a:extLst>
              <a:ext uri="{FF2B5EF4-FFF2-40B4-BE49-F238E27FC236}">
                <a16:creationId xmlns:a16="http://schemas.microsoft.com/office/drawing/2014/main" id="{4FBF1DF9-CF39-131F-C2DD-D6177304AEF2}"/>
              </a:ext>
            </a:extLst>
          </p:cNvPr>
          <p:cNvSpPr txBox="1"/>
          <p:nvPr/>
        </p:nvSpPr>
        <p:spPr>
          <a:xfrm>
            <a:off x="777240" y="384048"/>
            <a:ext cx="7315200" cy="320040"/>
          </a:xfrm>
          <a:prstGeom prst="rect">
            <a:avLst/>
          </a:prstGeom>
          <a:noFill/>
          <a:ln/>
        </p:spPr>
        <p:txBody>
          <a:bodyPr wrap="square" lIns="0" tIns="0" rIns="0" bIns="0" rtlCol="0" anchor="ctr"/>
          <a:lstStyle/>
          <a:p>
            <a:pPr marL="0" indent="0">
              <a:buNone/>
            </a:pPr>
            <a:r>
              <a:rPr lang="en-US" sz="1100" b="1" kern="0" spc="200" dirty="0">
                <a:solidFill>
                  <a:srgbClr val="9AA3C7"/>
                </a:solidFill>
                <a:latin typeface="Calibri" pitchFamily="34" charset="0"/>
                <a:ea typeface="Calibri" pitchFamily="34" charset="-122"/>
                <a:cs typeface="Calibri" pitchFamily="34" charset="-120"/>
              </a:rPr>
              <a:t>TAKEAWAYS</a:t>
            </a:r>
            <a:endParaRPr lang="en-US" sz="1100" dirty="0"/>
          </a:p>
        </p:txBody>
      </p:sp>
      <p:sp>
        <p:nvSpPr>
          <p:cNvPr id="5" name="Text 3">
            <a:extLst>
              <a:ext uri="{FF2B5EF4-FFF2-40B4-BE49-F238E27FC236}">
                <a16:creationId xmlns:a16="http://schemas.microsoft.com/office/drawing/2014/main" id="{FA694F63-A757-F2A1-3BB2-EAEA0E1F1C66}"/>
              </a:ext>
            </a:extLst>
          </p:cNvPr>
          <p:cNvSpPr txBox="1"/>
          <p:nvPr/>
        </p:nvSpPr>
        <p:spPr>
          <a:xfrm>
            <a:off x="457200" y="713232"/>
            <a:ext cx="11247120" cy="777240"/>
          </a:xfrm>
          <a:prstGeom prst="rect">
            <a:avLst/>
          </a:prstGeom>
          <a:noFill/>
          <a:ln/>
        </p:spPr>
        <p:txBody>
          <a:bodyPr wrap="square" lIns="0" tIns="0" rIns="0" bIns="0" rtlCol="0" anchor="ctr"/>
          <a:lstStyle/>
          <a:p>
            <a:pPr marL="0" indent="0" algn="ctr">
              <a:buNone/>
            </a:pPr>
            <a:r>
              <a:rPr lang="en-US" sz="3600" b="1" dirty="0">
                <a:solidFill>
                  <a:srgbClr val="FFFFFF"/>
                </a:solidFill>
                <a:latin typeface="Cambria" pitchFamily="34" charset="0"/>
                <a:ea typeface="Cambria" pitchFamily="34" charset="-122"/>
                <a:cs typeface="Cambria" pitchFamily="34" charset="-120"/>
              </a:rPr>
              <a:t>Thanks For Your Time</a:t>
            </a:r>
            <a:endParaRPr lang="en-US" sz="3600" dirty="0"/>
          </a:p>
        </p:txBody>
      </p:sp>
      <p:sp>
        <p:nvSpPr>
          <p:cNvPr id="10" name="Text 8">
            <a:extLst>
              <a:ext uri="{FF2B5EF4-FFF2-40B4-BE49-F238E27FC236}">
                <a16:creationId xmlns:a16="http://schemas.microsoft.com/office/drawing/2014/main" id="{3FAED841-E4F6-AD0B-3792-619E69724F8B}"/>
              </a:ext>
            </a:extLst>
          </p:cNvPr>
          <p:cNvSpPr txBox="1"/>
          <p:nvPr/>
        </p:nvSpPr>
        <p:spPr>
          <a:xfrm>
            <a:off x="11521440" y="6473952"/>
            <a:ext cx="548640" cy="274320"/>
          </a:xfrm>
          <a:prstGeom prst="rect">
            <a:avLst/>
          </a:prstGeom>
          <a:noFill/>
          <a:ln/>
        </p:spPr>
        <p:txBody>
          <a:bodyPr wrap="square" lIns="0" tIns="0" rIns="0" bIns="0" rtlCol="0" anchor="ctr"/>
          <a:lstStyle/>
          <a:p>
            <a:pPr marL="0" indent="0" algn="r">
              <a:buNone/>
            </a:pPr>
            <a:r>
              <a:rPr lang="en-US" sz="1000" dirty="0">
                <a:solidFill>
                  <a:srgbClr val="6B7299"/>
                </a:solidFill>
                <a:latin typeface="Calibri" pitchFamily="34" charset="0"/>
                <a:ea typeface="Calibri" pitchFamily="34" charset="-122"/>
                <a:cs typeface="Calibri" pitchFamily="34" charset="-120"/>
              </a:rPr>
              <a:t>13</a:t>
            </a:r>
            <a:endParaRPr lang="en-US" sz="1000" dirty="0"/>
          </a:p>
        </p:txBody>
      </p:sp>
      <p:pic>
        <p:nvPicPr>
          <p:cNvPr id="13" name="Picture 12">
            <a:extLst>
              <a:ext uri="{FF2B5EF4-FFF2-40B4-BE49-F238E27FC236}">
                <a16:creationId xmlns:a16="http://schemas.microsoft.com/office/drawing/2014/main" id="{5438932D-F789-59E9-86B8-6534D772882F}"/>
              </a:ext>
            </a:extLst>
          </p:cNvPr>
          <p:cNvPicPr>
            <a:picLocks noChangeAspect="1"/>
          </p:cNvPicPr>
          <p:nvPr/>
        </p:nvPicPr>
        <p:blipFill>
          <a:blip r:embed="rId3"/>
          <a:stretch>
            <a:fillRect/>
          </a:stretch>
        </p:blipFill>
        <p:spPr>
          <a:xfrm>
            <a:off x="1291429" y="2329885"/>
            <a:ext cx="3277057" cy="3448531"/>
          </a:xfrm>
          <a:prstGeom prst="rect">
            <a:avLst/>
          </a:prstGeom>
        </p:spPr>
      </p:pic>
      <p:sp>
        <p:nvSpPr>
          <p:cNvPr id="15" name="TextBox 14">
            <a:extLst>
              <a:ext uri="{FF2B5EF4-FFF2-40B4-BE49-F238E27FC236}">
                <a16:creationId xmlns:a16="http://schemas.microsoft.com/office/drawing/2014/main" id="{7852D628-175D-0330-C095-602EFC7AA686}"/>
              </a:ext>
            </a:extLst>
          </p:cNvPr>
          <p:cNvSpPr txBox="1"/>
          <p:nvPr/>
        </p:nvSpPr>
        <p:spPr>
          <a:xfrm>
            <a:off x="1805618" y="1580156"/>
            <a:ext cx="2248678" cy="553998"/>
          </a:xfrm>
          <a:prstGeom prst="rect">
            <a:avLst/>
          </a:prstGeom>
          <a:noFill/>
        </p:spPr>
        <p:txBody>
          <a:bodyPr wrap="square" rtlCol="0">
            <a:spAutoFit/>
          </a:bodyPr>
          <a:lstStyle/>
          <a:p>
            <a:r>
              <a:rPr lang="en-US" sz="3000" dirty="0" err="1">
                <a:solidFill>
                  <a:schemeClr val="bg2"/>
                </a:solidFill>
              </a:rPr>
              <a:t>Pypi</a:t>
            </a:r>
            <a:r>
              <a:rPr lang="en-US" sz="3000" dirty="0">
                <a:solidFill>
                  <a:schemeClr val="bg2"/>
                </a:solidFill>
              </a:rPr>
              <a:t> Package</a:t>
            </a:r>
            <a:endParaRPr lang="el-GR" sz="3000" dirty="0">
              <a:solidFill>
                <a:schemeClr val="bg2"/>
              </a:solidFill>
            </a:endParaRPr>
          </a:p>
        </p:txBody>
      </p:sp>
      <p:sp>
        <p:nvSpPr>
          <p:cNvPr id="17" name="TextBox 16">
            <a:extLst>
              <a:ext uri="{FF2B5EF4-FFF2-40B4-BE49-F238E27FC236}">
                <a16:creationId xmlns:a16="http://schemas.microsoft.com/office/drawing/2014/main" id="{F9F9A7B0-7F5F-F2C3-50C2-C3D849B13450}"/>
              </a:ext>
            </a:extLst>
          </p:cNvPr>
          <p:cNvSpPr txBox="1"/>
          <p:nvPr/>
        </p:nvSpPr>
        <p:spPr>
          <a:xfrm>
            <a:off x="6578082" y="1580156"/>
            <a:ext cx="3573858" cy="553998"/>
          </a:xfrm>
          <a:prstGeom prst="rect">
            <a:avLst/>
          </a:prstGeom>
          <a:noFill/>
        </p:spPr>
        <p:txBody>
          <a:bodyPr wrap="square" rtlCol="0">
            <a:spAutoFit/>
          </a:bodyPr>
          <a:lstStyle/>
          <a:p>
            <a:r>
              <a:rPr lang="en-US" sz="3000" dirty="0" err="1">
                <a:solidFill>
                  <a:schemeClr val="bg2"/>
                </a:solidFill>
              </a:rPr>
              <a:t>Github</a:t>
            </a:r>
            <a:r>
              <a:rPr lang="en-US" sz="3000" dirty="0">
                <a:solidFill>
                  <a:schemeClr val="bg2"/>
                </a:solidFill>
              </a:rPr>
              <a:t> Repository</a:t>
            </a:r>
            <a:endParaRPr lang="el-GR" sz="3000" dirty="0">
              <a:solidFill>
                <a:schemeClr val="bg2"/>
              </a:solidFill>
            </a:endParaRPr>
          </a:p>
        </p:txBody>
      </p:sp>
      <p:pic>
        <p:nvPicPr>
          <p:cNvPr id="19" name="Picture 18">
            <a:extLst>
              <a:ext uri="{FF2B5EF4-FFF2-40B4-BE49-F238E27FC236}">
                <a16:creationId xmlns:a16="http://schemas.microsoft.com/office/drawing/2014/main" id="{0808FDEA-DBF6-A2F7-F46A-F42D0DD6C492}"/>
              </a:ext>
            </a:extLst>
          </p:cNvPr>
          <p:cNvPicPr>
            <a:picLocks noChangeAspect="1"/>
          </p:cNvPicPr>
          <p:nvPr/>
        </p:nvPicPr>
        <p:blipFill>
          <a:blip r:embed="rId4"/>
          <a:stretch>
            <a:fillRect/>
          </a:stretch>
        </p:blipFill>
        <p:spPr>
          <a:xfrm>
            <a:off x="6578082" y="2325856"/>
            <a:ext cx="3452560" cy="3452560"/>
          </a:xfrm>
          <a:prstGeom prst="rect">
            <a:avLst/>
          </a:prstGeom>
        </p:spPr>
      </p:pic>
    </p:spTree>
    <p:extLst>
      <p:ext uri="{BB962C8B-B14F-4D97-AF65-F5344CB8AC3E}">
        <p14:creationId xmlns:p14="http://schemas.microsoft.com/office/powerpoint/2010/main" val="354498749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2724</TotalTime>
  <Words>2459</Words>
  <Application>Microsoft Office PowerPoint</Application>
  <PresentationFormat>Widescreen</PresentationFormat>
  <Paragraphs>223</Paragraphs>
  <Slides>14</Slides>
  <Notes>14</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14</vt:i4>
      </vt:variant>
    </vt:vector>
  </HeadingPairs>
  <TitlesOfParts>
    <vt:vector size="20" baseType="lpstr">
      <vt:lpstr>Aptos</vt:lpstr>
      <vt:lpstr>Arial</vt:lpstr>
      <vt:lpstr>Calibri</vt:lpstr>
      <vt:lpstr>Cambria</vt:lpstr>
      <vt:lpstr>Courier New</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SOKRATIS VISSARION GIANNOUTSOS</cp:lastModifiedBy>
  <cp:revision>1</cp:revision>
  <dcterms:created xsi:type="dcterms:W3CDTF">2026-09-14T09:46:04Z</dcterms:created>
  <dcterms:modified xsi:type="dcterms:W3CDTF">2026-09-24T11:20:54Z</dcterms:modified>
</cp:coreProperties>
</file>